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9ECE06-F21F-127E-6920-D951CEBE563F}"/>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EC76C3B9-652A-70EA-771A-2BC2190591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4EF1140-828A-C1AE-7BA7-72530975AED0}"/>
              </a:ext>
            </a:extLst>
          </p:cNvPr>
          <p:cNvSpPr>
            <a:spLocks noGrp="1"/>
          </p:cNvSpPr>
          <p:nvPr>
            <p:ph type="dt" sz="half" idx="10"/>
          </p:nvPr>
        </p:nvSpPr>
        <p:spPr/>
        <p:txBody>
          <a:bodyPr/>
          <a:lstStyle/>
          <a:p>
            <a:fld id="{0E50C115-EE70-442D-AFCC-864CF2E6562C}" type="datetimeFigureOut">
              <a:rPr lang="fr-FR" smtClean="0"/>
              <a:t>21/12/2025</a:t>
            </a:fld>
            <a:endParaRPr lang="fr-FR"/>
          </a:p>
        </p:txBody>
      </p:sp>
      <p:sp>
        <p:nvSpPr>
          <p:cNvPr id="5" name="Espace réservé du pied de page 4">
            <a:extLst>
              <a:ext uri="{FF2B5EF4-FFF2-40B4-BE49-F238E27FC236}">
                <a16:creationId xmlns:a16="http://schemas.microsoft.com/office/drawing/2014/main" id="{026AECA9-7585-F34C-1654-560620578E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91A1F56-C293-40E8-83B7-9578992DA51A}"/>
              </a:ext>
            </a:extLst>
          </p:cNvPr>
          <p:cNvSpPr>
            <a:spLocks noGrp="1"/>
          </p:cNvSpPr>
          <p:nvPr>
            <p:ph type="sldNum" sz="quarter" idx="12"/>
          </p:nvPr>
        </p:nvSpPr>
        <p:spPr/>
        <p:txBody>
          <a:bodyPr/>
          <a:lstStyle/>
          <a:p>
            <a:fld id="{1AA25DB1-A193-4612-8A40-624A4EF5BD89}" type="slidenum">
              <a:rPr lang="fr-FR" smtClean="0"/>
              <a:t>‹N°›</a:t>
            </a:fld>
            <a:endParaRPr lang="fr-FR"/>
          </a:p>
        </p:txBody>
      </p:sp>
    </p:spTree>
    <p:extLst>
      <p:ext uri="{BB962C8B-B14F-4D97-AF65-F5344CB8AC3E}">
        <p14:creationId xmlns:p14="http://schemas.microsoft.com/office/powerpoint/2010/main" val="749073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DD7E2D-3781-AB41-110D-DBB1D7B0487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0AB283B-67FF-9E8C-7DC1-DBE56A67CB2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F7028AA-E79E-9D94-1908-ADACA2C45E86}"/>
              </a:ext>
            </a:extLst>
          </p:cNvPr>
          <p:cNvSpPr>
            <a:spLocks noGrp="1"/>
          </p:cNvSpPr>
          <p:nvPr>
            <p:ph type="dt" sz="half" idx="10"/>
          </p:nvPr>
        </p:nvSpPr>
        <p:spPr/>
        <p:txBody>
          <a:bodyPr/>
          <a:lstStyle/>
          <a:p>
            <a:fld id="{0E50C115-EE70-442D-AFCC-864CF2E6562C}" type="datetimeFigureOut">
              <a:rPr lang="fr-FR" smtClean="0"/>
              <a:t>21/12/2025</a:t>
            </a:fld>
            <a:endParaRPr lang="fr-FR"/>
          </a:p>
        </p:txBody>
      </p:sp>
      <p:sp>
        <p:nvSpPr>
          <p:cNvPr id="5" name="Espace réservé du pied de page 4">
            <a:extLst>
              <a:ext uri="{FF2B5EF4-FFF2-40B4-BE49-F238E27FC236}">
                <a16:creationId xmlns:a16="http://schemas.microsoft.com/office/drawing/2014/main" id="{12662F47-5A60-685F-11BF-9E56F4C2CB2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E7783A0-0C9E-7C09-8986-BB0D7FF5F711}"/>
              </a:ext>
            </a:extLst>
          </p:cNvPr>
          <p:cNvSpPr>
            <a:spLocks noGrp="1"/>
          </p:cNvSpPr>
          <p:nvPr>
            <p:ph type="sldNum" sz="quarter" idx="12"/>
          </p:nvPr>
        </p:nvSpPr>
        <p:spPr/>
        <p:txBody>
          <a:bodyPr/>
          <a:lstStyle/>
          <a:p>
            <a:fld id="{1AA25DB1-A193-4612-8A40-624A4EF5BD89}" type="slidenum">
              <a:rPr lang="fr-FR" smtClean="0"/>
              <a:t>‹N°›</a:t>
            </a:fld>
            <a:endParaRPr lang="fr-FR"/>
          </a:p>
        </p:txBody>
      </p:sp>
    </p:spTree>
    <p:extLst>
      <p:ext uri="{BB962C8B-B14F-4D97-AF65-F5344CB8AC3E}">
        <p14:creationId xmlns:p14="http://schemas.microsoft.com/office/powerpoint/2010/main" val="231057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9BE8EE-0AB5-3782-A66E-7E372C8AB54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4E6EB436-9BBA-F65B-27F1-155FE57DDF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FB565C3-1BDD-A372-6793-62C7C4426683}"/>
              </a:ext>
            </a:extLst>
          </p:cNvPr>
          <p:cNvSpPr>
            <a:spLocks noGrp="1"/>
          </p:cNvSpPr>
          <p:nvPr>
            <p:ph type="dt" sz="half" idx="10"/>
          </p:nvPr>
        </p:nvSpPr>
        <p:spPr/>
        <p:txBody>
          <a:bodyPr/>
          <a:lstStyle/>
          <a:p>
            <a:fld id="{0E50C115-EE70-442D-AFCC-864CF2E6562C}" type="datetimeFigureOut">
              <a:rPr lang="fr-FR" smtClean="0"/>
              <a:t>21/12/2025</a:t>
            </a:fld>
            <a:endParaRPr lang="fr-FR"/>
          </a:p>
        </p:txBody>
      </p:sp>
      <p:sp>
        <p:nvSpPr>
          <p:cNvPr id="5" name="Espace réservé du pied de page 4">
            <a:extLst>
              <a:ext uri="{FF2B5EF4-FFF2-40B4-BE49-F238E27FC236}">
                <a16:creationId xmlns:a16="http://schemas.microsoft.com/office/drawing/2014/main" id="{7EA6439A-3980-435A-F62D-20B23568517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CAB4B47-0BEA-4C46-EF29-51900D6969FA}"/>
              </a:ext>
            </a:extLst>
          </p:cNvPr>
          <p:cNvSpPr>
            <a:spLocks noGrp="1"/>
          </p:cNvSpPr>
          <p:nvPr>
            <p:ph type="sldNum" sz="quarter" idx="12"/>
          </p:nvPr>
        </p:nvSpPr>
        <p:spPr/>
        <p:txBody>
          <a:bodyPr/>
          <a:lstStyle/>
          <a:p>
            <a:fld id="{1AA25DB1-A193-4612-8A40-624A4EF5BD89}" type="slidenum">
              <a:rPr lang="fr-FR" smtClean="0"/>
              <a:t>‹N°›</a:t>
            </a:fld>
            <a:endParaRPr lang="fr-FR"/>
          </a:p>
        </p:txBody>
      </p:sp>
    </p:spTree>
    <p:extLst>
      <p:ext uri="{BB962C8B-B14F-4D97-AF65-F5344CB8AC3E}">
        <p14:creationId xmlns:p14="http://schemas.microsoft.com/office/powerpoint/2010/main" val="4009934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EE23ED-F25C-9E09-58A8-9F30F3CD16A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5A85A46-89FB-C4DF-0518-01AE74214D6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AB9D19BD-31CB-2FCD-33E8-8C6415E2781E}"/>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D025C8B-6D10-6E49-7936-EFDAD4BDA3B0}"/>
              </a:ext>
            </a:extLst>
          </p:cNvPr>
          <p:cNvSpPr>
            <a:spLocks noGrp="1"/>
          </p:cNvSpPr>
          <p:nvPr>
            <p:ph type="dt" sz="half" idx="10"/>
          </p:nvPr>
        </p:nvSpPr>
        <p:spPr/>
        <p:txBody>
          <a:bodyPr/>
          <a:lstStyle/>
          <a:p>
            <a:fld id="{0E50C115-EE70-442D-AFCC-864CF2E6562C}" type="datetimeFigureOut">
              <a:rPr lang="fr-FR" smtClean="0"/>
              <a:t>21/12/2025</a:t>
            </a:fld>
            <a:endParaRPr lang="fr-FR"/>
          </a:p>
        </p:txBody>
      </p:sp>
      <p:sp>
        <p:nvSpPr>
          <p:cNvPr id="6" name="Espace réservé du pied de page 5">
            <a:extLst>
              <a:ext uri="{FF2B5EF4-FFF2-40B4-BE49-F238E27FC236}">
                <a16:creationId xmlns:a16="http://schemas.microsoft.com/office/drawing/2014/main" id="{62DB8B64-8E21-38DB-2F91-9A71D504428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1991135-FFC8-7C61-40E3-C1B2B8A89ABA}"/>
              </a:ext>
            </a:extLst>
          </p:cNvPr>
          <p:cNvSpPr>
            <a:spLocks noGrp="1"/>
          </p:cNvSpPr>
          <p:nvPr>
            <p:ph type="sldNum" sz="quarter" idx="12"/>
          </p:nvPr>
        </p:nvSpPr>
        <p:spPr/>
        <p:txBody>
          <a:bodyPr/>
          <a:lstStyle/>
          <a:p>
            <a:fld id="{1AA25DB1-A193-4612-8A40-624A4EF5BD89}" type="slidenum">
              <a:rPr lang="fr-FR" smtClean="0"/>
              <a:t>‹N°›</a:t>
            </a:fld>
            <a:endParaRPr lang="fr-FR"/>
          </a:p>
        </p:txBody>
      </p:sp>
    </p:spTree>
    <p:extLst>
      <p:ext uri="{BB962C8B-B14F-4D97-AF65-F5344CB8AC3E}">
        <p14:creationId xmlns:p14="http://schemas.microsoft.com/office/powerpoint/2010/main" val="1414517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4C3316-3913-9A3F-AB57-C5A13B958B2C}"/>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82E197B-C1EF-F011-10FD-F5CB17977F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B85858BB-74E1-1852-35F8-ED50803F0C1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B204D167-B10A-81FD-352F-68369F8D00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FEB7664-538E-E7E0-AC21-00D6A11439D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C304E70E-36AE-E811-2E7F-5987088ACAA5}"/>
              </a:ext>
            </a:extLst>
          </p:cNvPr>
          <p:cNvSpPr>
            <a:spLocks noGrp="1"/>
          </p:cNvSpPr>
          <p:nvPr>
            <p:ph type="dt" sz="half" idx="10"/>
          </p:nvPr>
        </p:nvSpPr>
        <p:spPr/>
        <p:txBody>
          <a:bodyPr/>
          <a:lstStyle/>
          <a:p>
            <a:fld id="{0E50C115-EE70-442D-AFCC-864CF2E6562C}" type="datetimeFigureOut">
              <a:rPr lang="fr-FR" smtClean="0"/>
              <a:t>21/12/2025</a:t>
            </a:fld>
            <a:endParaRPr lang="fr-FR"/>
          </a:p>
        </p:txBody>
      </p:sp>
      <p:sp>
        <p:nvSpPr>
          <p:cNvPr id="8" name="Espace réservé du pied de page 7">
            <a:extLst>
              <a:ext uri="{FF2B5EF4-FFF2-40B4-BE49-F238E27FC236}">
                <a16:creationId xmlns:a16="http://schemas.microsoft.com/office/drawing/2014/main" id="{547E4B7E-74C5-6CB4-2EF6-D2B75A44897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FD64BEA5-EF84-315C-3EBA-B4F00A8D931B}"/>
              </a:ext>
            </a:extLst>
          </p:cNvPr>
          <p:cNvSpPr>
            <a:spLocks noGrp="1"/>
          </p:cNvSpPr>
          <p:nvPr>
            <p:ph type="sldNum" sz="quarter" idx="12"/>
          </p:nvPr>
        </p:nvSpPr>
        <p:spPr/>
        <p:txBody>
          <a:bodyPr/>
          <a:lstStyle/>
          <a:p>
            <a:fld id="{1AA25DB1-A193-4612-8A40-624A4EF5BD89}" type="slidenum">
              <a:rPr lang="fr-FR" smtClean="0"/>
              <a:t>‹N°›</a:t>
            </a:fld>
            <a:endParaRPr lang="fr-FR"/>
          </a:p>
        </p:txBody>
      </p:sp>
    </p:spTree>
    <p:extLst>
      <p:ext uri="{BB962C8B-B14F-4D97-AF65-F5344CB8AC3E}">
        <p14:creationId xmlns:p14="http://schemas.microsoft.com/office/powerpoint/2010/main" val="242393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360D7-8ECA-F010-49BC-94854BD6D5D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F7992D6-77F1-B688-662A-F648989410E0}"/>
              </a:ext>
            </a:extLst>
          </p:cNvPr>
          <p:cNvSpPr>
            <a:spLocks noGrp="1"/>
          </p:cNvSpPr>
          <p:nvPr>
            <p:ph type="dt" sz="half" idx="10"/>
          </p:nvPr>
        </p:nvSpPr>
        <p:spPr/>
        <p:txBody>
          <a:bodyPr/>
          <a:lstStyle/>
          <a:p>
            <a:fld id="{0E50C115-EE70-442D-AFCC-864CF2E6562C}" type="datetimeFigureOut">
              <a:rPr lang="fr-FR" smtClean="0"/>
              <a:t>21/12/2025</a:t>
            </a:fld>
            <a:endParaRPr lang="fr-FR"/>
          </a:p>
        </p:txBody>
      </p:sp>
      <p:sp>
        <p:nvSpPr>
          <p:cNvPr id="4" name="Espace réservé du pied de page 3">
            <a:extLst>
              <a:ext uri="{FF2B5EF4-FFF2-40B4-BE49-F238E27FC236}">
                <a16:creationId xmlns:a16="http://schemas.microsoft.com/office/drawing/2014/main" id="{ADA083BC-7045-CDEC-BB0D-0079A4AD36F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404DF27-94AF-9E42-AB9F-1C8D4401BBA9}"/>
              </a:ext>
            </a:extLst>
          </p:cNvPr>
          <p:cNvSpPr>
            <a:spLocks noGrp="1"/>
          </p:cNvSpPr>
          <p:nvPr>
            <p:ph type="sldNum" sz="quarter" idx="12"/>
          </p:nvPr>
        </p:nvSpPr>
        <p:spPr/>
        <p:txBody>
          <a:bodyPr/>
          <a:lstStyle/>
          <a:p>
            <a:fld id="{1AA25DB1-A193-4612-8A40-624A4EF5BD89}" type="slidenum">
              <a:rPr lang="fr-FR" smtClean="0"/>
              <a:t>‹N°›</a:t>
            </a:fld>
            <a:endParaRPr lang="fr-FR"/>
          </a:p>
        </p:txBody>
      </p:sp>
    </p:spTree>
    <p:extLst>
      <p:ext uri="{BB962C8B-B14F-4D97-AF65-F5344CB8AC3E}">
        <p14:creationId xmlns:p14="http://schemas.microsoft.com/office/powerpoint/2010/main" val="3541494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37164AB-78D5-20D3-28D7-2B0744517141}"/>
              </a:ext>
            </a:extLst>
          </p:cNvPr>
          <p:cNvSpPr>
            <a:spLocks noGrp="1"/>
          </p:cNvSpPr>
          <p:nvPr>
            <p:ph type="dt" sz="half" idx="10"/>
          </p:nvPr>
        </p:nvSpPr>
        <p:spPr/>
        <p:txBody>
          <a:bodyPr/>
          <a:lstStyle/>
          <a:p>
            <a:fld id="{0E50C115-EE70-442D-AFCC-864CF2E6562C}" type="datetimeFigureOut">
              <a:rPr lang="fr-FR" smtClean="0"/>
              <a:t>21/12/2025</a:t>
            </a:fld>
            <a:endParaRPr lang="fr-FR"/>
          </a:p>
        </p:txBody>
      </p:sp>
      <p:sp>
        <p:nvSpPr>
          <p:cNvPr id="3" name="Espace réservé du pied de page 2">
            <a:extLst>
              <a:ext uri="{FF2B5EF4-FFF2-40B4-BE49-F238E27FC236}">
                <a16:creationId xmlns:a16="http://schemas.microsoft.com/office/drawing/2014/main" id="{548EFB1E-0C10-CF7A-F968-49ADB0AB1A0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276E407-FD3C-CD94-5237-4D17E5AEDE2E}"/>
              </a:ext>
            </a:extLst>
          </p:cNvPr>
          <p:cNvSpPr>
            <a:spLocks noGrp="1"/>
          </p:cNvSpPr>
          <p:nvPr>
            <p:ph type="sldNum" sz="quarter" idx="12"/>
          </p:nvPr>
        </p:nvSpPr>
        <p:spPr/>
        <p:txBody>
          <a:bodyPr/>
          <a:lstStyle/>
          <a:p>
            <a:fld id="{1AA25DB1-A193-4612-8A40-624A4EF5BD89}" type="slidenum">
              <a:rPr lang="fr-FR" smtClean="0"/>
              <a:t>‹N°›</a:t>
            </a:fld>
            <a:endParaRPr lang="fr-FR"/>
          </a:p>
        </p:txBody>
      </p:sp>
    </p:spTree>
    <p:extLst>
      <p:ext uri="{BB962C8B-B14F-4D97-AF65-F5344CB8AC3E}">
        <p14:creationId xmlns:p14="http://schemas.microsoft.com/office/powerpoint/2010/main" val="3447389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D4878D-98C3-46C9-5F7C-14223C9CFCF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B5ACD22-AD4B-848D-C854-0920AF81C0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5D22F5B-5944-3878-5B3F-F9D085B57A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BC06FDF-2976-76E2-4665-681FD5585F35}"/>
              </a:ext>
            </a:extLst>
          </p:cNvPr>
          <p:cNvSpPr>
            <a:spLocks noGrp="1"/>
          </p:cNvSpPr>
          <p:nvPr>
            <p:ph type="dt" sz="half" idx="10"/>
          </p:nvPr>
        </p:nvSpPr>
        <p:spPr/>
        <p:txBody>
          <a:bodyPr/>
          <a:lstStyle/>
          <a:p>
            <a:fld id="{0E50C115-EE70-442D-AFCC-864CF2E6562C}" type="datetimeFigureOut">
              <a:rPr lang="fr-FR" smtClean="0"/>
              <a:t>21/12/2025</a:t>
            </a:fld>
            <a:endParaRPr lang="fr-FR"/>
          </a:p>
        </p:txBody>
      </p:sp>
      <p:sp>
        <p:nvSpPr>
          <p:cNvPr id="6" name="Espace réservé du pied de page 5">
            <a:extLst>
              <a:ext uri="{FF2B5EF4-FFF2-40B4-BE49-F238E27FC236}">
                <a16:creationId xmlns:a16="http://schemas.microsoft.com/office/drawing/2014/main" id="{C79B337E-7C67-718C-1325-9867D0B3C75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4637E22-1DC1-E5CD-BBF2-1A4626B79706}"/>
              </a:ext>
            </a:extLst>
          </p:cNvPr>
          <p:cNvSpPr>
            <a:spLocks noGrp="1"/>
          </p:cNvSpPr>
          <p:nvPr>
            <p:ph type="sldNum" sz="quarter" idx="12"/>
          </p:nvPr>
        </p:nvSpPr>
        <p:spPr/>
        <p:txBody>
          <a:bodyPr/>
          <a:lstStyle/>
          <a:p>
            <a:fld id="{1AA25DB1-A193-4612-8A40-624A4EF5BD89}" type="slidenum">
              <a:rPr lang="fr-FR" smtClean="0"/>
              <a:t>‹N°›</a:t>
            </a:fld>
            <a:endParaRPr lang="fr-FR"/>
          </a:p>
        </p:txBody>
      </p:sp>
    </p:spTree>
    <p:extLst>
      <p:ext uri="{BB962C8B-B14F-4D97-AF65-F5344CB8AC3E}">
        <p14:creationId xmlns:p14="http://schemas.microsoft.com/office/powerpoint/2010/main" val="3384469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077B2B-F91D-5C29-8455-352D83FA407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E1744A8-0125-2318-960C-4752633889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654A8F7-CCEA-01AF-C15B-8E53DDD063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32AED9E-936E-00DB-D2DC-C4A5089AC9CF}"/>
              </a:ext>
            </a:extLst>
          </p:cNvPr>
          <p:cNvSpPr>
            <a:spLocks noGrp="1"/>
          </p:cNvSpPr>
          <p:nvPr>
            <p:ph type="dt" sz="half" idx="10"/>
          </p:nvPr>
        </p:nvSpPr>
        <p:spPr/>
        <p:txBody>
          <a:bodyPr/>
          <a:lstStyle/>
          <a:p>
            <a:fld id="{0E50C115-EE70-442D-AFCC-864CF2E6562C}" type="datetimeFigureOut">
              <a:rPr lang="fr-FR" smtClean="0"/>
              <a:t>21/12/2025</a:t>
            </a:fld>
            <a:endParaRPr lang="fr-FR"/>
          </a:p>
        </p:txBody>
      </p:sp>
      <p:sp>
        <p:nvSpPr>
          <p:cNvPr id="6" name="Espace réservé du pied de page 5">
            <a:extLst>
              <a:ext uri="{FF2B5EF4-FFF2-40B4-BE49-F238E27FC236}">
                <a16:creationId xmlns:a16="http://schemas.microsoft.com/office/drawing/2014/main" id="{04205BDE-5EA2-2A06-32C2-1D7A03AD5C2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8D0180C-6520-9046-BDC7-D1B6E9A6EB1B}"/>
              </a:ext>
            </a:extLst>
          </p:cNvPr>
          <p:cNvSpPr>
            <a:spLocks noGrp="1"/>
          </p:cNvSpPr>
          <p:nvPr>
            <p:ph type="sldNum" sz="quarter" idx="12"/>
          </p:nvPr>
        </p:nvSpPr>
        <p:spPr/>
        <p:txBody>
          <a:bodyPr/>
          <a:lstStyle/>
          <a:p>
            <a:fld id="{1AA25DB1-A193-4612-8A40-624A4EF5BD89}" type="slidenum">
              <a:rPr lang="fr-FR" smtClean="0"/>
              <a:t>‹N°›</a:t>
            </a:fld>
            <a:endParaRPr lang="fr-FR"/>
          </a:p>
        </p:txBody>
      </p:sp>
    </p:spTree>
    <p:extLst>
      <p:ext uri="{BB962C8B-B14F-4D97-AF65-F5344CB8AC3E}">
        <p14:creationId xmlns:p14="http://schemas.microsoft.com/office/powerpoint/2010/main" val="1891446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C5A547-1417-03A3-83D8-652BA4C50BA5}"/>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E2200E33-29B3-4100-4347-7CACEC8E217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21E76C5-8C90-EF37-5FC1-CF8777FA7DA6}"/>
              </a:ext>
            </a:extLst>
          </p:cNvPr>
          <p:cNvSpPr>
            <a:spLocks noGrp="1"/>
          </p:cNvSpPr>
          <p:nvPr>
            <p:ph type="dt" sz="half" idx="10"/>
          </p:nvPr>
        </p:nvSpPr>
        <p:spPr/>
        <p:txBody>
          <a:bodyPr/>
          <a:lstStyle/>
          <a:p>
            <a:fld id="{0E50C115-EE70-442D-AFCC-864CF2E6562C}" type="datetimeFigureOut">
              <a:rPr lang="fr-FR" smtClean="0"/>
              <a:t>21/12/2025</a:t>
            </a:fld>
            <a:endParaRPr lang="fr-FR"/>
          </a:p>
        </p:txBody>
      </p:sp>
      <p:sp>
        <p:nvSpPr>
          <p:cNvPr id="5" name="Espace réservé du pied de page 4">
            <a:extLst>
              <a:ext uri="{FF2B5EF4-FFF2-40B4-BE49-F238E27FC236}">
                <a16:creationId xmlns:a16="http://schemas.microsoft.com/office/drawing/2014/main" id="{2C12C92D-1E44-8157-722B-147D30BB4E8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DCBA22C-FC8A-C242-853C-C7953F6C5D22}"/>
              </a:ext>
            </a:extLst>
          </p:cNvPr>
          <p:cNvSpPr>
            <a:spLocks noGrp="1"/>
          </p:cNvSpPr>
          <p:nvPr>
            <p:ph type="sldNum" sz="quarter" idx="12"/>
          </p:nvPr>
        </p:nvSpPr>
        <p:spPr/>
        <p:txBody>
          <a:bodyPr/>
          <a:lstStyle/>
          <a:p>
            <a:fld id="{1AA25DB1-A193-4612-8A40-624A4EF5BD89}" type="slidenum">
              <a:rPr lang="fr-FR" smtClean="0"/>
              <a:t>‹N°›</a:t>
            </a:fld>
            <a:endParaRPr lang="fr-FR"/>
          </a:p>
        </p:txBody>
      </p:sp>
    </p:spTree>
    <p:extLst>
      <p:ext uri="{BB962C8B-B14F-4D97-AF65-F5344CB8AC3E}">
        <p14:creationId xmlns:p14="http://schemas.microsoft.com/office/powerpoint/2010/main" val="2621205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171FD9C6-DCAE-A4FA-A4AD-045CE276F66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4819BB4-362E-82A3-B385-4CBDB528516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3FC6E8D-D7FF-3031-E49F-E7AFCDDF6F45}"/>
              </a:ext>
            </a:extLst>
          </p:cNvPr>
          <p:cNvSpPr>
            <a:spLocks noGrp="1"/>
          </p:cNvSpPr>
          <p:nvPr>
            <p:ph type="dt" sz="half" idx="10"/>
          </p:nvPr>
        </p:nvSpPr>
        <p:spPr/>
        <p:txBody>
          <a:bodyPr/>
          <a:lstStyle/>
          <a:p>
            <a:fld id="{0E50C115-EE70-442D-AFCC-864CF2E6562C}" type="datetimeFigureOut">
              <a:rPr lang="fr-FR" smtClean="0"/>
              <a:t>21/12/2025</a:t>
            </a:fld>
            <a:endParaRPr lang="fr-FR"/>
          </a:p>
        </p:txBody>
      </p:sp>
      <p:sp>
        <p:nvSpPr>
          <p:cNvPr id="5" name="Espace réservé du pied de page 4">
            <a:extLst>
              <a:ext uri="{FF2B5EF4-FFF2-40B4-BE49-F238E27FC236}">
                <a16:creationId xmlns:a16="http://schemas.microsoft.com/office/drawing/2014/main" id="{E5BCDE24-00BE-C9D6-2E1D-5D2D761956A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3994F6C-DB93-5D8C-D52A-93DE92F0FEF3}"/>
              </a:ext>
            </a:extLst>
          </p:cNvPr>
          <p:cNvSpPr>
            <a:spLocks noGrp="1"/>
          </p:cNvSpPr>
          <p:nvPr>
            <p:ph type="sldNum" sz="quarter" idx="12"/>
          </p:nvPr>
        </p:nvSpPr>
        <p:spPr/>
        <p:txBody>
          <a:bodyPr/>
          <a:lstStyle/>
          <a:p>
            <a:fld id="{1AA25DB1-A193-4612-8A40-624A4EF5BD89}" type="slidenum">
              <a:rPr lang="fr-FR" smtClean="0"/>
              <a:t>‹N°›</a:t>
            </a:fld>
            <a:endParaRPr lang="fr-FR"/>
          </a:p>
        </p:txBody>
      </p:sp>
    </p:spTree>
    <p:extLst>
      <p:ext uri="{BB962C8B-B14F-4D97-AF65-F5344CB8AC3E}">
        <p14:creationId xmlns:p14="http://schemas.microsoft.com/office/powerpoint/2010/main" val="3749959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6E3C695-99E5-F692-F682-4704A6E532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805F155-928D-6D5D-306F-2BF29628E6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E5B2051-B32C-F903-9823-1967301518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50C115-EE70-442D-AFCC-864CF2E6562C}" type="datetimeFigureOut">
              <a:rPr lang="fr-FR" smtClean="0"/>
              <a:t>21/12/2025</a:t>
            </a:fld>
            <a:endParaRPr lang="fr-FR"/>
          </a:p>
        </p:txBody>
      </p:sp>
      <p:sp>
        <p:nvSpPr>
          <p:cNvPr id="5" name="Espace réservé du pied de page 4">
            <a:extLst>
              <a:ext uri="{FF2B5EF4-FFF2-40B4-BE49-F238E27FC236}">
                <a16:creationId xmlns:a16="http://schemas.microsoft.com/office/drawing/2014/main" id="{722AA4F5-3214-7646-5539-7C20687123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5DE160B-832E-1FC9-1453-3D356C0EA8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A25DB1-A193-4612-8A40-624A4EF5BD89}" type="slidenum">
              <a:rPr lang="fr-FR" smtClean="0"/>
              <a:t>‹N°›</a:t>
            </a:fld>
            <a:endParaRPr lang="fr-FR"/>
          </a:p>
        </p:txBody>
      </p:sp>
    </p:spTree>
    <p:extLst>
      <p:ext uri="{BB962C8B-B14F-4D97-AF65-F5344CB8AC3E}">
        <p14:creationId xmlns:p14="http://schemas.microsoft.com/office/powerpoint/2010/main" val="2152397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F9A084-CA5E-634F-6A32-5FE7918C4E36}"/>
              </a:ext>
            </a:extLst>
          </p:cNvPr>
          <p:cNvSpPr>
            <a:spLocks noGrp="1"/>
          </p:cNvSpPr>
          <p:nvPr>
            <p:ph type="ctrTitle"/>
          </p:nvPr>
        </p:nvSpPr>
        <p:spPr>
          <a:xfrm>
            <a:off x="1615440" y="128015"/>
            <a:ext cx="9144000" cy="547307"/>
          </a:xfrm>
        </p:spPr>
        <p:txBody>
          <a:bodyPr>
            <a:normAutofit fontScale="90000"/>
          </a:bodyPr>
          <a:lstStyle/>
          <a:p>
            <a:r>
              <a:rPr lang="fr-FR" sz="3600" b="1" dirty="0"/>
              <a:t>Analyse des besoins métiers</a:t>
            </a:r>
          </a:p>
        </p:txBody>
      </p:sp>
      <p:sp>
        <p:nvSpPr>
          <p:cNvPr id="3" name="Sous-titre 2">
            <a:extLst>
              <a:ext uri="{FF2B5EF4-FFF2-40B4-BE49-F238E27FC236}">
                <a16:creationId xmlns:a16="http://schemas.microsoft.com/office/drawing/2014/main" id="{6F8EFDF1-5C0F-F52E-31ED-61AE5D4653CB}"/>
              </a:ext>
            </a:extLst>
          </p:cNvPr>
          <p:cNvSpPr>
            <a:spLocks noGrp="1"/>
          </p:cNvSpPr>
          <p:nvPr>
            <p:ph type="subTitle" idx="1"/>
          </p:nvPr>
        </p:nvSpPr>
        <p:spPr>
          <a:xfrm>
            <a:off x="1615440" y="931990"/>
            <a:ext cx="9144000" cy="1655762"/>
          </a:xfrm>
        </p:spPr>
        <p:txBody>
          <a:bodyPr>
            <a:normAutofit fontScale="47500" lnSpcReduction="20000"/>
          </a:bodyPr>
          <a:lstStyle/>
          <a:p>
            <a:r>
              <a:rPr lang="fr-FR" b="1" dirty="0"/>
              <a:t>Introduction :</a:t>
            </a:r>
          </a:p>
          <a:p>
            <a:r>
              <a:rPr lang="fr-FR" sz="2900" dirty="0" err="1"/>
              <a:t>Aéroworld</a:t>
            </a:r>
            <a:r>
              <a:rPr lang="fr-FR" sz="2900" dirty="0"/>
              <a:t> est une entreprise française et d'envergure mondiale qui opère dans l'industrie aéronautique depuis plus de 50 ans. Elle se spécialise dans la conception, le développement, la fabrication et la maintenance des avions, et compte des milliers d'employés à travers différents pays.</a:t>
            </a:r>
          </a:p>
          <a:p>
            <a:r>
              <a:rPr lang="fr-FR" sz="2900" b="1" dirty="0"/>
              <a:t>Contexte :</a:t>
            </a:r>
          </a:p>
          <a:p>
            <a:r>
              <a:rPr lang="fr-FR" sz="2900" dirty="0"/>
              <a:t>Le positionnement d'</a:t>
            </a:r>
            <a:r>
              <a:rPr lang="fr-FR" sz="2900" dirty="0" err="1"/>
              <a:t>Aeroworld</a:t>
            </a:r>
            <a:r>
              <a:rPr lang="fr-FR" sz="2900" dirty="0"/>
              <a:t> vis-à-vis de la Data est un point important à expliciter. En réalité, tout porte à croire que l'entreprise est « techno-mature »(data-</a:t>
            </a:r>
            <a:r>
              <a:rPr lang="fr-FR" sz="2900" dirty="0" err="1"/>
              <a:t>enabled</a:t>
            </a:r>
            <a:r>
              <a:rPr lang="fr-FR" sz="2900" dirty="0"/>
              <a:t>), mais qu'elle n'est pas encore « culture-mature » (data-</a:t>
            </a:r>
            <a:r>
              <a:rPr lang="fr-FR" sz="2900" dirty="0" err="1"/>
              <a:t>driven</a:t>
            </a:r>
            <a:r>
              <a:rPr lang="fr-FR" sz="2900" dirty="0"/>
              <a:t>), ce qui est son horizon vers lequel le Data </a:t>
            </a:r>
            <a:r>
              <a:rPr lang="fr-FR" sz="2900" dirty="0" err="1"/>
              <a:t>Analyst</a:t>
            </a:r>
            <a:r>
              <a:rPr lang="fr-FR" sz="2900" dirty="0"/>
              <a:t> Chef de projet qu'elle souhaite recruter peut l'accompagner</a:t>
            </a:r>
            <a:r>
              <a:rPr lang="fr-FR" dirty="0"/>
              <a:t>.</a:t>
            </a:r>
          </a:p>
        </p:txBody>
      </p:sp>
      <p:sp>
        <p:nvSpPr>
          <p:cNvPr id="4" name="ZoneTexte 3">
            <a:extLst>
              <a:ext uri="{FF2B5EF4-FFF2-40B4-BE49-F238E27FC236}">
                <a16:creationId xmlns:a16="http://schemas.microsoft.com/office/drawing/2014/main" id="{B409E3B6-4698-A910-649E-EF85738BDC0C}"/>
              </a:ext>
            </a:extLst>
          </p:cNvPr>
          <p:cNvSpPr txBox="1"/>
          <p:nvPr/>
        </p:nvSpPr>
        <p:spPr>
          <a:xfrm>
            <a:off x="420624" y="2935224"/>
            <a:ext cx="11548872" cy="3539430"/>
          </a:xfrm>
          <a:prstGeom prst="rect">
            <a:avLst/>
          </a:prstGeom>
          <a:noFill/>
        </p:spPr>
        <p:txBody>
          <a:bodyPr wrap="square" rtlCol="0">
            <a:spAutoFit/>
          </a:bodyPr>
          <a:lstStyle/>
          <a:p>
            <a:r>
              <a:rPr lang="fr-FR" sz="1600" b="1" dirty="0"/>
              <a:t>Besoin métier 1: </a:t>
            </a:r>
          </a:p>
          <a:p>
            <a:r>
              <a:rPr lang="fr-FR" sz="1600" dirty="0"/>
              <a:t>valorisation et exploitation de la donnée </a:t>
            </a:r>
          </a:p>
          <a:p>
            <a:r>
              <a:rPr lang="fr-FR" sz="1600" dirty="0"/>
              <a:t>Tirer de la donnée une intelligence opérationnelle et stratégique Le Data </a:t>
            </a:r>
            <a:r>
              <a:rPr lang="fr-FR" sz="1600" dirty="0" err="1"/>
              <a:t>Analyst</a:t>
            </a:r>
            <a:r>
              <a:rPr lang="fr-FR" sz="1600" dirty="0"/>
              <a:t> Chef de projet doit :</a:t>
            </a:r>
          </a:p>
          <a:p>
            <a:pPr marL="285750" indent="-285750">
              <a:buFont typeface="Arial" panose="020B0604020202020204" pitchFamily="34" charset="0"/>
              <a:buChar char="•"/>
            </a:pPr>
            <a:r>
              <a:rPr lang="fr-FR" sz="1600" dirty="0"/>
              <a:t>modéliser et analyser des KPIs métiers, par exemple pour la conception de savions, l'optimisation des performances opérationnelles, la sécurité des vols</a:t>
            </a:r>
          </a:p>
          <a:p>
            <a:pPr marL="285750" indent="-285750">
              <a:buFont typeface="Arial" panose="020B0604020202020204" pitchFamily="34" charset="0"/>
              <a:buChar char="•"/>
            </a:pPr>
            <a:r>
              <a:rPr lang="fr-FR" sz="1600" dirty="0"/>
              <a:t>réaliser des analyses prédictives (maintenance prédictive par exemple)</a:t>
            </a:r>
          </a:p>
          <a:p>
            <a:pPr marL="285750" indent="-285750">
              <a:buFont typeface="Arial" panose="020B0604020202020204" pitchFamily="34" charset="0"/>
              <a:buChar char="•"/>
            </a:pPr>
            <a:r>
              <a:rPr lang="fr-FR" sz="1600" dirty="0"/>
              <a:t>développer des Dashboard stratégiques</a:t>
            </a:r>
          </a:p>
          <a:p>
            <a:endParaRPr lang="fr-FR" sz="1600" dirty="0"/>
          </a:p>
          <a:p>
            <a:r>
              <a:rPr lang="fr-FR" sz="1600" b="1" dirty="0"/>
              <a:t>Besoin métier 2 : </a:t>
            </a:r>
          </a:p>
          <a:p>
            <a:r>
              <a:rPr lang="fr-FR" sz="1600" dirty="0"/>
              <a:t>structuration et gouvernance de la donnée Maîtriser le cycle de vie de la donnée pour fiabiliser les décisions et réduire les silos.</a:t>
            </a:r>
          </a:p>
          <a:p>
            <a:r>
              <a:rPr lang="fr-FR" sz="1600" dirty="0"/>
              <a:t>Le Data </a:t>
            </a:r>
            <a:r>
              <a:rPr lang="fr-FR" sz="1600" dirty="0" err="1"/>
              <a:t>Analyst</a:t>
            </a:r>
            <a:r>
              <a:rPr lang="fr-FR" sz="1600" dirty="0"/>
              <a:t> Chef de projet doit :</a:t>
            </a:r>
          </a:p>
          <a:p>
            <a:pPr marL="285750" indent="-285750">
              <a:buFont typeface="Arial" panose="020B0604020202020204" pitchFamily="34" charset="0"/>
              <a:buChar char="•"/>
            </a:pPr>
            <a:r>
              <a:rPr lang="fr-FR" sz="1600" dirty="0"/>
              <a:t>dresser une cartographie des sources avec définition des flux</a:t>
            </a:r>
          </a:p>
          <a:p>
            <a:pPr marL="285750" indent="-285750">
              <a:buFont typeface="Arial" panose="020B0604020202020204" pitchFamily="34" charset="0"/>
              <a:buChar char="•"/>
            </a:pPr>
            <a:r>
              <a:rPr lang="fr-FR" sz="1600" dirty="0"/>
              <a:t>mettre en place un modèle de données cohérent</a:t>
            </a:r>
          </a:p>
          <a:p>
            <a:pPr marL="285750" indent="-285750">
              <a:buFont typeface="Arial" panose="020B0604020202020204" pitchFamily="34" charset="0"/>
              <a:buChar char="•"/>
            </a:pPr>
            <a:r>
              <a:rPr lang="fr-FR" sz="1600" dirty="0"/>
              <a:t>participer à la création d'une infrastructure type Data Lake</a:t>
            </a:r>
          </a:p>
        </p:txBody>
      </p:sp>
    </p:spTree>
    <p:extLst>
      <p:ext uri="{BB962C8B-B14F-4D97-AF65-F5344CB8AC3E}">
        <p14:creationId xmlns:p14="http://schemas.microsoft.com/office/powerpoint/2010/main" val="3467702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94606AF-EBFA-1843-4D25-D91344F2B989}"/>
              </a:ext>
            </a:extLst>
          </p:cNvPr>
          <p:cNvSpPr>
            <a:spLocks noGrp="1"/>
          </p:cNvSpPr>
          <p:nvPr>
            <p:ph idx="1"/>
          </p:nvPr>
        </p:nvSpPr>
        <p:spPr>
          <a:xfrm>
            <a:off x="838200" y="252856"/>
            <a:ext cx="10515600" cy="6083935"/>
          </a:xfrm>
        </p:spPr>
        <p:txBody>
          <a:bodyPr>
            <a:normAutofit fontScale="70000" lnSpcReduction="20000"/>
          </a:bodyPr>
          <a:lstStyle/>
          <a:p>
            <a:pPr marL="0" indent="0">
              <a:buNone/>
            </a:pPr>
            <a:r>
              <a:rPr lang="fr-FR" sz="1800" b="1" dirty="0"/>
              <a:t>Besoin métier 3 : </a:t>
            </a:r>
          </a:p>
          <a:p>
            <a:r>
              <a:rPr lang="fr-FR" sz="1800" dirty="0"/>
              <a:t>sécurité et conformité Sécuriser les données sensibles sans entraver l'innovation Le Data </a:t>
            </a:r>
            <a:r>
              <a:rPr lang="fr-FR" sz="1800" dirty="0" err="1"/>
              <a:t>Analyst</a:t>
            </a:r>
            <a:r>
              <a:rPr lang="fr-FR" sz="1800" dirty="0"/>
              <a:t> Chef de projet doit :</a:t>
            </a:r>
          </a:p>
          <a:p>
            <a:r>
              <a:rPr lang="fr-FR" sz="1800" dirty="0"/>
              <a:t> participer à la définition des règles d'</a:t>
            </a:r>
            <a:r>
              <a:rPr lang="fr-FR" sz="1800" dirty="0" err="1"/>
              <a:t>acces</a:t>
            </a:r>
            <a:r>
              <a:rPr lang="fr-FR" sz="1800" dirty="0"/>
              <a:t> et de confidentialité</a:t>
            </a:r>
          </a:p>
          <a:p>
            <a:r>
              <a:rPr lang="fr-FR" sz="1800" dirty="0"/>
              <a:t> réaliser une veille sur les règles, normes (RGPD, ISO 27001) et outils en matière de sécurité des données</a:t>
            </a:r>
          </a:p>
          <a:p>
            <a:endParaRPr lang="fr-FR" sz="1800" dirty="0"/>
          </a:p>
          <a:p>
            <a:pPr marL="0" indent="0">
              <a:buNone/>
            </a:pPr>
            <a:r>
              <a:rPr lang="fr-FR" sz="1800" b="1" dirty="0"/>
              <a:t>Besoin métier 4 :</a:t>
            </a:r>
          </a:p>
          <a:p>
            <a:pPr marL="0" indent="0">
              <a:buNone/>
            </a:pPr>
            <a:r>
              <a:rPr lang="fr-FR" sz="1800" b="1" dirty="0"/>
              <a:t> </a:t>
            </a:r>
            <a:r>
              <a:rPr lang="fr-FR" sz="1800" dirty="0"/>
              <a:t>pilotage global et transformation culturelle Transformer l'organisation pour en faire une entreprise « data-</a:t>
            </a:r>
            <a:r>
              <a:rPr lang="fr-FR" sz="1800" dirty="0" err="1"/>
              <a:t>driven</a:t>
            </a:r>
            <a:r>
              <a:rPr lang="fr-FR" sz="1800" dirty="0"/>
              <a:t> »</a:t>
            </a:r>
          </a:p>
          <a:p>
            <a:pPr marL="0" indent="0">
              <a:buNone/>
            </a:pPr>
            <a:r>
              <a:rPr lang="fr-FR" sz="1800" dirty="0"/>
              <a:t>Le Data </a:t>
            </a:r>
            <a:r>
              <a:rPr lang="fr-FR" sz="1800" dirty="0" err="1"/>
              <a:t>Analyst</a:t>
            </a:r>
            <a:r>
              <a:rPr lang="fr-FR" sz="1800" dirty="0"/>
              <a:t> Chef de projet doit :</a:t>
            </a:r>
          </a:p>
          <a:p>
            <a:r>
              <a:rPr lang="fr-FR" sz="1800" dirty="0"/>
              <a:t>participer aux démarches d'harmonisation a l'</a:t>
            </a:r>
            <a:r>
              <a:rPr lang="fr-FR" sz="1800" dirty="0" err="1"/>
              <a:t>echelle</a:t>
            </a:r>
            <a:r>
              <a:rPr lang="fr-FR" sz="1800" dirty="0"/>
              <a:t> du groupe des sources de données et des pratiques (par exemple en matière d'analyse de données)</a:t>
            </a:r>
          </a:p>
          <a:p>
            <a:r>
              <a:rPr lang="fr-FR" sz="1800" dirty="0"/>
              <a:t>accompagner le développement de la culture de la donnée à l'ensemble des collaborateurs du groupe par la vulgarisation, la pédagogie</a:t>
            </a:r>
          </a:p>
          <a:p>
            <a:r>
              <a:rPr lang="fr-FR" sz="1800" dirty="0"/>
              <a:t>en particulier pour les décisions stratégiques, les justifier par des analyses rigoureuses et des visualisations claires</a:t>
            </a:r>
          </a:p>
          <a:p>
            <a:endParaRPr lang="fr-FR" sz="1800" dirty="0"/>
          </a:p>
          <a:p>
            <a:pPr marL="0" indent="0">
              <a:buNone/>
            </a:pPr>
            <a:endParaRPr lang="fr-FR" sz="1800" dirty="0"/>
          </a:p>
          <a:p>
            <a:pPr marL="0" indent="0">
              <a:buNone/>
            </a:pPr>
            <a:endParaRPr lang="fr-FR" sz="1800" dirty="0"/>
          </a:p>
          <a:p>
            <a:pPr marL="0" indent="0">
              <a:buNone/>
            </a:pPr>
            <a:r>
              <a:rPr lang="fr-FR" sz="1800" b="1" dirty="0">
                <a:latin typeface="Arial" panose="020B0604020202020204" pitchFamily="34" charset="0"/>
                <a:cs typeface="Arial" panose="020B0604020202020204" pitchFamily="34" charset="0"/>
              </a:rPr>
              <a:t>Conclusion </a:t>
            </a:r>
          </a:p>
          <a:p>
            <a:pPr marL="0" indent="0">
              <a:buNone/>
            </a:pPr>
            <a:r>
              <a:rPr lang="fr-FR" sz="1800" dirty="0">
                <a:latin typeface="Arial" panose="020B0604020202020204" pitchFamily="34" charset="0"/>
                <a:cs typeface="Arial" panose="020B0604020202020204" pitchFamily="34" charset="0"/>
              </a:rPr>
              <a:t>La gestion de la Data au sein d'un grand groupe industriel tel qu'</a:t>
            </a:r>
            <a:r>
              <a:rPr lang="fr-FR" sz="1800" dirty="0" err="1">
                <a:latin typeface="Arial" panose="020B0604020202020204" pitchFamily="34" charset="0"/>
                <a:cs typeface="Arial" panose="020B0604020202020204" pitchFamily="34" charset="0"/>
              </a:rPr>
              <a:t>Aeroworld</a:t>
            </a:r>
            <a:r>
              <a:rPr lang="fr-FR" sz="1800" dirty="0">
                <a:latin typeface="Arial" panose="020B0604020202020204" pitchFamily="34" charset="0"/>
                <a:cs typeface="Arial" panose="020B0604020202020204" pitchFamily="34" charset="0"/>
              </a:rPr>
              <a:t> recoupe plusieurs problématiques qui ne se limitent pas à la</a:t>
            </a:r>
          </a:p>
          <a:p>
            <a:pPr marL="0" indent="0">
              <a:buNone/>
            </a:pPr>
            <a:r>
              <a:rPr lang="fr-FR" sz="1800" dirty="0">
                <a:latin typeface="Arial" panose="020B0604020202020204" pitchFamily="34" charset="0"/>
                <a:cs typeface="Arial" panose="020B0604020202020204" pitchFamily="34" charset="0"/>
              </a:rPr>
              <a:t> collecte, au traitement et l'analyse de données sur des sujets techniques (conception dessévions, leur</a:t>
            </a:r>
          </a:p>
          <a:p>
            <a:pPr marL="0" indent="0">
              <a:buNone/>
            </a:pPr>
            <a:r>
              <a:rPr lang="fr-FR" sz="1800" dirty="0">
                <a:latin typeface="Arial" panose="020B0604020202020204" pitchFamily="34" charset="0"/>
                <a:cs typeface="Arial" panose="020B0604020202020204" pitchFamily="34" charset="0"/>
              </a:rPr>
              <a:t> exploitation ou leur maintenance).Il est attendu de la part du Data </a:t>
            </a:r>
            <a:r>
              <a:rPr lang="fr-FR" sz="1800" dirty="0" err="1">
                <a:latin typeface="Arial" panose="020B0604020202020204" pitchFamily="34" charset="0"/>
                <a:cs typeface="Arial" panose="020B0604020202020204" pitchFamily="34" charset="0"/>
              </a:rPr>
              <a:t>Analyst</a:t>
            </a:r>
            <a:r>
              <a:rPr lang="fr-FR" sz="1800" dirty="0">
                <a:latin typeface="Arial" panose="020B0604020202020204" pitchFamily="34" charset="0"/>
                <a:cs typeface="Arial" panose="020B0604020202020204" pitchFamily="34" charset="0"/>
              </a:rPr>
              <a:t> Chef de Projet de domestiquer le cycle dévie de la Data</a:t>
            </a:r>
          </a:p>
          <a:p>
            <a:pPr marL="0" indent="0">
              <a:buNone/>
            </a:pPr>
            <a:r>
              <a:rPr lang="fr-FR" sz="1800" dirty="0">
                <a:latin typeface="Arial" panose="020B0604020202020204" pitchFamily="34" charset="0"/>
                <a:cs typeface="Arial" panose="020B0604020202020204" pitchFamily="34" charset="0"/>
              </a:rPr>
              <a:t> dans toute sa complexité (structuration, intégration, sécurité).Bien entendu, il lui faudra transformer la donnée en leviers de valeur</a:t>
            </a:r>
          </a:p>
          <a:p>
            <a:pPr marL="0" indent="0">
              <a:buNone/>
            </a:pPr>
            <a:r>
              <a:rPr lang="fr-FR" sz="1800" dirty="0">
                <a:latin typeface="Arial" panose="020B0604020202020204" pitchFamily="34" charset="0"/>
                <a:cs typeface="Arial" panose="020B0604020202020204" pitchFamily="34" charset="0"/>
              </a:rPr>
              <a:t> stratégiques sur des problématiques industrielles grâce à des techniques d'analyse avancées. Enfin, le Data </a:t>
            </a:r>
            <a:r>
              <a:rPr lang="fr-FR" sz="1800" dirty="0" err="1">
                <a:latin typeface="Arial" panose="020B0604020202020204" pitchFamily="34" charset="0"/>
                <a:cs typeface="Arial" panose="020B0604020202020204" pitchFamily="34" charset="0"/>
              </a:rPr>
              <a:t>Analyst</a:t>
            </a:r>
            <a:r>
              <a:rPr lang="fr-FR" sz="1800" dirty="0">
                <a:latin typeface="Arial" panose="020B0604020202020204" pitchFamily="34" charset="0"/>
                <a:cs typeface="Arial" panose="020B0604020202020204" pitchFamily="34" charset="0"/>
              </a:rPr>
              <a:t> Chef de Projet devra</a:t>
            </a:r>
          </a:p>
          <a:p>
            <a:pPr marL="0" indent="0">
              <a:buNone/>
            </a:pPr>
            <a:r>
              <a:rPr lang="fr-FR" sz="1800" dirty="0">
                <a:latin typeface="Arial" panose="020B0604020202020204" pitchFamily="34" charset="0"/>
                <a:cs typeface="Arial" panose="020B0604020202020204" pitchFamily="34" charset="0"/>
              </a:rPr>
              <a:t> contribuer de façon décisive aux changements culturel et organisationnel déjà engages au sein du groupe pour faire d'</a:t>
            </a:r>
            <a:r>
              <a:rPr lang="fr-FR" sz="1800" dirty="0" err="1">
                <a:latin typeface="Arial" panose="020B0604020202020204" pitchFamily="34" charset="0"/>
                <a:cs typeface="Arial" panose="020B0604020202020204" pitchFamily="34" charset="0"/>
              </a:rPr>
              <a:t>Aeroworld</a:t>
            </a:r>
            <a:r>
              <a:rPr lang="fr-FR" sz="1800" dirty="0">
                <a:latin typeface="Arial" panose="020B0604020202020204" pitchFamily="34" charset="0"/>
                <a:cs typeface="Arial" panose="020B0604020202020204" pitchFamily="34" charset="0"/>
              </a:rPr>
              <a:t> une</a:t>
            </a:r>
          </a:p>
          <a:p>
            <a:pPr marL="0" indent="0">
              <a:buNone/>
            </a:pPr>
            <a:r>
              <a:rPr lang="fr-FR" sz="1800" dirty="0">
                <a:latin typeface="Arial" panose="020B0604020202020204" pitchFamily="34" charset="0"/>
                <a:cs typeface="Arial" panose="020B0604020202020204" pitchFamily="34" charset="0"/>
              </a:rPr>
              <a:t> entreprise véritablement data-</a:t>
            </a:r>
            <a:r>
              <a:rPr lang="fr-FR" sz="1800" dirty="0" err="1">
                <a:latin typeface="Arial" panose="020B0604020202020204" pitchFamily="34" charset="0"/>
                <a:cs typeface="Arial" panose="020B0604020202020204" pitchFamily="34" charset="0"/>
              </a:rPr>
              <a:t>driven</a:t>
            </a:r>
            <a:r>
              <a:rPr lang="fr-FR" sz="18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84156511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11861</TotalTime>
  <Words>526</Words>
  <Application>Microsoft Office PowerPoint</Application>
  <PresentationFormat>Grand écran</PresentationFormat>
  <Paragraphs>40</Paragraphs>
  <Slides>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vt:i4>
      </vt:variant>
    </vt:vector>
  </HeadingPairs>
  <TitlesOfParts>
    <vt:vector size="6" baseType="lpstr">
      <vt:lpstr>Aptos</vt:lpstr>
      <vt:lpstr>Aptos Display</vt:lpstr>
      <vt:lpstr>Arial</vt:lpstr>
      <vt:lpstr>Thème Office</vt:lpstr>
      <vt:lpstr>Analyse des besoins métiers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Nas Aylin</dc:creator>
  <cp:lastModifiedBy>Nas Aylin</cp:lastModifiedBy>
  <cp:revision>2</cp:revision>
  <dcterms:created xsi:type="dcterms:W3CDTF">2025-12-15T17:21:34Z</dcterms:created>
  <dcterms:modified xsi:type="dcterms:W3CDTF">2025-12-29T17:20:39Z</dcterms:modified>
</cp:coreProperties>
</file>