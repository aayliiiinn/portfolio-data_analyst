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  <p:sldId id="267" r:id="rId12"/>
    <p:sldId id="268" r:id="rId13"/>
    <p:sldId id="262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EEFCB23-4EEF-BC5C-3CF6-DE5F00EC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F0BC3362-706F-89FA-B298-42C250A53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8B8284AC-DE83-D25C-E8FD-28E5EDAB2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553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81B12D4-8AF1-01B0-C5C1-91F8A5DE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561865D2-5056-CFA2-336E-DB1C2DBBF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4B59975B-15C0-332D-67F9-00DA47793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243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F0B828EC-42F0-8FB7-8C22-B6EB496F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7F1A353A-3A2B-5C8E-5353-6B2860B05D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68A5A2E8-17B4-3B6D-9A94-E195487E3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2069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994010F9-5989-32E9-FE85-AF63DF316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309E1DBA-6FD9-8ACF-2D06-CA14A82C5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4168718E-591E-1C6E-D903-B7EA5D9DD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8751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9EC9825-155E-3C57-2642-708E5A9D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868B870A-0983-1264-20C1-22FAA274F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B2326E14-EDBA-E103-E572-66C3B900A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0420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1038BAD-2D2E-5A13-B369-E8A527B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94CA910A-62A1-B946-4A14-EAEB92408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9EB2DD42-6BE5-7ABC-6F03-FC7F36276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105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assrooms.com/fr/paths/804-data-analys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74754" y="1176693"/>
            <a:ext cx="8506821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>
              <a:lnSpc>
                <a:spcPts val="3600"/>
              </a:lnSpc>
            </a:pPr>
            <a:r>
              <a:rPr lang="fr-FR" sz="18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Optimisez la gestion des données d'une boutique avec R ou Python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AYLIN GHORBANI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69869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3600" b="1" i="0" dirty="0">
                <a:effectLst/>
                <a:latin typeface="Inter"/>
                <a:hlinkClick r:id="rId3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6770DAC-A9B6-C28F-E724-A9B1ED3078DD}"/>
              </a:ext>
            </a:extLst>
          </p:cNvPr>
          <p:cNvSpPr txBox="1"/>
          <p:nvPr/>
        </p:nvSpPr>
        <p:spPr>
          <a:xfrm>
            <a:off x="6438088" y="4583963"/>
            <a:ext cx="1109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05/2025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C9E9811-E8E5-0933-4041-3EE08BFE4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931" y="1550360"/>
            <a:ext cx="8956623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erp.xlsx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: données internes (prix d’achat, stock, disponibilité)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web.xlsx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: données e-commerce (vente, visibilité, avis clients)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liaison.xlsx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: table de correspondance entre produits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● Caractéristiques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 fichiers fusionnés via les colonnes product_id et id_web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Table finale :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+30 colonnes, 734 lignes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Types de variables : numériques, catégorielles, 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● Traitement réalisés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○ Nettoyage des données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Suppression des doublons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Changement de type (id_web en string pour jointure)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Suppression des lignes avec id_web manquant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71D2B70-78D7-A7C2-5E55-196373CC8C8B}"/>
              </a:ext>
            </a:extLst>
          </p:cNvPr>
          <p:cNvSpPr/>
          <p:nvPr/>
        </p:nvSpPr>
        <p:spPr>
          <a:xfrm>
            <a:off x="4931765" y="1454046"/>
            <a:ext cx="4054048" cy="360496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Création des colonnes :</a:t>
            </a:r>
            <a:endParaRPr lang="fr-FR" altLang="fr-FR" sz="1100" b="1" dirty="0">
              <a:solidFill>
                <a:schemeClr val="tx1"/>
              </a:solidFill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CA = price × total_sales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taux_marge = (prix HT – prix achat) / prix HT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mois_stock = stock_quantity / total_sales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Valorisation_stock_euros = stock × prix achat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● Remarques / difficultés rencontrées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Des produits sans correspondance dans web ou erp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Beaucoup de produits avec stock = 0 ou total_sales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Certaines valeurs aberrantes dans les prix (prix très élevés ou très faibles)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Données id_web manquantes → ont été supprimées pour garantir l’analyse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2341DEB-6F4A-DF37-3DC4-A55B0F052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6452" y="1473590"/>
            <a:ext cx="80906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Choix des attributs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Sélection des colonnes pertinentes pour l’analyse : product_id, id_web, price, stock_quantity, purchase_price, total_sales,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Création de nouvelles variables métiers comme le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CA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le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taux de marge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ou le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stock valorisé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● Clés utilisées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product_id pour la fusion entre erp et liaison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id_web pour la fusion entre le résultat précédent (dataLE) et le fichier web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● Vigilances particulières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Vérification des types de données (id_web en string dans les 3 fichiers)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Contrôle des valeurs nulles après chaque fusion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Utilisation de l’option Indicator=True pour identifier les lignes non matchées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Suppression des lignes avec id_web manquant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● Difficultés ou pièges rencontrés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20 lignes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sans correspondance côté web (souvent hors stock ou erreurs d’enregistrement)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Incohérences entre stock_status et stock_quantity : ex. produits en rupture mais avec stock &gt;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Données dupliquées ou incohérentes corrigées en amont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2199669" y="-874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7DEC91-4050-CAF3-8F08-B91E21AFF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0" y="3583057"/>
            <a:ext cx="596188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Graphique avec commentaire des résultats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utilisé pour visualiser la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majorité des produits ont un prix entre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10 € et 60 €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nombreux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détectés au-dessus de 100 €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Certains prix atypiques peuvent être justifiés par des produits de luxe ou des erreurs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50D8F-1DA3-6387-8AC3-E6148F15B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0" y="1367066"/>
            <a:ext cx="4081567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Méthodes statistiques employées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Moyenne :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32.33 €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Médiane :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23.45 €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Quartiles : Q1 = 14 €, Q3 = 42 €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Écart interquartile :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28 €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➡️ Deux méthodes de détection des valeurs aberrantes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Z-score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(seuil ±3) → prix très élevés identifiés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IQR (Interquartile Range)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seuil supérieur = 84 €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CF146B1-8D4C-4C5A-1028-BDE3785D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43" y="1357622"/>
            <a:ext cx="524425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Méthodes statistiques employées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 (Chiffre d’affaires)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 = price × total_sales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➤ Total CA =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143 680 €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Quantité vendue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classement des 20 articles les plus vendus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Taux de marge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Calculé sur base du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prix HT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(prix TTC / 1.2)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Taux moyen =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~30 %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max =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~48 %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certains produits à marge négative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Rotation des stocks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stock_quantity / total_sales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articles avec stock dormant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Corrélations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entre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price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stock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total_sales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purchase_price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➤ corrélation modérée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entre stock et ventes (+0.44)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corrélation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négative entre price et ventes (−0.11)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1413A51-5460-E13A-FDE2-1712E64C5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43" y="3753301"/>
            <a:ext cx="536717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Graphiques avec commentaires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Diagrammes en barres (Top 20 articles par CA et par ventes)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Boxplots des stocks, marges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 de corrélation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Insight : les produits à forte marge ne sont pas forcément les plus vendus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97E2BE7-8E9F-CE27-A11E-820B6D03F004}"/>
              </a:ext>
            </a:extLst>
          </p:cNvPr>
          <p:cNvSpPr/>
          <p:nvPr/>
        </p:nvSpPr>
        <p:spPr>
          <a:xfrm>
            <a:off x="5711253" y="1487738"/>
            <a:ext cx="3267856" cy="355822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Limites de l’analyse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 de prise en compte des coûts indirects ou logistique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taux de marge calculé est simplifié (prix HT - prix achat)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Certains produits ont 0 ventes ou des prix incohérents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Aucune segmentation client ou effet de saisonnalité intégré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1652529" y="408750"/>
            <a:ext cx="633722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1800" dirty="0">
                <a:solidFill>
                  <a:schemeClr val="bg1"/>
                </a:solidFill>
              </a:rPr>
              <a:t>Graphique : Taux de marge moyen par type de produit</a:t>
            </a: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B345443-EEF6-A495-A2A9-950C6EFF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0" t="4747" r="3771" b="6239"/>
          <a:stretch/>
        </p:blipFill>
        <p:spPr>
          <a:xfrm>
            <a:off x="232347" y="2550202"/>
            <a:ext cx="8679306" cy="259329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050AA5D-3C07-4465-C3B4-4C6B535CE583}"/>
              </a:ext>
            </a:extLst>
          </p:cNvPr>
          <p:cNvSpPr txBox="1"/>
          <p:nvPr/>
        </p:nvSpPr>
        <p:spPr>
          <a:xfrm>
            <a:off x="104931" y="1390200"/>
            <a:ext cx="89041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1100" dirty="0"/>
              <a:t>Ce </a:t>
            </a:r>
            <a:r>
              <a:rPr lang="fr-FR" sz="1100" b="1" dirty="0"/>
              <a:t>diagramme en barres</a:t>
            </a:r>
            <a:r>
              <a:rPr lang="fr-FR" sz="1100" dirty="0"/>
              <a:t> montre le </a:t>
            </a:r>
            <a:r>
              <a:rPr lang="fr-FR" sz="1100" b="1" dirty="0"/>
              <a:t>taux de marge moyen</a:t>
            </a:r>
            <a:r>
              <a:rPr lang="fr-FR" sz="1100" dirty="0"/>
              <a:t> (axe Y) pour chaque </a:t>
            </a:r>
            <a:r>
              <a:rPr lang="fr-FR" sz="1100" b="1" dirty="0"/>
              <a:t>type de produit</a:t>
            </a:r>
            <a:r>
              <a:rPr lang="fr-FR" sz="1100" dirty="0"/>
              <a:t> (axe X).</a:t>
            </a:r>
            <a:br>
              <a:rPr lang="fr-FR" sz="1100" dirty="0"/>
            </a:br>
            <a:r>
              <a:rPr lang="fr-FR" sz="1100" dirty="0"/>
              <a:t>Le </a:t>
            </a:r>
            <a:r>
              <a:rPr lang="fr-FR" sz="1100" b="1" dirty="0"/>
              <a:t>taux de marge</a:t>
            </a:r>
            <a:r>
              <a:rPr lang="fr-FR" sz="1100" dirty="0"/>
              <a:t> est défini comme :</a:t>
            </a:r>
          </a:p>
          <a:p>
            <a:pPr>
              <a:buNone/>
            </a:pPr>
            <a:endParaRPr lang="fr-FR" sz="1100" b="1" dirty="0"/>
          </a:p>
          <a:p>
            <a:r>
              <a:rPr lang="fr-FR" sz="1100" b="1" dirty="0"/>
              <a:t>Taux de marge=Prix HT−Prix d’achat \ Prix HT</a:t>
            </a:r>
            <a:endParaRPr lang="fr-F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D20B7CD-A383-9E51-D734-F970C1039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32082F8B-98F8-7C95-8082-677CFCFBFA8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2400" dirty="0">
                <a:solidFill>
                  <a:schemeClr val="bg1"/>
                </a:solidFill>
              </a:rPr>
              <a:t>Lecture par produit </a:t>
            </a:r>
            <a:r>
              <a:rPr lang="fr-FR" dirty="0"/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0A188D7-44BC-E165-AC82-B18A830B2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60442"/>
              </p:ext>
            </p:extLst>
          </p:nvPr>
        </p:nvGraphicFramePr>
        <p:xfrm>
          <a:off x="509666" y="1390200"/>
          <a:ext cx="8214609" cy="3416052"/>
        </p:xfrm>
        <a:graphic>
          <a:graphicData uri="http://schemas.openxmlformats.org/drawingml/2006/table">
            <a:tbl>
              <a:tblPr/>
              <a:tblGrid>
                <a:gridCol w="2738203">
                  <a:extLst>
                    <a:ext uri="{9D8B030D-6E8A-4147-A177-3AD203B41FA5}">
                      <a16:colId xmlns:a16="http://schemas.microsoft.com/office/drawing/2014/main" val="1347445094"/>
                    </a:ext>
                  </a:extLst>
                </a:gridCol>
                <a:gridCol w="2738203">
                  <a:extLst>
                    <a:ext uri="{9D8B030D-6E8A-4147-A177-3AD203B41FA5}">
                      <a16:colId xmlns:a16="http://schemas.microsoft.com/office/drawing/2014/main" val="4089473351"/>
                    </a:ext>
                  </a:extLst>
                </a:gridCol>
                <a:gridCol w="2738203">
                  <a:extLst>
                    <a:ext uri="{9D8B030D-6E8A-4147-A177-3AD203B41FA5}">
                      <a16:colId xmlns:a16="http://schemas.microsoft.com/office/drawing/2014/main" val="1081536174"/>
                    </a:ext>
                  </a:extLst>
                </a:gridCol>
              </a:tblGrid>
              <a:tr h="406673">
                <a:tc>
                  <a:txBody>
                    <a:bodyPr/>
                    <a:lstStyle/>
                    <a:p>
                      <a:r>
                        <a:rPr lang="fr-FR" sz="1400"/>
                        <a:t>Produit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Taux de marge moyen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Interprétation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330922"/>
                  </a:ext>
                </a:extLst>
              </a:tr>
              <a:tr h="976014">
                <a:tc>
                  <a:txBody>
                    <a:bodyPr/>
                    <a:lstStyle/>
                    <a:p>
                      <a:r>
                        <a:rPr lang="fr-FR" sz="1400" b="1"/>
                        <a:t>Champagne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très faible (≈ 0.05)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Très faible rentabilité (peut-être vendu à perte ou en promotion).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549931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r>
                        <a:rPr lang="fr-FR" sz="1400" b="1"/>
                        <a:t>Cognac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≈ 0.45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Très bonne rentabilité.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467384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r>
                        <a:rPr lang="fr-FR" sz="1400" b="1"/>
                        <a:t>Gin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≈ 0.43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Rentable.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80808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r>
                        <a:rPr lang="fr-FR" sz="1400" b="1" dirty="0"/>
                        <a:t>Huile d’olive</a:t>
                      </a:r>
                      <a:endParaRPr lang="fr-F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≈ 0.26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Rentabilité moyenne.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788563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r>
                        <a:rPr lang="fr-FR" sz="1400" b="1"/>
                        <a:t>Vin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≈ 0.38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Assez rentable.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240933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r>
                        <a:rPr lang="fr-FR" sz="1400" b="1"/>
                        <a:t>Whisky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≈ 0.45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➤ Très rentable aussi.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990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65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73BA8B4-9DBA-D0E4-4665-4772BB347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88065A1B-E01E-6F59-F741-C13DFE49656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8A198254-440E-DDD9-0728-CC7B1688B8F1}"/>
              </a:ext>
            </a:extLst>
          </p:cNvPr>
          <p:cNvSpPr txBox="1"/>
          <p:nvPr/>
        </p:nvSpPr>
        <p:spPr>
          <a:xfrm>
            <a:off x="2132214" y="408750"/>
            <a:ext cx="552026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1600" dirty="0">
                <a:solidFill>
                  <a:schemeClr val="bg1"/>
                </a:solidFill>
              </a:rPr>
              <a:t>Graphique : Analyse de la quantité en stock (Boxplot)</a:t>
            </a:r>
            <a:endParaRPr sz="1600" dirty="0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AC38E42-CA77-0850-BEF3-A41D82E441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1" t="1453" r="3113"/>
          <a:stretch/>
        </p:blipFill>
        <p:spPr>
          <a:xfrm>
            <a:off x="3411507" y="2166079"/>
            <a:ext cx="5732494" cy="297742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545FE32-CA72-C37B-BFAB-BF4DF0EC2C18}"/>
              </a:ext>
            </a:extLst>
          </p:cNvPr>
          <p:cNvSpPr txBox="1"/>
          <p:nvPr/>
        </p:nvSpPr>
        <p:spPr>
          <a:xfrm>
            <a:off x="119920" y="1487911"/>
            <a:ext cx="6932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1200" dirty="0"/>
              <a:t>Ce graphique permet d’analyser la </a:t>
            </a:r>
            <a:r>
              <a:rPr lang="fr-FR" sz="1200" b="1" dirty="0"/>
              <a:t>répartition des stocks</a:t>
            </a:r>
            <a:r>
              <a:rPr lang="fr-FR" sz="1200" dirty="0"/>
              <a:t> de produits. Il met en évidence :</a:t>
            </a:r>
          </a:p>
          <a:p>
            <a:pPr>
              <a:buNone/>
            </a:pPr>
            <a:endParaRPr lang="fr-FR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/>
              <a:t>la médiane</a:t>
            </a:r>
            <a:r>
              <a:rPr lang="fr-FR" sz="1200" dirty="0"/>
              <a:t> (trait central)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/>
              <a:t>les quartiles</a:t>
            </a:r>
            <a:r>
              <a:rPr lang="fr-FR" sz="1200" dirty="0"/>
              <a:t> (Q1 et Q3, limites de la boîte)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/>
              <a:t>les outliers</a:t>
            </a:r>
            <a:r>
              <a:rPr lang="fr-FR" sz="1200" dirty="0"/>
              <a:t> (points au-delà des extrêmes).</a:t>
            </a:r>
          </a:p>
        </p:txBody>
      </p:sp>
    </p:spTree>
    <p:extLst>
      <p:ext uri="{BB962C8B-B14F-4D97-AF65-F5344CB8AC3E}">
        <p14:creationId xmlns:p14="http://schemas.microsoft.com/office/powerpoint/2010/main" val="122940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C385BD8F-716C-153A-17CD-4751CF3A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EC8E16CC-E583-6D59-7D0E-DEE30F9E47EB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2000" dirty="0">
                <a:solidFill>
                  <a:schemeClr val="bg1"/>
                </a:solidFill>
              </a:rPr>
              <a:t>Lecture du graphique </a:t>
            </a:r>
            <a:r>
              <a:rPr lang="fr-FR" sz="2000" dirty="0"/>
              <a:t>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FB53C70-FAA6-4EF2-A3F2-8BA35CA6D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900089"/>
              </p:ext>
            </p:extLst>
          </p:nvPr>
        </p:nvGraphicFramePr>
        <p:xfrm>
          <a:off x="311149" y="1870825"/>
          <a:ext cx="8521701" cy="280416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189297223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774323369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63868137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fr-FR" sz="1400"/>
                        <a:t>Élément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Interprétation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20821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fr-FR" sz="1400"/>
                        <a:t>📦 </a:t>
                      </a:r>
                      <a:r>
                        <a:rPr lang="fr-FR" sz="1400" b="1"/>
                        <a:t>Médiane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autour de 25 unités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La moitié des produits ont moins de 25 articles en stock.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21182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fr-FR" sz="1400"/>
                        <a:t>📦 </a:t>
                      </a:r>
                      <a:r>
                        <a:rPr lang="fr-FR" sz="1400" b="1"/>
                        <a:t>Q3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~40 unités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75 % des produits ont un stock ≤ 40.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79653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fr-FR" sz="1400"/>
                        <a:t>⚠️ </a:t>
                      </a:r>
                      <a:r>
                        <a:rPr lang="fr-FR" sz="1400" b="1"/>
                        <a:t>Outliers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au-delà de 60 (jusqu’à 150)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➤ Certains produits ont un </a:t>
                      </a:r>
                      <a:r>
                        <a:rPr lang="fr-FR" sz="1400" b="1"/>
                        <a:t>stock très élevé</a:t>
                      </a:r>
                      <a:r>
                        <a:rPr lang="fr-FR" sz="1400"/>
                        <a:t>, peut-être </a:t>
                      </a:r>
                      <a:r>
                        <a:rPr lang="fr-FR" sz="1400" b="1"/>
                        <a:t>surstockés</a:t>
                      </a:r>
                      <a:r>
                        <a:rPr lang="fr-FR" sz="1400"/>
                        <a:t> ou </a:t>
                      </a:r>
                      <a:r>
                        <a:rPr lang="fr-FR" sz="1400" b="1"/>
                        <a:t>non vendus</a:t>
                      </a:r>
                      <a:r>
                        <a:rPr lang="fr-FR" sz="14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3365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fr-FR" sz="1400"/>
                        <a:t>🔍 </a:t>
                      </a:r>
                      <a:r>
                        <a:rPr lang="fr-FR" sz="1400" b="1"/>
                        <a:t>Asymétrie</a:t>
                      </a:r>
                      <a:endParaRPr lang="fr-F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Données étirées vers la droite (longue queue)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➤ Répartition non symétrique : peu de produits concentrent de grandes quantités.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787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927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6FA62B9-A54D-BEA4-13E0-04A915FB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12F4983D-89B1-7535-7F25-D406E836F71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F940A7BD-BCBF-899E-0A9A-3668FA3858A3}"/>
              </a:ext>
            </a:extLst>
          </p:cNvPr>
          <p:cNvSpPr txBox="1"/>
          <p:nvPr/>
        </p:nvSpPr>
        <p:spPr>
          <a:xfrm>
            <a:off x="663177" y="513540"/>
            <a:ext cx="79486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3600" dirty="0">
                <a:solidFill>
                  <a:schemeClr val="bg1"/>
                </a:solidFill>
              </a:rPr>
              <a:t>Heatmap des corrélations – Stock, ventes, prix, coût d’achat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0A89C70-F5BC-B027-7652-4435D4BB4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14" r="2404"/>
          <a:stretch/>
        </p:blipFill>
        <p:spPr>
          <a:xfrm>
            <a:off x="5209082" y="1900747"/>
            <a:ext cx="3934918" cy="3242753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C6CCB4E-0AF4-6157-7CEE-2944C01A2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31" y="1900747"/>
            <a:ext cx="51041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Qu’est-ce qu’une heatmap de corrélation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Elle mesure la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 et la direction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relation linéaire entre deux variables numériques.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valeurs varient entre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+1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corrélation parfaite positive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0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aucune corrélation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−1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corrélation parfaite négative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319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6F7D5047-0318-DA83-7E57-07E9FEFE3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41A7A72B-7AA5-AC1B-1327-50D4E2F6F138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01036D52-62E9-E64D-4D8C-C5634E8CA757}"/>
              </a:ext>
            </a:extLst>
          </p:cNvPr>
          <p:cNvSpPr txBox="1"/>
          <p:nvPr/>
        </p:nvSpPr>
        <p:spPr>
          <a:xfrm>
            <a:off x="2771238" y="408750"/>
            <a:ext cx="36015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400" dirty="0">
                <a:solidFill>
                  <a:schemeClr val="bg1"/>
                </a:solidFill>
              </a:rPr>
              <a:t>Analyse des résultats </a:t>
            </a:r>
            <a:endParaRPr sz="24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973FF89-A041-2CF6-05BC-EC0FC759B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833454"/>
              </p:ext>
            </p:extLst>
          </p:nvPr>
        </p:nvGraphicFramePr>
        <p:xfrm>
          <a:off x="292307" y="1534775"/>
          <a:ext cx="8731770" cy="3416297"/>
        </p:xfrm>
        <a:graphic>
          <a:graphicData uri="http://schemas.openxmlformats.org/drawingml/2006/table">
            <a:tbl>
              <a:tblPr/>
              <a:tblGrid>
                <a:gridCol w="2910590">
                  <a:extLst>
                    <a:ext uri="{9D8B030D-6E8A-4147-A177-3AD203B41FA5}">
                      <a16:colId xmlns:a16="http://schemas.microsoft.com/office/drawing/2014/main" val="1207686023"/>
                    </a:ext>
                  </a:extLst>
                </a:gridCol>
                <a:gridCol w="2910590">
                  <a:extLst>
                    <a:ext uri="{9D8B030D-6E8A-4147-A177-3AD203B41FA5}">
                      <a16:colId xmlns:a16="http://schemas.microsoft.com/office/drawing/2014/main" val="263123382"/>
                    </a:ext>
                  </a:extLst>
                </a:gridCol>
                <a:gridCol w="2910590">
                  <a:extLst>
                    <a:ext uri="{9D8B030D-6E8A-4147-A177-3AD203B41FA5}">
                      <a16:colId xmlns:a16="http://schemas.microsoft.com/office/drawing/2014/main" val="882873512"/>
                    </a:ext>
                  </a:extLst>
                </a:gridCol>
              </a:tblGrid>
              <a:tr h="244021">
                <a:tc>
                  <a:txBody>
                    <a:bodyPr/>
                    <a:lstStyle/>
                    <a:p>
                      <a:r>
                        <a:rPr lang="fr-FR" sz="1100"/>
                        <a:t>Variables comparées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Corrélation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Interprétation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153477"/>
                  </a:ext>
                </a:extLst>
              </a:tr>
              <a:tr h="585651">
                <a:tc>
                  <a:txBody>
                    <a:bodyPr/>
                    <a:lstStyle/>
                    <a:p>
                      <a:r>
                        <a:rPr lang="fr-FR" sz="1100"/>
                        <a:t>stock_quantity / total_sales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/>
                        <a:t>+0.44</a:t>
                      </a:r>
                      <a:endParaRPr lang="fr-FR" sz="1100"/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Corrélation modérée </a:t>
                      </a:r>
                      <a:r>
                        <a:rPr lang="fr-FR" sz="1100" b="1"/>
                        <a:t>positive</a:t>
                      </a:r>
                      <a:r>
                        <a:rPr lang="fr-FR" sz="1100"/>
                        <a:t> → plus on a de stock, plus on vend (logique).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121338"/>
                  </a:ext>
                </a:extLst>
              </a:tr>
              <a:tr h="585651">
                <a:tc>
                  <a:txBody>
                    <a:bodyPr/>
                    <a:lstStyle/>
                    <a:p>
                      <a:r>
                        <a:rPr lang="fr-FR" sz="1100"/>
                        <a:t>price / total_sales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/>
                        <a:t>−0.52</a:t>
                      </a:r>
                      <a:endParaRPr lang="fr-FR" sz="1100"/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Corrélation </a:t>
                      </a:r>
                      <a:r>
                        <a:rPr lang="fr-FR" sz="1100" b="1"/>
                        <a:t>négative forte</a:t>
                      </a:r>
                      <a:r>
                        <a:rPr lang="fr-FR" sz="1100"/>
                        <a:t> → plus le prix est élevé, moins on vend.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792954"/>
                  </a:ext>
                </a:extLst>
              </a:tr>
              <a:tr h="585651">
                <a:tc>
                  <a:txBody>
                    <a:bodyPr/>
                    <a:lstStyle/>
                    <a:p>
                      <a:r>
                        <a:rPr lang="fr-FR" sz="1100"/>
                        <a:t>price / purchase_price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/>
                        <a:t>+0.98</a:t>
                      </a:r>
                      <a:endParaRPr lang="fr-FR" sz="1100"/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Corrélation </a:t>
                      </a:r>
                      <a:r>
                        <a:rPr lang="fr-FR" sz="1100" b="1"/>
                        <a:t>quasi parfaite</a:t>
                      </a:r>
                      <a:r>
                        <a:rPr lang="fr-FR" sz="1100"/>
                        <a:t> → les prix d’achat et de vente évoluent ensemble.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809345"/>
                  </a:ext>
                </a:extLst>
              </a:tr>
              <a:tr h="585651">
                <a:tc>
                  <a:txBody>
                    <a:bodyPr/>
                    <a:lstStyle/>
                    <a:p>
                      <a:r>
                        <a:rPr lang="fr-FR" sz="1100"/>
                        <a:t>purchase_price / total_sales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/>
                        <a:t>−0.5</a:t>
                      </a:r>
                      <a:endParaRPr lang="fr-FR" sz="1100"/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Les produits coûteux sont moins vendus (coût élevé freine les ventes).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153745"/>
                  </a:ext>
                </a:extLst>
              </a:tr>
              <a:tr h="414836">
                <a:tc>
                  <a:txBody>
                    <a:bodyPr/>
                    <a:lstStyle/>
                    <a:p>
                      <a:r>
                        <a:rPr lang="fr-FR" sz="1100"/>
                        <a:t>stock_quantity / price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/>
                        <a:t>−0.11</a:t>
                      </a:r>
                      <a:endParaRPr lang="fr-FR" sz="1100"/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Corrélation très faible négative → effet marginal.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729585"/>
                  </a:ext>
                </a:extLst>
              </a:tr>
              <a:tr h="414836">
                <a:tc>
                  <a:txBody>
                    <a:bodyPr/>
                    <a:lstStyle/>
                    <a:p>
                      <a:r>
                        <a:rPr lang="fr-FR" sz="1100"/>
                        <a:t>stock_quantity / purchase_price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/>
                        <a:t>−0.02</a:t>
                      </a:r>
                      <a:endParaRPr lang="fr-FR" sz="1100"/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Aucune corrélation → achat et stock non liés.</a:t>
                      </a:r>
                    </a:p>
                  </a:txBody>
                  <a:tcPr marL="73206" marR="73206" marT="36603" marB="366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06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9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F21352E4-159C-B188-DBED-9E14486C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55E743B3-8EA3-D796-7A1B-DC34181673C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EA7C82C7-48DF-CB59-B7AC-8F0B941098E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909DBB3-EF3A-A967-E0A2-DE462EB22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426" y="1390200"/>
            <a:ext cx="876175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Optimiser les stocks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Identifier les produits à faible rotation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Réévaluer les niveaux de stock pour éviter l’immobilisation de capital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Analyser les produits à marge négative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Comprendre si ces produits sont en promotion, en erreur ou stratégiques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Réviser les prix d’achat ou ajuster les prix de vente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Mettre à jour les données manquantes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Compléter les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id_web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manquants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Nettoyer régulièrement la base pour éviter les doublons et incohérences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Renforcer l’analyse avec plus de dimensions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Ajouter la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catégorie client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saisonnalité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les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coûts logistiques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Évaluer la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profitabilité globale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au-delà du 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Mise en place d’un reporting automatisé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Générer des tableaux de bord mensuels pour suivre :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CA, marges, rotations, ventes top/flop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7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1690003" y="374537"/>
            <a:ext cx="683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D38AC2-4608-2B29-63F2-3D39C2F42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81267"/>
            <a:ext cx="890415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Qu’est-ce qui s’est bien passé pour vous dans ce travail de nettoyage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J’ai réussi à nettoyer efficacement les données (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doublons, formats incohérents) et à appliquer des méthodes statistiques comme le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Z-score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l’IQR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détecter les valeurs aberrantes.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 m’a permis de mieux comprendre la qualité de mes données avant l’analyse.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46ADB3F-CB96-BBAC-A187-BBD1C3A4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7833"/>
            <a:ext cx="89574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Qu’est-ce que vous avez trouvé le plus difficile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L’un des aspects les plus complexes a été de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choisir la bonne méthode pour détecter les outliers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(Z-score vs IQR) et interpréter leur signification métier.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fallait aussi veiller à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 pas supprimer trop d’observations utiles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A251C67-E175-EA5F-8E40-B714F7214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4399"/>
            <a:ext cx="82557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 quelles tâches est-ce que vous pensez avoir besoin de plus d’entraînement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J’aimerais m’améliorer dans l’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 multivariée croisée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dans l’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interprétation des corrélations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 veux aussi progresser dans la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visualisation avancée avec Plotly ou Seaborn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pour mieux valoriser mes résultats.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4058</TotalTime>
  <Words>1473</Words>
  <Application>Microsoft Office PowerPoint</Application>
  <PresentationFormat>Affichage à l'écran (16:9)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Inter</vt:lpstr>
      <vt:lpstr>Montserrat</vt:lpstr>
      <vt:lpstr>Arial Unicode MS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Nas Aylin</cp:lastModifiedBy>
  <cp:revision>4</cp:revision>
  <dcterms:modified xsi:type="dcterms:W3CDTF">2025-06-02T11:12:18Z</dcterms:modified>
</cp:coreProperties>
</file>