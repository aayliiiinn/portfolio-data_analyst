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170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211698" y="92788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518386" y="0"/>
            <a:ext cx="8096738" cy="48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dirty="0"/>
              <a:t>Création et utilisation de la base de données</a:t>
            </a:r>
            <a:endParaRPr dirty="0"/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B1AB5BC-A598-F014-97A9-E3DCB554FBCC}"/>
              </a:ext>
            </a:extLst>
          </p:cNvPr>
          <p:cNvSpPr txBox="1"/>
          <p:nvPr/>
        </p:nvSpPr>
        <p:spPr>
          <a:xfrm>
            <a:off x="3687955" y="2192565"/>
            <a:ext cx="45837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Projet d’analyse des valeurs foncières (2020)</a:t>
            </a:r>
          </a:p>
          <a:p>
            <a:pPr>
              <a:buNone/>
            </a:pPr>
            <a:endParaRPr lang="fr-FR" b="1" dirty="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>
              <a:buNone/>
            </a:pPr>
            <a:r>
              <a:rPr lang="fr-FR" b="1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Aylin Ghorbani</a:t>
            </a:r>
            <a:br>
              <a:rPr lang="fr-FR" b="1" dirty="0">
                <a:solidFill>
                  <a:schemeClr val="accent1">
                    <a:lumMod val="75000"/>
                    <a:lumOff val="25000"/>
                  </a:schemeClr>
                </a:solidFill>
              </a:rPr>
            </a:br>
            <a:endParaRPr lang="fr-FR" b="1" dirty="0">
              <a:solidFill>
                <a:schemeClr val="accent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253897" y="547078"/>
            <a:ext cx="3946769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2400" dirty="0"/>
              <a:t>Contexte du projet</a:t>
            </a:r>
            <a:endParaRPr sz="2400" dirty="0"/>
          </a:p>
        </p:txBody>
      </p:sp>
      <p:pic>
        <p:nvPicPr>
          <p:cNvPr id="268" name="Google Shape;268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69" name="Google Shape;269;p34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Projet – Analyse de données immobilières (2025)</a:t>
            </a:r>
            <a:endParaRPr dirty="0"/>
          </a:p>
        </p:txBody>
      </p:sp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EFFCE5A-179A-5CDD-6328-0C476F1E3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569256"/>
            <a:ext cx="4678823" cy="313658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1600" dirty="0">
                <a:latin typeface="+mn-lt"/>
              </a:rPr>
              <a:t>Créer une base de données relationnelle à partir de fichiers csv publics.</a:t>
            </a:r>
          </a:p>
          <a:p>
            <a:pPr marL="114300" indent="0">
              <a:buNone/>
            </a:pPr>
            <a:endParaRPr lang="fr-FR" sz="16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>
                <a:latin typeface="+mn-lt"/>
              </a:rPr>
              <a:t>Répondre à des questions métiers sur les tendances du marché immobilier.</a:t>
            </a:r>
          </a:p>
          <a:p>
            <a:pPr marL="114300" indent="0">
              <a:buNone/>
            </a:pPr>
            <a:endParaRPr lang="fr-FR" sz="16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>
                <a:latin typeface="+mn-lt"/>
              </a:rPr>
              <a:t>Améliorer la lecture et l’analyse des ventes foncières à l’aide du langage SQL.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70465" y="656431"/>
            <a:ext cx="6316593" cy="400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sz="2400" b="0" dirty="0"/>
              <a:t>La stratégie de sauvegarde et la conformité RGPD</a:t>
            </a:r>
            <a:endParaRPr sz="2400" b="0" dirty="0"/>
          </a:p>
        </p:txBody>
      </p:sp>
      <p:sp>
        <p:nvSpPr>
          <p:cNvPr id="277" name="Google Shape;277;p35"/>
          <p:cNvSpPr txBox="1">
            <a:spLocks noGrp="1"/>
          </p:cNvSpPr>
          <p:nvPr>
            <p:ph type="body" idx="2"/>
          </p:nvPr>
        </p:nvSpPr>
        <p:spPr>
          <a:xfrm>
            <a:off x="370465" y="1731349"/>
            <a:ext cx="7989763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1600" b="1" dirty="0">
                <a:latin typeface="+mn-lt"/>
              </a:rPr>
              <a:t>Stockage local</a:t>
            </a:r>
            <a:r>
              <a:rPr lang="fr-FR" sz="1600" dirty="0">
                <a:latin typeface="+mn-lt"/>
              </a:rPr>
              <a:t> et structuration en </a:t>
            </a:r>
            <a:r>
              <a:rPr lang="fr-FR" sz="1600" b="1" dirty="0">
                <a:latin typeface="+mn-lt"/>
              </a:rPr>
              <a:t>tables relationnelles normalisées (3NF)</a:t>
            </a:r>
            <a:r>
              <a:rPr lang="fr-FR" sz="1600" dirty="0">
                <a:latin typeface="+mn-lt"/>
              </a:rPr>
              <a:t>.</a:t>
            </a:r>
          </a:p>
          <a:p>
            <a:pPr marL="114300" indent="0">
              <a:buNone/>
            </a:pPr>
            <a:endParaRPr lang="fr-FR" sz="16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 b="1" dirty="0">
                <a:latin typeface="+mn-lt"/>
              </a:rPr>
              <a:t>Respect RGPD :</a:t>
            </a:r>
            <a:r>
              <a:rPr lang="fr-FR" sz="1600" dirty="0">
                <a:latin typeface="+mn-lt"/>
              </a:rPr>
              <a:t> Aucune donnée personnelle exploitée.</a:t>
            </a:r>
          </a:p>
          <a:p>
            <a:pPr marL="114300" indent="0">
              <a:buNone/>
            </a:pPr>
            <a:endParaRPr lang="fr-FR" sz="16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 b="1" dirty="0">
                <a:latin typeface="+mn-lt"/>
              </a:rPr>
              <a:t>Source :</a:t>
            </a:r>
            <a:r>
              <a:rPr lang="fr-FR" sz="1600" dirty="0">
                <a:latin typeface="+mn-lt"/>
              </a:rPr>
              <a:t> données ouvertes issues du portail gouvernemental (Etalab).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dirty="0"/>
          </a:p>
        </p:txBody>
      </p:sp>
      <p:sp>
        <p:nvSpPr>
          <p:cNvPr id="278" name="Google Shape;278;p3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u="none" strike="noStrike" cap="none" dirty="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Projet – Analyse de données immobilières (2025)</a:t>
            </a:r>
            <a:endParaRPr dirty="0"/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253897" y="191970"/>
            <a:ext cx="4689794" cy="462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2400" b="0" dirty="0"/>
              <a:t>Les données initiales</a:t>
            </a:r>
            <a:endParaRPr sz="2400" b="0" dirty="0"/>
          </a:p>
        </p:txBody>
      </p:sp>
      <p:sp>
        <p:nvSpPr>
          <p:cNvPr id="287" name="Google Shape;287;p3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u="none" strike="noStrike" cap="none" dirty="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Projet – Analyse de données immobilières (2025)</a:t>
            </a:r>
            <a:endParaRPr dirty="0"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E7F479D-890B-FF6A-3CC3-AC0E32BF10E7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253897" y="1273737"/>
            <a:ext cx="8741611" cy="3406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r>
              <a:rPr lang="fr-FR" sz="1600" b="1" dirty="0">
                <a:latin typeface="+mn-lt"/>
              </a:rPr>
              <a:t>Fichiers traités :</a:t>
            </a:r>
          </a:p>
          <a:p>
            <a:pPr marL="114300" indent="0">
              <a:buNone/>
            </a:pPr>
            <a:endParaRPr lang="fr-FR" sz="1600" dirty="0"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+mn-lt"/>
              </a:rPr>
              <a:t>BIEN.csv : description des biens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+mn-lt"/>
              </a:rPr>
              <a:t>VENTE.csv : informations sur les ventes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+mn-lt"/>
              </a:rPr>
              <a:t>COMMUNE.csv : données communales (démographie)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+mn-lt"/>
              </a:rPr>
              <a:t>REGION.csv : liste des régions</a:t>
            </a:r>
          </a:p>
          <a:p>
            <a:pPr marL="114300" indent="0">
              <a:buNone/>
            </a:pPr>
            <a:endParaRPr lang="fr-FR" sz="1600" b="1" dirty="0">
              <a:latin typeface="+mn-lt"/>
            </a:endParaRPr>
          </a:p>
          <a:p>
            <a:pPr marL="114300" indent="0">
              <a:buNone/>
            </a:pPr>
            <a:r>
              <a:rPr lang="fr-FR" sz="1600" b="1" dirty="0">
                <a:latin typeface="+mn-lt"/>
              </a:rPr>
              <a:t>Année d’analyse :</a:t>
            </a:r>
            <a:r>
              <a:rPr lang="fr-FR" sz="1600" dirty="0">
                <a:latin typeface="+mn-lt"/>
              </a:rPr>
              <a:t> 2020</a:t>
            </a:r>
          </a:p>
          <a:p>
            <a:pPr marL="114300" indent="0">
              <a:buNone/>
            </a:pPr>
            <a:endParaRPr lang="fr-FR" sz="1600" b="1" dirty="0">
              <a:latin typeface="+mn-lt"/>
            </a:endParaRPr>
          </a:p>
          <a:p>
            <a:pPr marL="114300" indent="0">
              <a:buNone/>
            </a:pPr>
            <a:r>
              <a:rPr lang="fr-FR" sz="1600" b="1" dirty="0">
                <a:latin typeface="+mn-lt"/>
              </a:rPr>
              <a:t>Variables clés :</a:t>
            </a:r>
            <a:r>
              <a:rPr lang="fr-FR" sz="1600" dirty="0">
                <a:latin typeface="+mn-lt"/>
              </a:rPr>
              <a:t> prix, surface, nombre de pièces, type de bien, localisation, 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253897" y="404835"/>
            <a:ext cx="7160654" cy="462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sz="2400" b="0" dirty="0"/>
              <a:t>L’extrait du dictionnaire des données</a:t>
            </a:r>
            <a:endParaRPr sz="2400" b="0" dirty="0"/>
          </a:p>
        </p:txBody>
      </p:sp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u="none" strike="noStrike" cap="none" dirty="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Projet – Analyse de données immobilières (2025)</a:t>
            </a:r>
            <a:endParaRPr dirty="0"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40BD804-70F3-9D08-FCD7-FE9228D9E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97" y="1777094"/>
            <a:ext cx="7525800" cy="24958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211015" y="-15631"/>
            <a:ext cx="5374710" cy="43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sz="2400" b="0" dirty="0"/>
              <a:t>Le schéma relationnel normalisé</a:t>
            </a:r>
            <a:endParaRPr sz="2400" b="0" dirty="0"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A22FB0F-AD58-DF8D-E1C0-91E9BDD58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711" y="522100"/>
            <a:ext cx="5108498" cy="43820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253897" y="311933"/>
            <a:ext cx="8809700" cy="462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sz="2400" b="0" dirty="0"/>
              <a:t>La base de données avec les tables créées et les données chargées</a:t>
            </a:r>
            <a:endParaRPr sz="2400" b="0" dirty="0"/>
          </a:p>
        </p:txBody>
      </p:sp>
      <p:sp>
        <p:nvSpPr>
          <p:cNvPr id="313" name="Google Shape;313;p39"/>
          <p:cNvSpPr txBox="1">
            <a:spLocks noGrp="1"/>
          </p:cNvSpPr>
          <p:nvPr>
            <p:ph type="body" idx="2"/>
          </p:nvPr>
        </p:nvSpPr>
        <p:spPr>
          <a:xfrm>
            <a:off x="163877" y="892702"/>
            <a:ext cx="6978592" cy="92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" sz="1200" dirty="0">
                <a:latin typeface="+mn-lt"/>
              </a:rPr>
              <a:t>Lorem ipsum</a:t>
            </a:r>
            <a:r>
              <a:rPr lang="fr-FR" sz="1200" b="1" dirty="0">
                <a:latin typeface="+mn-lt"/>
              </a:rPr>
              <a:t>Création des tables via SQL (CREATE TABLE)</a:t>
            </a:r>
            <a:endParaRPr lang="fr-FR" sz="12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b="1" dirty="0">
                <a:latin typeface="+mn-lt"/>
              </a:rPr>
              <a:t>Import des CSV nettoyés via MySQL Workbench</a:t>
            </a:r>
            <a:endParaRPr lang="fr-FR" sz="12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b="1" dirty="0">
                <a:latin typeface="+mn-lt"/>
              </a:rPr>
              <a:t>Tests d’intégrité :</a:t>
            </a:r>
            <a:r>
              <a:rPr lang="fr-FR" sz="1200" dirty="0">
                <a:latin typeface="+mn-lt"/>
              </a:rPr>
              <a:t> types, NULL, clés primaires / étrangères vérifiés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dirty="0"/>
          </a:p>
        </p:txBody>
      </p:sp>
      <p:sp>
        <p:nvSpPr>
          <p:cNvPr id="314" name="Google Shape;314;p3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D5763B7-E72B-0504-386E-61DD3F0C1F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70" r="5827"/>
          <a:stretch/>
        </p:blipFill>
        <p:spPr>
          <a:xfrm>
            <a:off x="347682" y="1927607"/>
            <a:ext cx="2762841" cy="140037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418CF89-DC89-E727-B277-4CC569A56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82" y="3391502"/>
            <a:ext cx="4248743" cy="171859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E4D774C-51B5-87C6-C614-13C4C16F0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210" y="1927607"/>
            <a:ext cx="3448531" cy="163950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FD2F363-7F5D-8B5E-8A29-13268E8ACA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210" y="3567111"/>
            <a:ext cx="3810532" cy="15918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253897" y="0"/>
            <a:ext cx="5447323" cy="560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400" b="0" dirty="0"/>
              <a:t>chargement des données</a:t>
            </a:r>
            <a:endParaRPr sz="2400" b="0" dirty="0"/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58FA4F6-CC41-D3CE-2E8F-1C9686B40F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50635"/>
          <a:stretch/>
        </p:blipFill>
        <p:spPr>
          <a:xfrm>
            <a:off x="3870990" y="2427102"/>
            <a:ext cx="1907746" cy="253903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8AE607A-C508-E7A3-BE63-C80B35F2E2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19"/>
          <a:stretch/>
        </p:blipFill>
        <p:spPr>
          <a:xfrm>
            <a:off x="253897" y="1155847"/>
            <a:ext cx="2481808" cy="112410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3F71ACF-C2E5-2E94-E0A3-B883DF138D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426"/>
          <a:stretch/>
        </p:blipFill>
        <p:spPr>
          <a:xfrm>
            <a:off x="253897" y="2346541"/>
            <a:ext cx="2481808" cy="105742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63425BE-EB4D-8ED7-02B8-D894C6B858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4992" y="1155847"/>
            <a:ext cx="2619741" cy="97168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2C71BC4-7E02-64FC-9A49-0B4A4B140A7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25"/>
          <a:stretch/>
        </p:blipFill>
        <p:spPr>
          <a:xfrm>
            <a:off x="253897" y="3696617"/>
            <a:ext cx="2537059" cy="10955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203404" y="129816"/>
            <a:ext cx="3683725" cy="324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sz="2400" b="0" dirty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 sz="2400" dirty="0"/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3AA0F21-20E5-BC91-19E0-39DB51A57DBE}"/>
              </a:ext>
            </a:extLst>
          </p:cNvPr>
          <p:cNvSpPr txBox="1"/>
          <p:nvPr/>
        </p:nvSpPr>
        <p:spPr>
          <a:xfrm>
            <a:off x="203404" y="4681835"/>
            <a:ext cx="8690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i="1" dirty="0">
                <a:latin typeface="+mn-lt"/>
              </a:rPr>
              <a:t>Nombre total d'appartements vendus en France au 1er semestre 2020 :</a:t>
            </a:r>
            <a:br>
              <a:rPr lang="fr-FR" sz="1200" dirty="0">
                <a:latin typeface="+mn-lt"/>
              </a:rPr>
            </a:br>
            <a:r>
              <a:rPr lang="fr-FR" sz="1200" b="1" dirty="0">
                <a:highlight>
                  <a:srgbClr val="FFFF00"/>
                </a:highlight>
                <a:latin typeface="+mn-lt"/>
              </a:rPr>
              <a:t>31378 </a:t>
            </a:r>
            <a:r>
              <a:rPr lang="fr-FR" sz="1200" b="1" dirty="0">
                <a:latin typeface="+mn-lt"/>
              </a:rPr>
              <a:t>ventes</a:t>
            </a:r>
            <a:endParaRPr lang="fr-FR" sz="1200" dirty="0">
              <a:latin typeface="+mn-l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05A7024-CF65-0726-E0F3-03AEF1F22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806" y="649888"/>
            <a:ext cx="3939882" cy="38486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253897" y="0"/>
            <a:ext cx="1502315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2400" b="0" dirty="0"/>
              <a:t>Requête 2</a:t>
            </a:r>
            <a:endParaRPr sz="2400"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Projet – Analyse de données immobilières (2025)</a:t>
            </a:r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244905" y="593969"/>
            <a:ext cx="6190184" cy="535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Nombre de ventes d’appartements par région pour le 1er semestre 2020 :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156E878-4A22-301B-BE47-A7AA80E16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467" y="1033928"/>
            <a:ext cx="3161346" cy="400717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2A370A2-00EE-B8F0-549D-0ECE8A13B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81" y="1065609"/>
            <a:ext cx="540718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Île-de-France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est la région la plus dynamique avec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13 995 ventes         d’appartements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loin devant les autres.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Provence-Alpes-Côte d’Azur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(3 649) et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Auvergne-Rhône-Alpes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(3 253) complètent le top 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Les régions d'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outre-mer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(Guyane, Guadeloupe, La Réunion) enregistrent très peu de ventes, ce qui peut s'expliquer par un marché plus restreint ou une saisie incomplète.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21CC0A4-B3B9-5045-16CD-431806960BF5}"/>
              </a:ext>
            </a:extLst>
          </p:cNvPr>
          <p:cNvSpPr txBox="1"/>
          <p:nvPr/>
        </p:nvSpPr>
        <p:spPr>
          <a:xfrm>
            <a:off x="69281" y="3100014"/>
            <a:ext cx="5312187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1200" dirty="0"/>
              <a:t>Ces données permettent de </a:t>
            </a:r>
            <a:r>
              <a:rPr lang="fr-FR" sz="1200" b="1" dirty="0"/>
              <a:t>prioriser les zones géographiques</a:t>
            </a:r>
            <a:r>
              <a:rPr lang="fr-FR" sz="1200" dirty="0"/>
              <a:t> dans une stratégie commerciale immobilière.</a:t>
            </a:r>
          </a:p>
          <a:p>
            <a:endParaRPr lang="fr-FR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/>
              <a:t>Il serait pertinent de </a:t>
            </a:r>
            <a:r>
              <a:rPr lang="fr-FR" sz="1200" b="1" dirty="0"/>
              <a:t>croiser ces résultats avec les prix moyens ou la population</a:t>
            </a:r>
            <a:r>
              <a:rPr lang="fr-FR" sz="1200" dirty="0"/>
              <a:t> pour affiner l’analyse de la performance régionale</a:t>
            </a:r>
            <a:r>
              <a:rPr lang="fr-FR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977176" y="1994494"/>
            <a:ext cx="3640180" cy="47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-FR" sz="2400" b="1" dirty="0"/>
              <a:t>Merci pour votre attention</a:t>
            </a:r>
            <a:endParaRPr sz="2400" dirty="0"/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416</Words>
  <Application>Microsoft Office PowerPoint</Application>
  <PresentationFormat>Affichage à l'écran (16:9)</PresentationFormat>
  <Paragraphs>72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Simple Light</vt:lpstr>
      <vt:lpstr>Thème Office</vt:lpstr>
      <vt:lpstr>Création et utilisation de la base de données</vt:lpstr>
      <vt:lpstr>Contexte du projet</vt:lpstr>
      <vt:lpstr>La stratégie de sauvegarde et la conformité RGPD</vt:lpstr>
      <vt:lpstr>Les données initiales</vt:lpstr>
      <vt:lpstr>L’extrait du dictionnaire des données</vt:lpstr>
      <vt:lpstr>Le schéma relationnel normalisé</vt:lpstr>
      <vt:lpstr>La base de données avec les tables créées et les données chargées</vt:lpstr>
      <vt:lpstr>chargement des données</vt:lpstr>
      <vt:lpstr>Requêtes SQL et résultats</vt:lpstr>
      <vt:lpstr>Requête 2</vt:lpstr>
      <vt:lpstr>Merci pour votre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Nas Aylin</cp:lastModifiedBy>
  <cp:revision>3</cp:revision>
  <dcterms:modified xsi:type="dcterms:W3CDTF">2025-05-14T15:28:23Z</dcterms:modified>
</cp:coreProperties>
</file>