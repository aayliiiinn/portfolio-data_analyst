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59" r:id="rId5"/>
    <p:sldId id="260" r:id="rId6"/>
    <p:sldId id="264" r:id="rId7"/>
    <p:sldId id="263" r:id="rId8"/>
    <p:sldId id="262" r:id="rId9"/>
    <p:sldId id="277" r:id="rId10"/>
    <p:sldId id="268" r:id="rId11"/>
    <p:sldId id="265" r:id="rId12"/>
    <p:sldId id="266" r:id="rId13"/>
    <p:sldId id="267" r:id="rId14"/>
    <p:sldId id="269" r:id="rId15"/>
    <p:sldId id="270" r:id="rId16"/>
    <p:sldId id="278"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2310" y="10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5527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smtClean="0"/>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t>‹N°›</a:t>
            </a:fld>
            <a:endParaRPr lang="en-US" dirty="0"/>
          </a:p>
        </p:txBody>
      </p:sp>
    </p:spTree>
    <p:extLst>
      <p:ext uri="{BB962C8B-B14F-4D97-AF65-F5344CB8AC3E}">
        <p14:creationId xmlns:p14="http://schemas.microsoft.com/office/powerpoint/2010/main" val="298078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240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smtClean="0"/>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‹N°›</a:t>
            </a:fld>
            <a:endParaRPr lang="en-US" dirty="0"/>
          </a:p>
        </p:txBody>
      </p:sp>
    </p:spTree>
    <p:extLst>
      <p:ext uri="{BB962C8B-B14F-4D97-AF65-F5344CB8AC3E}">
        <p14:creationId xmlns:p14="http://schemas.microsoft.com/office/powerpoint/2010/main" val="3380929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097280" y="2582334"/>
            <a:ext cx="4937760" cy="33782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217920" y="2582334"/>
            <a:ext cx="4937760" cy="33782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798669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359358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7" name="Date Placeholder 6"/>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73675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2A54C80-263E-416B-A8E0-580EDEADCBDC}" type="datetimeFigureOut">
              <a:rPr lang="en-US" smtClean="0"/>
              <a:t>12/3/2025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9954A3-9DFD-4C44-94BA-B95130A3BA1C}" type="slidenum">
              <a:rPr lang="en-US" smtClean="0"/>
              <a:t>‹N°›</a:t>
            </a:fld>
            <a:endParaRPr lang="en-US" dirty="0"/>
          </a:p>
        </p:txBody>
      </p:sp>
    </p:spTree>
    <p:extLst>
      <p:ext uri="{BB962C8B-B14F-4D97-AF65-F5344CB8AC3E}">
        <p14:creationId xmlns:p14="http://schemas.microsoft.com/office/powerpoint/2010/main" val="196842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750205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‹N°›</a:t>
            </a:fld>
            <a:endParaRPr lang="en-US" dirty="0"/>
          </a:p>
        </p:txBody>
      </p:sp>
    </p:spTree>
    <p:extLst>
      <p:ext uri="{BB962C8B-B14F-4D97-AF65-F5344CB8AC3E}">
        <p14:creationId xmlns:p14="http://schemas.microsoft.com/office/powerpoint/2010/main" val="23142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Vertical Title 1"/>
          <p:cNvSpPr>
            <a:spLocks noGrp="1"/>
          </p:cNvSpPr>
          <p:nvPr>
            <p:ph type="title" orient="vert"/>
          </p:nvPr>
        </p:nvSpPr>
        <p:spPr>
          <a:xfrm>
            <a:off x="8724900" y="414778"/>
            <a:ext cx="2628900" cy="575742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63063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12/3/2025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0445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E55C57-1E47-4B16-9EC7-6FBFBBD6131D}"/>
              </a:ext>
            </a:extLst>
          </p:cNvPr>
          <p:cNvSpPr>
            <a:spLocks noGrp="1"/>
          </p:cNvSpPr>
          <p:nvPr>
            <p:ph type="ctrTitle"/>
          </p:nvPr>
        </p:nvSpPr>
        <p:spPr>
          <a:xfrm>
            <a:off x="1261181" y="2481749"/>
            <a:ext cx="10058400" cy="607127"/>
          </a:xfrm>
        </p:spPr>
        <p:txBody>
          <a:bodyPr>
            <a:normAutofit/>
          </a:bodyPr>
          <a:lstStyle/>
          <a:p>
            <a:r>
              <a:rPr lang="fr-FR" sz="2800" b="1" dirty="0">
                <a:solidFill>
                  <a:schemeClr val="accent2"/>
                </a:solidFill>
              </a:rPr>
              <a:t>Organisation nationale de lutte contre le faux-monnayage (ONCFM)</a:t>
            </a:r>
          </a:p>
        </p:txBody>
      </p:sp>
      <p:sp>
        <p:nvSpPr>
          <p:cNvPr id="3" name="Sous-titre 2">
            <a:extLst>
              <a:ext uri="{FF2B5EF4-FFF2-40B4-BE49-F238E27FC236}">
                <a16:creationId xmlns:a16="http://schemas.microsoft.com/office/drawing/2014/main" id="{1C2CA1B4-B6E2-4552-B2ED-15E788B9F152}"/>
              </a:ext>
            </a:extLst>
          </p:cNvPr>
          <p:cNvSpPr>
            <a:spLocks noGrp="1"/>
          </p:cNvSpPr>
          <p:nvPr>
            <p:ph type="subTitle" idx="1"/>
          </p:nvPr>
        </p:nvSpPr>
        <p:spPr/>
        <p:txBody>
          <a:bodyPr>
            <a:normAutofit fontScale="92500" lnSpcReduction="10000"/>
          </a:bodyPr>
          <a:lstStyle/>
          <a:p>
            <a:r>
              <a:rPr lang="fr-FR" dirty="0">
                <a:latin typeface="Arial" panose="020B0604020202020204" pitchFamily="34" charset="0"/>
                <a:cs typeface="Arial" panose="020B0604020202020204" pitchFamily="34" charset="0"/>
              </a:rPr>
              <a:t>Mission DATA: </a:t>
            </a:r>
          </a:p>
          <a:p>
            <a:r>
              <a:rPr lang="fr-FR" dirty="0">
                <a:latin typeface="Arial" panose="020B0604020202020204" pitchFamily="34" charset="0"/>
                <a:cs typeface="Arial" panose="020B0604020202020204" pitchFamily="34" charset="0"/>
              </a:rPr>
              <a:t>Algorithme de détection automatique de faux billets</a:t>
            </a:r>
          </a:p>
        </p:txBody>
      </p:sp>
      <p:pic>
        <p:nvPicPr>
          <p:cNvPr id="7" name="Image 6">
            <a:extLst>
              <a:ext uri="{FF2B5EF4-FFF2-40B4-BE49-F238E27FC236}">
                <a16:creationId xmlns:a16="http://schemas.microsoft.com/office/drawing/2014/main" id="{A534177C-B78D-48CE-AE1E-E6E7173A09BA}"/>
              </a:ext>
            </a:extLst>
          </p:cNvPr>
          <p:cNvPicPr/>
          <p:nvPr/>
        </p:nvPicPr>
        <p:blipFill>
          <a:blip r:embed="rId2"/>
          <a:stretch>
            <a:fillRect/>
          </a:stretch>
        </p:blipFill>
        <p:spPr>
          <a:xfrm>
            <a:off x="10327966" y="141882"/>
            <a:ext cx="1655428" cy="973123"/>
          </a:xfrm>
          <a:prstGeom prst="rect">
            <a:avLst/>
          </a:prstGeom>
        </p:spPr>
      </p:pic>
    </p:spTree>
    <p:extLst>
      <p:ext uri="{BB962C8B-B14F-4D97-AF65-F5344CB8AC3E}">
        <p14:creationId xmlns:p14="http://schemas.microsoft.com/office/powerpoint/2010/main" val="1633272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D2146677-2B7F-4597-BCC3-3907CEB808F7}"/>
              </a:ext>
            </a:extLst>
          </p:cNvPr>
          <p:cNvSpPr>
            <a:spLocks noGrp="1"/>
          </p:cNvSpPr>
          <p:nvPr>
            <p:ph type="title"/>
          </p:nvPr>
        </p:nvSpPr>
        <p:spPr/>
        <p:txBody>
          <a:bodyPr/>
          <a:lstStyle/>
          <a:p>
            <a:r>
              <a:rPr lang="fr-FR" dirty="0"/>
              <a:t>SOMMAIRE</a:t>
            </a:r>
          </a:p>
        </p:txBody>
      </p:sp>
      <p:sp>
        <p:nvSpPr>
          <p:cNvPr id="10" name="Espace réservé du contenu 9">
            <a:extLst>
              <a:ext uri="{FF2B5EF4-FFF2-40B4-BE49-F238E27FC236}">
                <a16:creationId xmlns:a16="http://schemas.microsoft.com/office/drawing/2014/main" id="{F445CB5D-8D21-4186-86DB-DA67D0DB8EA6}"/>
              </a:ext>
            </a:extLst>
          </p:cNvPr>
          <p:cNvSpPr>
            <a:spLocks noGrp="1"/>
          </p:cNvSpPr>
          <p:nvPr>
            <p:ph idx="1"/>
          </p:nvPr>
        </p:nvSpPr>
        <p:spPr/>
        <p:txBody>
          <a:bodyPr/>
          <a:lstStyle/>
          <a:p>
            <a:pPr marL="514350" indent="-514350">
              <a:buFont typeface="+mj-lt"/>
              <a:buAutoNum type="romanUcPeriod"/>
            </a:pPr>
            <a:endParaRPr lang="fr-FR" dirty="0"/>
          </a:p>
          <a:p>
            <a:pPr marL="457200" indent="-457200">
              <a:buFont typeface="+mj-lt"/>
              <a:buAutoNum type="arabicPeriod"/>
            </a:pPr>
            <a:r>
              <a:rPr lang="fr-FR" dirty="0"/>
              <a:t>CONTEXTE</a:t>
            </a:r>
          </a:p>
          <a:p>
            <a:pPr marL="457200" indent="-457200">
              <a:buFont typeface="+mj-lt"/>
              <a:buAutoNum type="arabicPeriod"/>
            </a:pPr>
            <a:r>
              <a:rPr lang="fr-FR" dirty="0"/>
              <a:t>MODÈLE DE DONNÉES</a:t>
            </a:r>
          </a:p>
          <a:p>
            <a:pPr marL="457200" indent="-457200">
              <a:buFont typeface="+mj-lt"/>
              <a:buAutoNum type="arabicPeriod"/>
            </a:pPr>
            <a:r>
              <a:rPr lang="fr-FR" dirty="0"/>
              <a:t>ANALYSE DESCRIPTIVE</a:t>
            </a:r>
          </a:p>
          <a:p>
            <a:pPr marL="457200" indent="-457200">
              <a:buFont typeface="+mj-lt"/>
              <a:buAutoNum type="arabicPeriod"/>
            </a:pPr>
            <a:r>
              <a:rPr lang="fr-FR" dirty="0"/>
              <a:t>RÉGRESSION LINÉAIRE MULTIPLE</a:t>
            </a:r>
          </a:p>
          <a:p>
            <a:pPr marL="457200" indent="-457200">
              <a:buFont typeface="+mj-lt"/>
              <a:buAutoNum type="arabicPeriod"/>
            </a:pPr>
            <a:r>
              <a:rPr lang="fr-FR" dirty="0"/>
              <a:t>ANALYSE EXPLORATOIRE</a:t>
            </a:r>
          </a:p>
          <a:p>
            <a:pPr marL="457200" indent="-457200">
              <a:buFont typeface="+mj-lt"/>
              <a:buAutoNum type="arabicPeriod"/>
            </a:pPr>
            <a:r>
              <a:rPr lang="fr-FR" dirty="0"/>
              <a:t>CLASSIFICATION SUPERVISÉE – régression logistique</a:t>
            </a:r>
          </a:p>
          <a:p>
            <a:pPr marL="457200" indent="-457200">
              <a:buFont typeface="+mj-lt"/>
              <a:buAutoNum type="arabicPeriod"/>
            </a:pPr>
            <a:r>
              <a:rPr lang="fr-FR" dirty="0"/>
              <a:t>CLASSIFICATION NON SUPERVISÉE – CLUSTERING – k-</a:t>
            </a:r>
            <a:r>
              <a:rPr lang="fr-FR" dirty="0" err="1"/>
              <a:t>means</a:t>
            </a:r>
            <a:endParaRPr lang="fr-FR" dirty="0"/>
          </a:p>
          <a:p>
            <a:pPr marL="457200" indent="-457200">
              <a:buFont typeface="+mj-lt"/>
              <a:buAutoNum type="arabicPeriod"/>
            </a:pPr>
            <a:r>
              <a:rPr lang="fr-FR" dirty="0"/>
              <a:t>CHOIX DU MODÈLE FINAL</a:t>
            </a:r>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spTree>
    <p:extLst>
      <p:ext uri="{BB962C8B-B14F-4D97-AF65-F5344CB8AC3E}">
        <p14:creationId xmlns:p14="http://schemas.microsoft.com/office/powerpoint/2010/main" val="1974120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p:txBody>
          <a:bodyPr/>
          <a:lstStyle/>
          <a:p>
            <a:r>
              <a:rPr lang="fr-FR" dirty="0"/>
              <a:t>CONTEXTE</a:t>
            </a:r>
          </a:p>
        </p:txBody>
      </p:sp>
      <p:sp>
        <p:nvSpPr>
          <p:cNvPr id="3" name="Espace réservé du contenu 2">
            <a:extLst>
              <a:ext uri="{FF2B5EF4-FFF2-40B4-BE49-F238E27FC236}">
                <a16:creationId xmlns:a16="http://schemas.microsoft.com/office/drawing/2014/main" id="{3A751DE3-6D6A-4B25-BC1C-836B1D3DC233}"/>
              </a:ext>
            </a:extLst>
          </p:cNvPr>
          <p:cNvSpPr>
            <a:spLocks noGrp="1"/>
          </p:cNvSpPr>
          <p:nvPr>
            <p:ph idx="1"/>
          </p:nvPr>
        </p:nvSpPr>
        <p:spPr/>
        <p:txBody>
          <a:bodyPr/>
          <a:lstStyle/>
          <a:p>
            <a:pPr algn="just"/>
            <a:r>
              <a:rPr lang="fr-FR" dirty="0"/>
              <a:t>L’Organisation nationale de lutte contre le faux-monnayage, ou ONCFM, est une organisation publique ayant pour objectif de mettre en place des méthodes d’identification des contrefaçons des billets en euros. </a:t>
            </a:r>
          </a:p>
          <a:p>
            <a:pPr algn="just"/>
            <a:r>
              <a:rPr lang="fr-FR" dirty="0"/>
              <a:t>Dans le cadre de cette lutte, nous souhaitons mettre en place un algorithme qui soit capable de différencier automatiquement les vrais des faux billets.</a:t>
            </a:r>
          </a:p>
          <a:p>
            <a:pPr algn="just"/>
            <a:r>
              <a:rPr lang="fr-FR" dirty="0"/>
              <a:t>Fichier d’exemple de 1500 billets, pour paramétrer l’algorithme.</a:t>
            </a:r>
          </a:p>
          <a:p>
            <a:pPr algn="just"/>
            <a:r>
              <a:rPr lang="fr-FR" dirty="0"/>
              <a:t>Sur les 1500 billets, 1000 sont </a:t>
            </a:r>
            <a:r>
              <a:rPr lang="fr-FR" dirty="0">
                <a:solidFill>
                  <a:schemeClr val="accent5"/>
                </a:solidFill>
              </a:rPr>
              <a:t>vrais</a:t>
            </a:r>
            <a:r>
              <a:rPr lang="fr-FR" dirty="0"/>
              <a:t> et 500 sont </a:t>
            </a:r>
            <a:r>
              <a:rPr lang="fr-FR" dirty="0">
                <a:solidFill>
                  <a:srgbClr val="FF0000"/>
                </a:solidFill>
              </a:rPr>
              <a:t>faux.</a:t>
            </a:r>
          </a:p>
          <a:p>
            <a:endParaRPr lang="fr-FR" dirty="0"/>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spTree>
    <p:extLst>
      <p:ext uri="{BB962C8B-B14F-4D97-AF65-F5344CB8AC3E}">
        <p14:creationId xmlns:p14="http://schemas.microsoft.com/office/powerpoint/2010/main" val="3425526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p:txBody>
          <a:bodyPr/>
          <a:lstStyle/>
          <a:p>
            <a:r>
              <a:rPr lang="fr-FR" dirty="0"/>
              <a:t>MODÈLE DE DONNÉES</a:t>
            </a:r>
          </a:p>
        </p:txBody>
      </p:sp>
      <p:sp>
        <p:nvSpPr>
          <p:cNvPr id="3" name="Espace réservé du contenu 2">
            <a:extLst>
              <a:ext uri="{FF2B5EF4-FFF2-40B4-BE49-F238E27FC236}">
                <a16:creationId xmlns:a16="http://schemas.microsoft.com/office/drawing/2014/main" id="{3A751DE3-6D6A-4B25-BC1C-836B1D3DC233}"/>
              </a:ext>
            </a:extLst>
          </p:cNvPr>
          <p:cNvSpPr>
            <a:spLocks noGrp="1"/>
          </p:cNvSpPr>
          <p:nvPr>
            <p:ph idx="1"/>
          </p:nvPr>
        </p:nvSpPr>
        <p:spPr/>
        <p:txBody>
          <a:bodyPr/>
          <a:lstStyle/>
          <a:p>
            <a:r>
              <a:rPr lang="fr-FR" dirty="0"/>
              <a:t>Dimensions géométriques :</a:t>
            </a:r>
          </a:p>
          <a:p>
            <a:pPr>
              <a:buFont typeface="Wingdings" panose="05000000000000000000" pitchFamily="2" charset="2"/>
              <a:buChar char="§"/>
            </a:pPr>
            <a:r>
              <a:rPr lang="fr-FR" dirty="0"/>
              <a:t>Length : la longueur du billet (en mm) ;</a:t>
            </a:r>
          </a:p>
          <a:p>
            <a:pPr>
              <a:buFont typeface="Wingdings" panose="05000000000000000000" pitchFamily="2" charset="2"/>
              <a:buChar char="§"/>
            </a:pPr>
            <a:r>
              <a:rPr lang="fr-FR" dirty="0" err="1"/>
              <a:t>Height_left</a:t>
            </a:r>
            <a:r>
              <a:rPr lang="fr-FR" dirty="0"/>
              <a:t> : la hauteur du billet (mesurée sur le coté gauche, en mm) ;</a:t>
            </a:r>
          </a:p>
          <a:p>
            <a:pPr>
              <a:buFont typeface="Wingdings" panose="05000000000000000000" pitchFamily="2" charset="2"/>
              <a:buChar char="§"/>
            </a:pPr>
            <a:r>
              <a:rPr lang="fr-FR" dirty="0" err="1"/>
              <a:t>Height_right</a:t>
            </a:r>
            <a:r>
              <a:rPr lang="fr-FR" dirty="0"/>
              <a:t> : la hauteur du billet (mesurée sur le coté droit, en mm) ;</a:t>
            </a:r>
          </a:p>
          <a:p>
            <a:pPr>
              <a:buFont typeface="Wingdings" panose="05000000000000000000" pitchFamily="2" charset="2"/>
              <a:buChar char="§"/>
            </a:pPr>
            <a:r>
              <a:rPr lang="fr-FR" dirty="0" err="1"/>
              <a:t>Margin_up</a:t>
            </a:r>
            <a:r>
              <a:rPr lang="fr-FR" dirty="0"/>
              <a:t> : la marge entre le bord supérieur du billet et l’image de celui-ci (en mm) ;</a:t>
            </a:r>
          </a:p>
          <a:p>
            <a:pPr>
              <a:buFont typeface="Wingdings" panose="05000000000000000000" pitchFamily="2" charset="2"/>
              <a:buChar char="§"/>
            </a:pPr>
            <a:r>
              <a:rPr lang="fr-FR" dirty="0" err="1"/>
              <a:t>Margin_low</a:t>
            </a:r>
            <a:r>
              <a:rPr lang="fr-FR" dirty="0"/>
              <a:t> : la marge entre le bord inférieur du billet et l’image de celui-ci (en mm) ;</a:t>
            </a:r>
          </a:p>
          <a:p>
            <a:pPr>
              <a:buFont typeface="Wingdings" panose="05000000000000000000" pitchFamily="2" charset="2"/>
              <a:buChar char="§"/>
            </a:pPr>
            <a:r>
              <a:rPr lang="fr-FR" dirty="0"/>
              <a:t>Diagonal : la diagonale du billet (en mm).</a:t>
            </a:r>
          </a:p>
          <a:p>
            <a:pPr>
              <a:buFont typeface="Wingdings" panose="05000000000000000000" pitchFamily="2" charset="2"/>
              <a:buChar char="§"/>
            </a:pPr>
            <a:r>
              <a:rPr lang="fr-FR" dirty="0" err="1"/>
              <a:t>Is_genuine</a:t>
            </a:r>
            <a:r>
              <a:rPr lang="fr-FR" dirty="0"/>
              <a:t> : variable ajoutée pour différencier le vrai du faux.</a:t>
            </a:r>
          </a:p>
          <a:p>
            <a:r>
              <a:rPr lang="fr-FR" dirty="0"/>
              <a:t>Ces informations sont celles avec lesquelles l’algorithme devra opérer.</a:t>
            </a:r>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spTree>
    <p:extLst>
      <p:ext uri="{BB962C8B-B14F-4D97-AF65-F5344CB8AC3E}">
        <p14:creationId xmlns:p14="http://schemas.microsoft.com/office/powerpoint/2010/main" val="289415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p:txBody>
          <a:bodyPr/>
          <a:lstStyle/>
          <a:p>
            <a:r>
              <a:rPr lang="fr-FR" dirty="0"/>
              <a:t>ANALYSE DESCRIPTIVE</a:t>
            </a:r>
          </a:p>
        </p:txBody>
      </p:sp>
      <p:sp>
        <p:nvSpPr>
          <p:cNvPr id="3" name="Espace réservé du contenu 2">
            <a:extLst>
              <a:ext uri="{FF2B5EF4-FFF2-40B4-BE49-F238E27FC236}">
                <a16:creationId xmlns:a16="http://schemas.microsoft.com/office/drawing/2014/main" id="{3A751DE3-6D6A-4B25-BC1C-836B1D3DC233}"/>
              </a:ext>
            </a:extLst>
          </p:cNvPr>
          <p:cNvSpPr>
            <a:spLocks noGrp="1"/>
          </p:cNvSpPr>
          <p:nvPr>
            <p:ph idx="1"/>
          </p:nvPr>
        </p:nvSpPr>
        <p:spPr>
          <a:xfrm>
            <a:off x="152338" y="1958196"/>
            <a:ext cx="11003342" cy="3910898"/>
          </a:xfrm>
        </p:spPr>
        <p:txBody>
          <a:bodyPr>
            <a:normAutofit fontScale="92500" lnSpcReduction="20000"/>
          </a:bodyPr>
          <a:lstStyle/>
          <a:p>
            <a:r>
              <a:rPr lang="fr-FR" dirty="0"/>
              <a:t>Structure du jeu de données :</a:t>
            </a:r>
          </a:p>
          <a:p>
            <a:r>
              <a:rPr lang="fr-FR" dirty="0"/>
              <a:t>1500 lignes et 7 colonnes</a:t>
            </a:r>
          </a:p>
          <a:p>
            <a:endParaRPr lang="fr-FR" dirty="0"/>
          </a:p>
          <a:p>
            <a:pPr marL="0" indent="0">
              <a:buNone/>
            </a:pPr>
            <a:endParaRPr lang="fr-FR" dirty="0"/>
          </a:p>
          <a:p>
            <a:endParaRPr lang="fr-FR" dirty="0"/>
          </a:p>
          <a:p>
            <a:r>
              <a:rPr lang="fr-FR" dirty="0"/>
              <a:t>37 valeurs manquantes dans la colonne </a:t>
            </a:r>
            <a:r>
              <a:rPr lang="fr-FR" dirty="0" err="1"/>
              <a:t>margin_low</a:t>
            </a:r>
            <a:r>
              <a:rPr lang="fr-FR" dirty="0"/>
              <a:t> (seulement 2,47 %)</a:t>
            </a:r>
          </a:p>
          <a:p>
            <a:r>
              <a:rPr lang="fr-FR" u="sng" dirty="0"/>
              <a:t>3 solutions :</a:t>
            </a:r>
          </a:p>
          <a:p>
            <a:pPr>
              <a:buFont typeface="Wingdings" panose="05000000000000000000" pitchFamily="2" charset="2"/>
              <a:buChar char="§"/>
            </a:pPr>
            <a:r>
              <a:rPr lang="fr-FR" dirty="0"/>
              <a:t> Supprimer les valeurs manquantes </a:t>
            </a:r>
          </a:p>
          <a:p>
            <a:pPr>
              <a:buFont typeface="Wingdings" panose="05000000000000000000" pitchFamily="2" charset="2"/>
              <a:buChar char="§"/>
            </a:pPr>
            <a:r>
              <a:rPr lang="fr-FR" dirty="0"/>
              <a:t> Combler les valeurs manquantes par la moyenne ou la médiane</a:t>
            </a:r>
          </a:p>
          <a:p>
            <a:pPr>
              <a:buFont typeface="Wingdings" panose="05000000000000000000" pitchFamily="2" charset="2"/>
              <a:buChar char="§"/>
            </a:pPr>
            <a:r>
              <a:rPr lang="fr-FR" dirty="0"/>
              <a:t> Sur recommandation : utilisation d’une régression linéaire pour combler ces dernières.</a:t>
            </a:r>
          </a:p>
          <a:p>
            <a:endParaRPr lang="fr-FR" dirty="0"/>
          </a:p>
          <a:p>
            <a:endParaRPr lang="fr-FR" dirty="0"/>
          </a:p>
          <a:p>
            <a:pPr marL="0" indent="0">
              <a:buNone/>
            </a:pPr>
            <a:endParaRPr lang="fr-FR" dirty="0"/>
          </a:p>
          <a:p>
            <a:pPr marL="0" indent="0">
              <a:buNone/>
            </a:pPr>
            <a:endParaRPr lang="fr-FR" dirty="0"/>
          </a:p>
          <a:p>
            <a:endParaRPr lang="fr-FR" dirty="0"/>
          </a:p>
          <a:p>
            <a:endParaRPr lang="fr-FR" dirty="0"/>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9" name="Image 8">
            <a:extLst>
              <a:ext uri="{FF2B5EF4-FFF2-40B4-BE49-F238E27FC236}">
                <a16:creationId xmlns:a16="http://schemas.microsoft.com/office/drawing/2014/main" id="{08178E6D-13F6-4FD7-B599-11535C71FE52}"/>
              </a:ext>
            </a:extLst>
          </p:cNvPr>
          <p:cNvPicPr>
            <a:picLocks noChangeAspect="1"/>
          </p:cNvPicPr>
          <p:nvPr/>
        </p:nvPicPr>
        <p:blipFill>
          <a:blip r:embed="rId3"/>
          <a:stretch>
            <a:fillRect/>
          </a:stretch>
        </p:blipFill>
        <p:spPr>
          <a:xfrm>
            <a:off x="4545511" y="1932142"/>
            <a:ext cx="5144129" cy="1496858"/>
          </a:xfrm>
          <a:prstGeom prst="rect">
            <a:avLst/>
          </a:prstGeom>
        </p:spPr>
      </p:pic>
      <p:pic>
        <p:nvPicPr>
          <p:cNvPr id="11" name="Espace réservé du contenu 3">
            <a:extLst>
              <a:ext uri="{FF2B5EF4-FFF2-40B4-BE49-F238E27FC236}">
                <a16:creationId xmlns:a16="http://schemas.microsoft.com/office/drawing/2014/main" id="{29A21C60-4F23-49B5-92D7-9F4C43F9CC07}"/>
              </a:ext>
            </a:extLst>
          </p:cNvPr>
          <p:cNvPicPr>
            <a:picLocks noChangeAspect="1"/>
          </p:cNvPicPr>
          <p:nvPr/>
        </p:nvPicPr>
        <p:blipFill>
          <a:blip r:embed="rId4"/>
          <a:stretch>
            <a:fillRect/>
          </a:stretch>
        </p:blipFill>
        <p:spPr>
          <a:xfrm>
            <a:off x="9565782" y="3240828"/>
            <a:ext cx="2417612" cy="2849102"/>
          </a:xfrm>
          <a:prstGeom prst="rect">
            <a:avLst/>
          </a:prstGeom>
        </p:spPr>
      </p:pic>
    </p:spTree>
    <p:extLst>
      <p:ext uri="{BB962C8B-B14F-4D97-AF65-F5344CB8AC3E}">
        <p14:creationId xmlns:p14="http://schemas.microsoft.com/office/powerpoint/2010/main" val="2165233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a:xfrm>
            <a:off x="2037559" y="65880"/>
            <a:ext cx="6847648" cy="748454"/>
          </a:xfrm>
        </p:spPr>
        <p:txBody>
          <a:bodyPr/>
          <a:lstStyle/>
          <a:p>
            <a:r>
              <a:rPr lang="fr-FR"/>
              <a:t>Distributions des variables </a:t>
            </a:r>
            <a:endParaRPr lang="fr-FR" dirty="0"/>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4" name="Image 3">
            <a:extLst>
              <a:ext uri="{FF2B5EF4-FFF2-40B4-BE49-F238E27FC236}">
                <a16:creationId xmlns:a16="http://schemas.microsoft.com/office/drawing/2014/main" id="{251F7384-5D1B-E209-532D-F3ECF317BDD1}"/>
              </a:ext>
            </a:extLst>
          </p:cNvPr>
          <p:cNvPicPr>
            <a:picLocks noChangeAspect="1"/>
          </p:cNvPicPr>
          <p:nvPr/>
        </p:nvPicPr>
        <p:blipFill>
          <a:blip r:embed="rId3"/>
          <a:stretch>
            <a:fillRect/>
          </a:stretch>
        </p:blipFill>
        <p:spPr>
          <a:xfrm>
            <a:off x="1168500" y="1115005"/>
            <a:ext cx="9159466" cy="5125374"/>
          </a:xfrm>
          <a:prstGeom prst="rect">
            <a:avLst/>
          </a:prstGeom>
        </p:spPr>
      </p:pic>
    </p:spTree>
    <p:extLst>
      <p:ext uri="{BB962C8B-B14F-4D97-AF65-F5344CB8AC3E}">
        <p14:creationId xmlns:p14="http://schemas.microsoft.com/office/powerpoint/2010/main" val="3361850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a:xfrm>
            <a:off x="1200797" y="108184"/>
            <a:ext cx="10058400" cy="797081"/>
          </a:xfrm>
        </p:spPr>
        <p:txBody>
          <a:bodyPr/>
          <a:lstStyle/>
          <a:p>
            <a:r>
              <a:rPr lang="fr-FR" dirty="0"/>
              <a:t>RÉGRESSION MULTIPLE</a:t>
            </a:r>
          </a:p>
        </p:txBody>
      </p:sp>
      <p:sp>
        <p:nvSpPr>
          <p:cNvPr id="3" name="Espace réservé du contenu 2">
            <a:extLst>
              <a:ext uri="{FF2B5EF4-FFF2-40B4-BE49-F238E27FC236}">
                <a16:creationId xmlns:a16="http://schemas.microsoft.com/office/drawing/2014/main" id="{3A751DE3-6D6A-4B25-BC1C-836B1D3DC233}"/>
              </a:ext>
            </a:extLst>
          </p:cNvPr>
          <p:cNvSpPr>
            <a:spLocks noGrp="1"/>
          </p:cNvSpPr>
          <p:nvPr>
            <p:ph idx="1"/>
          </p:nvPr>
        </p:nvSpPr>
        <p:spPr>
          <a:xfrm>
            <a:off x="1097280" y="1302270"/>
            <a:ext cx="10058400" cy="1139005"/>
          </a:xfrm>
        </p:spPr>
        <p:txBody>
          <a:bodyPr/>
          <a:lstStyle/>
          <a:p>
            <a:r>
              <a:rPr lang="fr-FR" dirty="0"/>
              <a:t>Qu’est-ce que c’est ?</a:t>
            </a:r>
          </a:p>
          <a:p>
            <a:r>
              <a:rPr lang="fr-FR" dirty="0"/>
              <a:t>Une méthode statistique permettant d’expliquer une variable numérique (</a:t>
            </a:r>
            <a:r>
              <a:rPr lang="fr-FR" b="1" dirty="0"/>
              <a:t>margin_low</a:t>
            </a:r>
            <a:r>
              <a:rPr lang="fr-FR" dirty="0"/>
              <a:t>) à partir de plusieurs variables explicatives (</a:t>
            </a:r>
            <a:r>
              <a:rPr lang="fr-FR" dirty="0" err="1"/>
              <a:t>margin_up</a:t>
            </a:r>
            <a:r>
              <a:rPr lang="fr-FR" dirty="0"/>
              <a:t> + </a:t>
            </a:r>
            <a:r>
              <a:rPr lang="fr-FR" dirty="0" err="1"/>
              <a:t>length</a:t>
            </a:r>
            <a:r>
              <a:rPr lang="fr-FR" dirty="0"/>
              <a:t> + </a:t>
            </a:r>
            <a:r>
              <a:rPr lang="fr-FR" dirty="0" err="1"/>
              <a:t>height_right</a:t>
            </a:r>
            <a:r>
              <a:rPr lang="fr-FR" dirty="0"/>
              <a:t> + …)</a:t>
            </a:r>
          </a:p>
          <a:p>
            <a:endParaRPr lang="fr-FR" dirty="0"/>
          </a:p>
          <a:p>
            <a:endParaRPr lang="fr-FR" dirty="0"/>
          </a:p>
          <a:p>
            <a:endParaRPr lang="fr-FR" dirty="0"/>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sp>
        <p:nvSpPr>
          <p:cNvPr id="19" name="ZoneTexte 18">
            <a:extLst>
              <a:ext uri="{FF2B5EF4-FFF2-40B4-BE49-F238E27FC236}">
                <a16:creationId xmlns:a16="http://schemas.microsoft.com/office/drawing/2014/main" id="{D697D642-9BA5-EA10-A3C3-62527B5B93FC}"/>
              </a:ext>
            </a:extLst>
          </p:cNvPr>
          <p:cNvSpPr txBox="1"/>
          <p:nvPr/>
        </p:nvSpPr>
        <p:spPr>
          <a:xfrm>
            <a:off x="1097280" y="2579774"/>
            <a:ext cx="10644997" cy="923330"/>
          </a:xfrm>
          <a:prstGeom prst="rect">
            <a:avLst/>
          </a:prstGeom>
          <a:noFill/>
        </p:spPr>
        <p:txBody>
          <a:bodyPr wrap="square" rtlCol="0">
            <a:spAutoFit/>
          </a:bodyPr>
          <a:lstStyle/>
          <a:p>
            <a:r>
              <a:rPr lang="fr-FR" dirty="0"/>
              <a:t>On divise notre jeu de données en X et y </a:t>
            </a:r>
          </a:p>
          <a:p>
            <a:r>
              <a:rPr lang="fr-FR" dirty="0"/>
              <a:t>Ensuite on crée le modèle</a:t>
            </a:r>
          </a:p>
          <a:p>
            <a:endParaRPr lang="fr-FR" dirty="0"/>
          </a:p>
        </p:txBody>
      </p:sp>
      <p:pic>
        <p:nvPicPr>
          <p:cNvPr id="6" name="Image 5">
            <a:extLst>
              <a:ext uri="{FF2B5EF4-FFF2-40B4-BE49-F238E27FC236}">
                <a16:creationId xmlns:a16="http://schemas.microsoft.com/office/drawing/2014/main" id="{148E7573-12EC-9AED-13E7-44458870DF69}"/>
              </a:ext>
            </a:extLst>
          </p:cNvPr>
          <p:cNvPicPr>
            <a:picLocks noChangeAspect="1"/>
          </p:cNvPicPr>
          <p:nvPr/>
        </p:nvPicPr>
        <p:blipFill>
          <a:blip r:embed="rId3"/>
          <a:stretch>
            <a:fillRect/>
          </a:stretch>
        </p:blipFill>
        <p:spPr>
          <a:xfrm>
            <a:off x="1097279" y="3641603"/>
            <a:ext cx="9907605" cy="2684920"/>
          </a:xfrm>
          <a:prstGeom prst="rect">
            <a:avLst/>
          </a:prstGeom>
        </p:spPr>
      </p:pic>
    </p:spTree>
    <p:extLst>
      <p:ext uri="{BB962C8B-B14F-4D97-AF65-F5344CB8AC3E}">
        <p14:creationId xmlns:p14="http://schemas.microsoft.com/office/powerpoint/2010/main" val="3480474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a:xfrm>
            <a:off x="2632782" y="154483"/>
            <a:ext cx="5950501" cy="753949"/>
          </a:xfrm>
        </p:spPr>
        <p:txBody>
          <a:bodyPr/>
          <a:lstStyle/>
          <a:p>
            <a:r>
              <a:rPr lang="fr-FR"/>
              <a:t>Analysez nos résultats</a:t>
            </a:r>
            <a:endParaRPr lang="fr-FR" dirty="0"/>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4" name="Image 3">
            <a:extLst>
              <a:ext uri="{FF2B5EF4-FFF2-40B4-BE49-F238E27FC236}">
                <a16:creationId xmlns:a16="http://schemas.microsoft.com/office/drawing/2014/main" id="{D923C4FA-E144-A6BF-E799-5D352C7F3524}"/>
              </a:ext>
            </a:extLst>
          </p:cNvPr>
          <p:cNvPicPr>
            <a:picLocks noChangeAspect="1"/>
          </p:cNvPicPr>
          <p:nvPr/>
        </p:nvPicPr>
        <p:blipFill>
          <a:blip r:embed="rId3"/>
          <a:stretch>
            <a:fillRect/>
          </a:stretch>
        </p:blipFill>
        <p:spPr>
          <a:xfrm>
            <a:off x="874279" y="2898180"/>
            <a:ext cx="7198342" cy="2417195"/>
          </a:xfrm>
          <a:prstGeom prst="rect">
            <a:avLst/>
          </a:prstGeom>
        </p:spPr>
      </p:pic>
      <p:pic>
        <p:nvPicPr>
          <p:cNvPr id="11" name="Image 10">
            <a:extLst>
              <a:ext uri="{FF2B5EF4-FFF2-40B4-BE49-F238E27FC236}">
                <a16:creationId xmlns:a16="http://schemas.microsoft.com/office/drawing/2014/main" id="{B4448284-C6AD-67C1-2CE1-8113EE890526}"/>
              </a:ext>
            </a:extLst>
          </p:cNvPr>
          <p:cNvPicPr>
            <a:picLocks noChangeAspect="1"/>
          </p:cNvPicPr>
          <p:nvPr/>
        </p:nvPicPr>
        <p:blipFill>
          <a:blip r:embed="rId4"/>
          <a:stretch>
            <a:fillRect/>
          </a:stretch>
        </p:blipFill>
        <p:spPr>
          <a:xfrm>
            <a:off x="8352968" y="1912879"/>
            <a:ext cx="3381847" cy="4077269"/>
          </a:xfrm>
          <a:prstGeom prst="rect">
            <a:avLst/>
          </a:prstGeom>
        </p:spPr>
      </p:pic>
      <p:sp>
        <p:nvSpPr>
          <p:cNvPr id="14" name="ZoneTexte 13">
            <a:extLst>
              <a:ext uri="{FF2B5EF4-FFF2-40B4-BE49-F238E27FC236}">
                <a16:creationId xmlns:a16="http://schemas.microsoft.com/office/drawing/2014/main" id="{8B2A1455-9D8D-892B-A488-C94C272E1D54}"/>
              </a:ext>
            </a:extLst>
          </p:cNvPr>
          <p:cNvSpPr txBox="1"/>
          <p:nvPr/>
        </p:nvSpPr>
        <p:spPr>
          <a:xfrm>
            <a:off x="874279" y="1912879"/>
            <a:ext cx="7884709" cy="646331"/>
          </a:xfrm>
          <a:prstGeom prst="rect">
            <a:avLst/>
          </a:prstGeom>
          <a:noFill/>
        </p:spPr>
        <p:txBody>
          <a:bodyPr wrap="square">
            <a:spAutoFit/>
          </a:bodyPr>
          <a:lstStyle/>
          <a:p>
            <a:r>
              <a:rPr lang="fr-FR" dirty="0"/>
              <a:t>Après avoir prédit nous comparons les valeurs actuelles avec les prédictions.</a:t>
            </a:r>
          </a:p>
          <a:p>
            <a:r>
              <a:rPr lang="fr-FR" dirty="0"/>
              <a:t>On évalue notre modèle avec plusieurs métriques :</a:t>
            </a:r>
          </a:p>
        </p:txBody>
      </p:sp>
      <p:sp>
        <p:nvSpPr>
          <p:cNvPr id="17" name="ZoneTexte 16">
            <a:extLst>
              <a:ext uri="{FF2B5EF4-FFF2-40B4-BE49-F238E27FC236}">
                <a16:creationId xmlns:a16="http://schemas.microsoft.com/office/drawing/2014/main" id="{BAC448F1-A243-4643-A422-03F640532BF1}"/>
              </a:ext>
            </a:extLst>
          </p:cNvPr>
          <p:cNvSpPr txBox="1"/>
          <p:nvPr/>
        </p:nvSpPr>
        <p:spPr>
          <a:xfrm>
            <a:off x="874279" y="5790301"/>
            <a:ext cx="8365974" cy="369332"/>
          </a:xfrm>
          <a:prstGeom prst="rect">
            <a:avLst/>
          </a:prstGeom>
          <a:noFill/>
        </p:spPr>
        <p:txBody>
          <a:bodyPr wrap="square">
            <a:spAutoFit/>
          </a:bodyPr>
          <a:lstStyle/>
          <a:p>
            <a:r>
              <a:rPr lang="fr-FR" dirty="0"/>
              <a:t>On remplace les 37 valeurs manquantes de </a:t>
            </a:r>
            <a:r>
              <a:rPr lang="fr-FR" dirty="0" err="1"/>
              <a:t>margin_low</a:t>
            </a:r>
            <a:r>
              <a:rPr lang="fr-FR" dirty="0"/>
              <a:t> avec les valeurs prédites.</a:t>
            </a:r>
          </a:p>
        </p:txBody>
      </p:sp>
    </p:spTree>
    <p:extLst>
      <p:ext uri="{BB962C8B-B14F-4D97-AF65-F5344CB8AC3E}">
        <p14:creationId xmlns:p14="http://schemas.microsoft.com/office/powerpoint/2010/main" val="237942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3B90B8B-F76B-4130-8370-38033EEACB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656AE96-A938-86B4-6617-3C6C0647815A}"/>
              </a:ext>
            </a:extLst>
          </p:cNvPr>
          <p:cNvSpPr>
            <a:spLocks noGrp="1"/>
          </p:cNvSpPr>
          <p:nvPr>
            <p:ph type="title"/>
          </p:nvPr>
        </p:nvSpPr>
        <p:spPr>
          <a:xfrm>
            <a:off x="5144679" y="634946"/>
            <a:ext cx="6405063" cy="1450757"/>
          </a:xfrm>
        </p:spPr>
        <p:txBody>
          <a:bodyPr>
            <a:normAutofit/>
          </a:bodyPr>
          <a:lstStyle/>
          <a:p>
            <a:r>
              <a:rPr lang="fr-FR" dirty="0"/>
              <a:t>ANALYSE EXPLORATOIRE</a:t>
            </a:r>
          </a:p>
        </p:txBody>
      </p:sp>
      <p:pic>
        <p:nvPicPr>
          <p:cNvPr id="8" name="Image 7">
            <a:extLst>
              <a:ext uri="{FF2B5EF4-FFF2-40B4-BE49-F238E27FC236}">
                <a16:creationId xmlns:a16="http://schemas.microsoft.com/office/drawing/2014/main" id="{0724E4B7-253D-FDE7-606D-06B245A3667B}"/>
              </a:ext>
            </a:extLst>
          </p:cNvPr>
          <p:cNvPicPr>
            <a:picLocks noChangeAspect="1"/>
          </p:cNvPicPr>
          <p:nvPr/>
        </p:nvPicPr>
        <p:blipFill>
          <a:blip r:embed="rId2"/>
          <a:srcRect t="13620" b="11200"/>
          <a:stretch>
            <a:fillRect/>
          </a:stretch>
        </p:blipFill>
        <p:spPr>
          <a:xfrm>
            <a:off x="633999" y="581098"/>
            <a:ext cx="4020297" cy="2476136"/>
          </a:xfrm>
          <a:prstGeom prst="rect">
            <a:avLst/>
          </a:prstGeom>
        </p:spPr>
      </p:pic>
      <p:cxnSp>
        <p:nvCxnSpPr>
          <p:cNvPr id="25" name="Straight Connector 24">
            <a:extLst>
              <a:ext uri="{FF2B5EF4-FFF2-40B4-BE49-F238E27FC236}">
                <a16:creationId xmlns:a16="http://schemas.microsoft.com/office/drawing/2014/main" id="{C2D93264-3FF9-4175-A7FA-F927F0F77A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10" name="Image 9">
            <a:extLst>
              <a:ext uri="{FF2B5EF4-FFF2-40B4-BE49-F238E27FC236}">
                <a16:creationId xmlns:a16="http://schemas.microsoft.com/office/drawing/2014/main" id="{F013022D-D410-E181-1B18-E8B5A841D7EC}"/>
              </a:ext>
            </a:extLst>
          </p:cNvPr>
          <p:cNvPicPr>
            <a:picLocks noChangeAspect="1"/>
          </p:cNvPicPr>
          <p:nvPr/>
        </p:nvPicPr>
        <p:blipFill>
          <a:blip r:embed="rId3"/>
          <a:srcRect t="17754" r="3" b="10922"/>
          <a:stretch>
            <a:fillRect/>
          </a:stretch>
        </p:blipFill>
        <p:spPr>
          <a:xfrm>
            <a:off x="633999" y="3218101"/>
            <a:ext cx="4020296" cy="2476136"/>
          </a:xfrm>
          <a:prstGeom prst="rect">
            <a:avLst/>
          </a:prstGeom>
        </p:spPr>
      </p:pic>
      <p:sp>
        <p:nvSpPr>
          <p:cNvPr id="3" name="Espace réservé du contenu 2">
            <a:extLst>
              <a:ext uri="{FF2B5EF4-FFF2-40B4-BE49-F238E27FC236}">
                <a16:creationId xmlns:a16="http://schemas.microsoft.com/office/drawing/2014/main" id="{B5F7C494-607E-7219-9D9E-07AEED91C5A3}"/>
              </a:ext>
            </a:extLst>
          </p:cNvPr>
          <p:cNvSpPr>
            <a:spLocks noGrp="1"/>
          </p:cNvSpPr>
          <p:nvPr>
            <p:ph idx="1"/>
          </p:nvPr>
        </p:nvSpPr>
        <p:spPr>
          <a:xfrm>
            <a:off x="5144679" y="2198914"/>
            <a:ext cx="6405063" cy="3670180"/>
          </a:xfrm>
        </p:spPr>
        <p:txBody>
          <a:bodyPr>
            <a:normAutofit/>
          </a:bodyPr>
          <a:lstStyle/>
          <a:p>
            <a:r>
              <a:rPr lang="fr-FR"/>
              <a:t>Pas de changement sur la distribution de la variable </a:t>
            </a:r>
            <a:r>
              <a:rPr lang="fr-FR" err="1"/>
              <a:t>margin_low</a:t>
            </a:r>
            <a:r>
              <a:rPr lang="fr-FR"/>
              <a:t> après remplacement des valeurs manquantes.</a:t>
            </a:r>
          </a:p>
          <a:p>
            <a:r>
              <a:rPr lang="fr-FR"/>
              <a:t>Matrice de corrélation :</a:t>
            </a:r>
          </a:p>
          <a:p>
            <a:r>
              <a:rPr lang="fr-FR"/>
              <a:t>Forte corrélation positive entre </a:t>
            </a:r>
            <a:r>
              <a:rPr lang="fr-FR" err="1"/>
              <a:t>is_genuine</a:t>
            </a:r>
            <a:r>
              <a:rPr lang="fr-FR"/>
              <a:t> et </a:t>
            </a:r>
            <a:r>
              <a:rPr lang="fr-FR" err="1"/>
              <a:t>length</a:t>
            </a:r>
            <a:r>
              <a:rPr lang="fr-FR"/>
              <a:t>.</a:t>
            </a:r>
          </a:p>
          <a:p>
            <a:r>
              <a:rPr lang="fr-FR"/>
              <a:t>Forte corrélation négative avec </a:t>
            </a:r>
            <a:r>
              <a:rPr lang="fr-FR" err="1"/>
              <a:t>margin_low</a:t>
            </a:r>
            <a:r>
              <a:rPr lang="fr-FR"/>
              <a:t>.</a:t>
            </a:r>
          </a:p>
          <a:p>
            <a:endParaRPr lang="fr-FR"/>
          </a:p>
        </p:txBody>
      </p:sp>
      <p:sp>
        <p:nvSpPr>
          <p:cNvPr id="27" name="Rectangle 26">
            <a:extLst>
              <a:ext uri="{FF2B5EF4-FFF2-40B4-BE49-F238E27FC236}">
                <a16:creationId xmlns:a16="http://schemas.microsoft.com/office/drawing/2014/main" id="{91C67939-3FD0-4B45-8AA4-9FE55C7EE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9" name="Rectangle 28">
            <a:extLst>
              <a:ext uri="{FF2B5EF4-FFF2-40B4-BE49-F238E27FC236}">
                <a16:creationId xmlns:a16="http://schemas.microsoft.com/office/drawing/2014/main" id="{0981A96A-A87C-4F87-845A-3B0A6529F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71721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cxnSp>
        <p:nvCxnSpPr>
          <p:cNvPr id="17" name="Straight Connector 16">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3BC4302-D5E9-4B73-90DF-0E59420C5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DD872585-8CA1-47B2-B4DE-04142A143D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a:xfrm>
            <a:off x="4872825" y="2009580"/>
            <a:ext cx="7319175" cy="2315157"/>
          </a:xfrm>
        </p:spPr>
        <p:txBody>
          <a:bodyPr vert="horz" lIns="91440" tIns="45720" rIns="91440" bIns="45720" rtlCol="0" anchor="b">
            <a:normAutofit/>
          </a:bodyPr>
          <a:lstStyle/>
          <a:p>
            <a:r>
              <a:rPr lang="en-US" sz="4800" b="1" dirty="0">
                <a:solidFill>
                  <a:schemeClr val="tx1">
                    <a:lumMod val="85000"/>
                    <a:lumOff val="15000"/>
                  </a:schemeClr>
                </a:solidFill>
              </a:rPr>
              <a:t>CLASSIFICATION SUPERVISÉE</a:t>
            </a:r>
          </a:p>
        </p:txBody>
      </p:sp>
      <p:sp>
        <p:nvSpPr>
          <p:cNvPr id="23" name="Rectangle 22">
            <a:extLst>
              <a:ext uri="{FF2B5EF4-FFF2-40B4-BE49-F238E27FC236}">
                <a16:creationId xmlns:a16="http://schemas.microsoft.com/office/drawing/2014/main" id="{C6A079E0-A41F-45CB-BF11-D9A4A0D36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5" name="Rectangle 24">
            <a:extLst>
              <a:ext uri="{FF2B5EF4-FFF2-40B4-BE49-F238E27FC236}">
                <a16:creationId xmlns:a16="http://schemas.microsoft.com/office/drawing/2014/main" id="{7AE33E00-3003-48DB-A4B0-A9680C702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4" name="Image 3">
            <a:extLst>
              <a:ext uri="{FF2B5EF4-FFF2-40B4-BE49-F238E27FC236}">
                <a16:creationId xmlns:a16="http://schemas.microsoft.com/office/drawing/2014/main" id="{ACA43221-7E42-7F71-14D8-4401FDF29FDB}"/>
              </a:ext>
            </a:extLst>
          </p:cNvPr>
          <p:cNvPicPr>
            <a:picLocks noChangeAspect="1"/>
          </p:cNvPicPr>
          <p:nvPr/>
        </p:nvPicPr>
        <p:blipFill>
          <a:blip r:embed="rId3"/>
          <a:stretch>
            <a:fillRect/>
          </a:stretch>
        </p:blipFill>
        <p:spPr>
          <a:xfrm>
            <a:off x="767484" y="1548067"/>
            <a:ext cx="4105340" cy="4105340"/>
          </a:xfrm>
          <a:prstGeom prst="rect">
            <a:avLst/>
          </a:prstGeom>
        </p:spPr>
      </p:pic>
    </p:spTree>
    <p:extLst>
      <p:ext uri="{BB962C8B-B14F-4D97-AF65-F5344CB8AC3E}">
        <p14:creationId xmlns:p14="http://schemas.microsoft.com/office/powerpoint/2010/main" val="889012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000BB12F-803F-41A1-B81E-75E86A6C487F}"/>
              </a:ext>
            </a:extLst>
          </p:cNvPr>
          <p:cNvSpPr>
            <a:spLocks noGrp="1"/>
          </p:cNvSpPr>
          <p:nvPr>
            <p:ph type="title"/>
          </p:nvPr>
        </p:nvSpPr>
        <p:spPr>
          <a:xfrm>
            <a:off x="492370" y="516835"/>
            <a:ext cx="3084844" cy="2103875"/>
          </a:xfrm>
        </p:spPr>
        <p:txBody>
          <a:bodyPr>
            <a:normAutofit/>
          </a:bodyPr>
          <a:lstStyle/>
          <a:p>
            <a:r>
              <a:rPr lang="fr-FR" sz="3600">
                <a:solidFill>
                  <a:srgbClr val="FFFFFF"/>
                </a:solidFill>
              </a:rPr>
              <a:t>RÉGRESSION LOGISTIQUE</a:t>
            </a:r>
          </a:p>
        </p:txBody>
      </p:sp>
      <p:sp>
        <p:nvSpPr>
          <p:cNvPr id="3" name="Espace réservé du contenu 2">
            <a:extLst>
              <a:ext uri="{FF2B5EF4-FFF2-40B4-BE49-F238E27FC236}">
                <a16:creationId xmlns:a16="http://schemas.microsoft.com/office/drawing/2014/main" id="{76718C39-2D98-4840-96B6-0465B3D4B22A}"/>
              </a:ext>
            </a:extLst>
          </p:cNvPr>
          <p:cNvSpPr>
            <a:spLocks noGrp="1"/>
          </p:cNvSpPr>
          <p:nvPr>
            <p:ph idx="1"/>
          </p:nvPr>
        </p:nvSpPr>
        <p:spPr>
          <a:xfrm>
            <a:off x="492371" y="2653800"/>
            <a:ext cx="3084844" cy="3335519"/>
          </a:xfrm>
        </p:spPr>
        <p:txBody>
          <a:bodyPr>
            <a:normAutofit/>
          </a:bodyPr>
          <a:lstStyle/>
          <a:p>
            <a:r>
              <a:rPr lang="fr-FR" sz="1200" u="sng">
                <a:solidFill>
                  <a:srgbClr val="FFFFFF"/>
                </a:solidFill>
              </a:rPr>
              <a:t>Avantages :</a:t>
            </a:r>
          </a:p>
          <a:p>
            <a:pPr>
              <a:buFont typeface="Wingdings" panose="05000000000000000000" pitchFamily="2" charset="2"/>
              <a:buChar char="§"/>
            </a:pPr>
            <a:r>
              <a:rPr lang="fr-FR" sz="1200">
                <a:solidFill>
                  <a:srgbClr val="FFFFFF"/>
                </a:solidFill>
              </a:rPr>
              <a:t> Simple et efficace, pas besoin d’une grande puissance de calcul et à mettre en œuvre.</a:t>
            </a:r>
          </a:p>
          <a:p>
            <a:pPr>
              <a:buFont typeface="Wingdings" panose="05000000000000000000" pitchFamily="2" charset="2"/>
              <a:buChar char="§"/>
            </a:pPr>
            <a:r>
              <a:rPr lang="fr-FR" sz="1200">
                <a:solidFill>
                  <a:srgbClr val="FFFFFF"/>
                </a:solidFill>
              </a:rPr>
              <a:t> Permet d’avoir un score de probabilité sur les observations.</a:t>
            </a:r>
          </a:p>
          <a:p>
            <a:endParaRPr lang="fr-FR" sz="1200">
              <a:solidFill>
                <a:srgbClr val="FFFFFF"/>
              </a:solidFill>
            </a:endParaRPr>
          </a:p>
          <a:p>
            <a:r>
              <a:rPr lang="fr-FR" sz="1200" u="sng">
                <a:solidFill>
                  <a:srgbClr val="FFFFFF"/>
                </a:solidFill>
              </a:rPr>
              <a:t>Limites :</a:t>
            </a:r>
          </a:p>
          <a:p>
            <a:pPr>
              <a:buFont typeface="Wingdings" panose="05000000000000000000" pitchFamily="2" charset="2"/>
              <a:buChar char="§"/>
            </a:pPr>
            <a:r>
              <a:rPr lang="fr-FR" sz="1200">
                <a:solidFill>
                  <a:srgbClr val="FFFFFF"/>
                </a:solidFill>
              </a:rPr>
              <a:t> Pas très adaptée à un nombre de caractéristiques élevées. </a:t>
            </a:r>
          </a:p>
          <a:p>
            <a:pPr>
              <a:buFont typeface="Wingdings" panose="05000000000000000000" pitchFamily="2" charset="2"/>
              <a:buChar char="§"/>
            </a:pPr>
            <a:r>
              <a:rPr lang="fr-FR" sz="1200">
                <a:solidFill>
                  <a:srgbClr val="FFFFFF"/>
                </a:solidFill>
              </a:rPr>
              <a:t> Ne fonctionne pas très bien avec des variables indépendantes qui ne sont pas corrélées à la variable cible et qui sont très similaires.</a:t>
            </a:r>
          </a:p>
        </p:txBody>
      </p:sp>
      <p:sp>
        <p:nvSpPr>
          <p:cNvPr id="15" name="Rectangle 14">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pic>
        <p:nvPicPr>
          <p:cNvPr id="4" name="Image 3" descr="Une image contenant Bleu électrique, logo, capture d’écran, Police&#10;&#10;Le contenu généré par l’IA peut être incorrect.">
            <a:extLst>
              <a:ext uri="{FF2B5EF4-FFF2-40B4-BE49-F238E27FC236}">
                <a16:creationId xmlns:a16="http://schemas.microsoft.com/office/drawing/2014/main" id="{A0A48FB7-906B-45C6-BEF1-80248A06B502}"/>
              </a:ext>
            </a:extLst>
          </p:cNvPr>
          <p:cNvPicPr/>
          <p:nvPr/>
        </p:nvPicPr>
        <p:blipFill>
          <a:blip r:embed="rId2"/>
          <a:stretch>
            <a:fillRect/>
          </a:stretch>
        </p:blipFill>
        <p:spPr>
          <a:xfrm>
            <a:off x="10327966" y="141882"/>
            <a:ext cx="1655428" cy="973123"/>
          </a:xfrm>
          <a:prstGeom prst="rect">
            <a:avLst/>
          </a:prstGeom>
        </p:spPr>
      </p:pic>
      <p:sp>
        <p:nvSpPr>
          <p:cNvPr id="8" name="ZoneTexte 7">
            <a:extLst>
              <a:ext uri="{FF2B5EF4-FFF2-40B4-BE49-F238E27FC236}">
                <a16:creationId xmlns:a16="http://schemas.microsoft.com/office/drawing/2014/main" id="{CE801B1B-C871-37BF-AD99-B8BDF3260914}"/>
              </a:ext>
            </a:extLst>
          </p:cNvPr>
          <p:cNvSpPr txBox="1"/>
          <p:nvPr/>
        </p:nvSpPr>
        <p:spPr>
          <a:xfrm>
            <a:off x="4250684" y="2256632"/>
            <a:ext cx="8167059" cy="2585323"/>
          </a:xfrm>
          <a:prstGeom prst="rect">
            <a:avLst/>
          </a:prstGeom>
          <a:noFill/>
        </p:spPr>
        <p:txBody>
          <a:bodyPr wrap="square">
            <a:spAutoFit/>
          </a:bodyPr>
          <a:lstStyle/>
          <a:p>
            <a:pPr>
              <a:buNone/>
            </a:pPr>
            <a:r>
              <a:rPr lang="fr-FR" b="1" dirty="0"/>
              <a:t>Pourquoi utiliser la régression logistique dans notre projet ?</a:t>
            </a:r>
          </a:p>
          <a:p>
            <a:pPr>
              <a:buFont typeface="Arial" panose="020B0604020202020204" pitchFamily="34" charset="0"/>
              <a:buChar char="•"/>
            </a:pPr>
            <a:r>
              <a:rPr lang="fr-FR" dirty="0"/>
              <a:t>Modèle simple et efficace pour un problème </a:t>
            </a:r>
            <a:r>
              <a:rPr lang="fr-FR" b="1" dirty="0"/>
              <a:t>binaire</a:t>
            </a:r>
            <a:r>
              <a:rPr lang="fr-FR" dirty="0"/>
              <a:t> : prédire si un billet est </a:t>
            </a:r>
            <a:r>
              <a:rPr lang="fr-FR" i="1" dirty="0"/>
              <a:t>authentique</a:t>
            </a:r>
            <a:r>
              <a:rPr lang="fr-FR" dirty="0"/>
              <a:t> (1) ou </a:t>
            </a:r>
            <a:r>
              <a:rPr lang="fr-FR" i="1" dirty="0"/>
              <a:t>faux</a:t>
            </a:r>
            <a:r>
              <a:rPr lang="fr-FR" dirty="0"/>
              <a:t> (0).</a:t>
            </a:r>
          </a:p>
          <a:p>
            <a:pPr>
              <a:buFont typeface="Arial" panose="020B0604020202020204" pitchFamily="34" charset="0"/>
              <a:buChar char="•"/>
            </a:pPr>
            <a:r>
              <a:rPr lang="fr-FR" dirty="0"/>
              <a:t>Interprétation facile : les coefficients montrent l’impact de chaque variable géométrique (ex : </a:t>
            </a:r>
            <a:r>
              <a:rPr lang="fr-FR" i="1" dirty="0"/>
              <a:t>margin_low</a:t>
            </a:r>
            <a:r>
              <a:rPr lang="fr-FR" dirty="0"/>
              <a:t>, </a:t>
            </a:r>
            <a:r>
              <a:rPr lang="fr-FR" i="1" dirty="0"/>
              <a:t>length</a:t>
            </a:r>
            <a:r>
              <a:rPr lang="fr-FR" dirty="0"/>
              <a:t>, </a:t>
            </a:r>
            <a:r>
              <a:rPr lang="fr-FR" i="1" dirty="0"/>
              <a:t>diagonal</a:t>
            </a:r>
            <a:r>
              <a:rPr lang="fr-FR" dirty="0"/>
              <a:t>…).</a:t>
            </a:r>
          </a:p>
          <a:p>
            <a:pPr>
              <a:buFont typeface="Arial" panose="020B0604020202020204" pitchFamily="34" charset="0"/>
              <a:buChar char="•"/>
            </a:pPr>
            <a:r>
              <a:rPr lang="fr-FR" dirty="0"/>
              <a:t>Donne des </a:t>
            </a:r>
            <a:r>
              <a:rPr lang="fr-FR" b="1" dirty="0"/>
              <a:t>probabilités</a:t>
            </a:r>
            <a:r>
              <a:rPr lang="fr-FR" dirty="0"/>
              <a:t>, pas seulement une classe → utile pour détecter les billets suspects.</a:t>
            </a:r>
          </a:p>
          <a:p>
            <a:pPr>
              <a:buFont typeface="Arial" panose="020B0604020202020204" pitchFamily="34" charset="0"/>
              <a:buChar char="•"/>
            </a:pPr>
            <a:r>
              <a:rPr lang="fr-FR" dirty="0"/>
              <a:t>Fonctionne très bien quand les variables explicatives sont </a:t>
            </a:r>
            <a:r>
              <a:rPr lang="fr-FR" b="1" dirty="0"/>
              <a:t>linéairement séparables</a:t>
            </a:r>
            <a:r>
              <a:rPr lang="fr-FR" dirty="0"/>
              <a:t> dans un espace multidimensionnel.</a:t>
            </a:r>
          </a:p>
        </p:txBody>
      </p:sp>
    </p:spTree>
    <p:extLst>
      <p:ext uri="{BB962C8B-B14F-4D97-AF65-F5344CB8AC3E}">
        <p14:creationId xmlns:p14="http://schemas.microsoft.com/office/powerpoint/2010/main" val="360171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5" name="Rectangle 14">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cxnSp>
        <p:nvCxnSpPr>
          <p:cNvPr id="11" name="Straight Connector 16">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000BB12F-803F-41A1-B81E-75E86A6C487F}"/>
              </a:ext>
            </a:extLst>
          </p:cNvPr>
          <p:cNvSpPr>
            <a:spLocks noGrp="1"/>
          </p:cNvSpPr>
          <p:nvPr>
            <p:ph type="title"/>
          </p:nvPr>
        </p:nvSpPr>
        <p:spPr>
          <a:xfrm>
            <a:off x="492370" y="516835"/>
            <a:ext cx="3084844" cy="2103875"/>
          </a:xfrm>
        </p:spPr>
        <p:txBody>
          <a:bodyPr vert="horz" lIns="91440" tIns="45720" rIns="91440" bIns="45720" rtlCol="0" anchor="b">
            <a:normAutofit/>
          </a:bodyPr>
          <a:lstStyle/>
          <a:p>
            <a:r>
              <a:rPr lang="en-US"/>
              <a:t>RÉGRESSION LOGISTIQUE</a:t>
            </a:r>
          </a:p>
        </p:txBody>
      </p:sp>
      <p:sp>
        <p:nvSpPr>
          <p:cNvPr id="6" name="ZoneTexte 5">
            <a:extLst>
              <a:ext uri="{FF2B5EF4-FFF2-40B4-BE49-F238E27FC236}">
                <a16:creationId xmlns:a16="http://schemas.microsoft.com/office/drawing/2014/main" id="{8E8C1042-8AFF-2E9F-348C-899F7EF45A19}"/>
              </a:ext>
            </a:extLst>
          </p:cNvPr>
          <p:cNvSpPr txBox="1"/>
          <p:nvPr/>
        </p:nvSpPr>
        <p:spPr>
          <a:xfrm>
            <a:off x="492371" y="2653800"/>
            <a:ext cx="3084844" cy="3335519"/>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sz="1500">
                <a:solidFill>
                  <a:srgbClr val="FFFFFF"/>
                </a:solidFill>
              </a:rPr>
              <a:t>Split des données, 80 % train, 20 % test.</a:t>
            </a:r>
          </a:p>
          <a:p>
            <a:pPr defTabSz="914400">
              <a:lnSpc>
                <a:spcPct val="90000"/>
              </a:lnSpc>
              <a:spcAft>
                <a:spcPts val="600"/>
              </a:spcAft>
              <a:buClr>
                <a:schemeClr val="accent1"/>
              </a:buClr>
              <a:buFont typeface="Calibri" panose="020F0502020204030204" pitchFamily="34" charset="0"/>
            </a:pPr>
            <a:r>
              <a:rPr lang="en-US" sz="1500">
                <a:solidFill>
                  <a:srgbClr val="FFFFFF"/>
                </a:solidFill>
              </a:rPr>
              <a:t>Fit pour l’entrainement du modèle.</a:t>
            </a:r>
          </a:p>
          <a:p>
            <a:pPr defTabSz="914400">
              <a:lnSpc>
                <a:spcPct val="90000"/>
              </a:lnSpc>
              <a:spcAft>
                <a:spcPts val="600"/>
              </a:spcAft>
              <a:buClr>
                <a:schemeClr val="accent1"/>
              </a:buClr>
              <a:buFont typeface="Calibri" panose="020F0502020204030204" pitchFamily="34" charset="0"/>
            </a:pPr>
            <a:r>
              <a:rPr lang="en-US" sz="1500">
                <a:solidFill>
                  <a:srgbClr val="FFFFFF"/>
                </a:solidFill>
              </a:rPr>
              <a:t>Predict pour l’utilisation du modèle.</a:t>
            </a:r>
          </a:p>
        </p:txBody>
      </p:sp>
      <p:sp>
        <p:nvSpPr>
          <p:cNvPr id="23" name="Rectangle 2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pic>
        <p:nvPicPr>
          <p:cNvPr id="8" name="Image 7">
            <a:extLst>
              <a:ext uri="{FF2B5EF4-FFF2-40B4-BE49-F238E27FC236}">
                <a16:creationId xmlns:a16="http://schemas.microsoft.com/office/drawing/2014/main" id="{264262E5-A6E1-C8C7-C57B-32BCEB2FBAF0}"/>
              </a:ext>
            </a:extLst>
          </p:cNvPr>
          <p:cNvPicPr>
            <a:picLocks noChangeAspect="1"/>
          </p:cNvPicPr>
          <p:nvPr/>
        </p:nvPicPr>
        <p:blipFill>
          <a:blip r:embed="rId2"/>
          <a:stretch>
            <a:fillRect/>
          </a:stretch>
        </p:blipFill>
        <p:spPr>
          <a:xfrm>
            <a:off x="7155614" y="2958856"/>
            <a:ext cx="4827780" cy="3693251"/>
          </a:xfrm>
          <a:prstGeom prst="rect">
            <a:avLst/>
          </a:prstGeom>
        </p:spPr>
      </p:pic>
      <p:pic>
        <p:nvPicPr>
          <p:cNvPr id="4" name="Image 3">
            <a:extLst>
              <a:ext uri="{FF2B5EF4-FFF2-40B4-BE49-F238E27FC236}">
                <a16:creationId xmlns:a16="http://schemas.microsoft.com/office/drawing/2014/main" id="{A0A48FB7-906B-45C6-BEF1-80248A06B502}"/>
              </a:ext>
            </a:extLst>
          </p:cNvPr>
          <p:cNvPicPr/>
          <p:nvPr/>
        </p:nvPicPr>
        <p:blipFill>
          <a:blip r:embed="rId3"/>
          <a:stretch>
            <a:fillRect/>
          </a:stretch>
        </p:blipFill>
        <p:spPr>
          <a:xfrm>
            <a:off x="10327966" y="141882"/>
            <a:ext cx="1655428" cy="973123"/>
          </a:xfrm>
          <a:prstGeom prst="rect">
            <a:avLst/>
          </a:prstGeom>
        </p:spPr>
      </p:pic>
      <p:pic>
        <p:nvPicPr>
          <p:cNvPr id="16" name="Image 15">
            <a:extLst>
              <a:ext uri="{FF2B5EF4-FFF2-40B4-BE49-F238E27FC236}">
                <a16:creationId xmlns:a16="http://schemas.microsoft.com/office/drawing/2014/main" id="{117BBE77-0B59-65E6-3D7F-0E2A900CB231}"/>
              </a:ext>
            </a:extLst>
          </p:cNvPr>
          <p:cNvPicPr>
            <a:picLocks noChangeAspect="1"/>
          </p:cNvPicPr>
          <p:nvPr/>
        </p:nvPicPr>
        <p:blipFill>
          <a:blip r:embed="rId4"/>
          <a:stretch>
            <a:fillRect/>
          </a:stretch>
        </p:blipFill>
        <p:spPr>
          <a:xfrm>
            <a:off x="4159193" y="141882"/>
            <a:ext cx="5892454" cy="3030914"/>
          </a:xfrm>
          <a:prstGeom prst="rect">
            <a:avLst/>
          </a:prstGeom>
        </p:spPr>
      </p:pic>
    </p:spTree>
    <p:extLst>
      <p:ext uri="{BB962C8B-B14F-4D97-AF65-F5344CB8AC3E}">
        <p14:creationId xmlns:p14="http://schemas.microsoft.com/office/powerpoint/2010/main" val="394407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0BB12F-803F-41A1-B81E-75E86A6C487F}"/>
              </a:ext>
            </a:extLst>
          </p:cNvPr>
          <p:cNvSpPr>
            <a:spLocks noGrp="1"/>
          </p:cNvSpPr>
          <p:nvPr>
            <p:ph type="title"/>
          </p:nvPr>
        </p:nvSpPr>
        <p:spPr>
          <a:xfrm>
            <a:off x="1097280" y="286603"/>
            <a:ext cx="10058400" cy="1449918"/>
          </a:xfrm>
        </p:spPr>
        <p:txBody>
          <a:bodyPr/>
          <a:lstStyle/>
          <a:p>
            <a:r>
              <a:rPr lang="fr-FR" dirty="0"/>
              <a:t>Analyse des résultats</a:t>
            </a:r>
          </a:p>
        </p:txBody>
      </p:sp>
      <p:sp>
        <p:nvSpPr>
          <p:cNvPr id="9" name="Espace réservé du texte 8">
            <a:extLst>
              <a:ext uri="{FF2B5EF4-FFF2-40B4-BE49-F238E27FC236}">
                <a16:creationId xmlns:a16="http://schemas.microsoft.com/office/drawing/2014/main" id="{6D356702-623D-4433-8B18-6AC2BD0F15DE}"/>
              </a:ext>
            </a:extLst>
          </p:cNvPr>
          <p:cNvSpPr>
            <a:spLocks noGrp="1"/>
          </p:cNvSpPr>
          <p:nvPr>
            <p:ph type="body" idx="1"/>
          </p:nvPr>
        </p:nvSpPr>
        <p:spPr>
          <a:xfrm>
            <a:off x="1158240" y="1846051"/>
            <a:ext cx="4937760" cy="449591"/>
          </a:xfrm>
        </p:spPr>
        <p:txBody>
          <a:bodyPr>
            <a:normAutofit fontScale="92500" lnSpcReduction="20000"/>
          </a:bodyPr>
          <a:lstStyle/>
          <a:p>
            <a:pPr algn="ctr"/>
            <a:r>
              <a:rPr lang="fr-FR" dirty="0"/>
              <a:t>Métrique de mesure</a:t>
            </a:r>
          </a:p>
        </p:txBody>
      </p:sp>
      <p:sp>
        <p:nvSpPr>
          <p:cNvPr id="11" name="Espace réservé du texte 10">
            <a:extLst>
              <a:ext uri="{FF2B5EF4-FFF2-40B4-BE49-F238E27FC236}">
                <a16:creationId xmlns:a16="http://schemas.microsoft.com/office/drawing/2014/main" id="{CF3F3EAA-624E-41CD-9148-CBD38E5EA99D}"/>
              </a:ext>
            </a:extLst>
          </p:cNvPr>
          <p:cNvSpPr>
            <a:spLocks noGrp="1"/>
          </p:cNvSpPr>
          <p:nvPr>
            <p:ph type="body" sz="quarter" idx="3"/>
          </p:nvPr>
        </p:nvSpPr>
        <p:spPr>
          <a:xfrm>
            <a:off x="6937829" y="1900084"/>
            <a:ext cx="4937760" cy="317689"/>
          </a:xfrm>
        </p:spPr>
        <p:txBody>
          <a:bodyPr>
            <a:normAutofit fontScale="92500" lnSpcReduction="20000"/>
          </a:bodyPr>
          <a:lstStyle/>
          <a:p>
            <a:pPr algn="ctr"/>
            <a:r>
              <a:rPr lang="fr-FR" dirty="0"/>
              <a:t>Matrice de confusion</a:t>
            </a:r>
          </a:p>
        </p:txBody>
      </p:sp>
      <p:pic>
        <p:nvPicPr>
          <p:cNvPr id="4" name="Image 3">
            <a:extLst>
              <a:ext uri="{FF2B5EF4-FFF2-40B4-BE49-F238E27FC236}">
                <a16:creationId xmlns:a16="http://schemas.microsoft.com/office/drawing/2014/main" id="{A0A48FB7-906B-45C6-BEF1-80248A06B502}"/>
              </a:ext>
            </a:extLst>
          </p:cNvPr>
          <p:cNvPicPr/>
          <p:nvPr/>
        </p:nvPicPr>
        <p:blipFill>
          <a:blip r:embed="rId2"/>
          <a:stretch>
            <a:fillRect/>
          </a:stretch>
        </p:blipFill>
        <p:spPr>
          <a:xfrm>
            <a:off x="10327966" y="141882"/>
            <a:ext cx="1655428" cy="973123"/>
          </a:xfrm>
          <a:prstGeom prst="rect">
            <a:avLst/>
          </a:prstGeom>
        </p:spPr>
      </p:pic>
      <p:pic>
        <p:nvPicPr>
          <p:cNvPr id="5" name="Image 4">
            <a:extLst>
              <a:ext uri="{FF2B5EF4-FFF2-40B4-BE49-F238E27FC236}">
                <a16:creationId xmlns:a16="http://schemas.microsoft.com/office/drawing/2014/main" id="{3D7B0F47-4B52-4978-D19F-8C2DB6BB2A7C}"/>
              </a:ext>
            </a:extLst>
          </p:cNvPr>
          <p:cNvPicPr>
            <a:picLocks noChangeAspect="1"/>
          </p:cNvPicPr>
          <p:nvPr/>
        </p:nvPicPr>
        <p:blipFill>
          <a:blip r:embed="rId3"/>
          <a:stretch>
            <a:fillRect/>
          </a:stretch>
        </p:blipFill>
        <p:spPr>
          <a:xfrm>
            <a:off x="158791" y="2680445"/>
            <a:ext cx="6779038" cy="1743318"/>
          </a:xfrm>
          <a:prstGeom prst="rect">
            <a:avLst/>
          </a:prstGeom>
        </p:spPr>
      </p:pic>
      <p:pic>
        <p:nvPicPr>
          <p:cNvPr id="8" name="Image 7">
            <a:extLst>
              <a:ext uri="{FF2B5EF4-FFF2-40B4-BE49-F238E27FC236}">
                <a16:creationId xmlns:a16="http://schemas.microsoft.com/office/drawing/2014/main" id="{306B5507-8F97-0543-C35E-7351ABCBE48A}"/>
              </a:ext>
            </a:extLst>
          </p:cNvPr>
          <p:cNvPicPr>
            <a:picLocks noChangeAspect="1"/>
          </p:cNvPicPr>
          <p:nvPr/>
        </p:nvPicPr>
        <p:blipFill>
          <a:blip r:embed="rId4"/>
          <a:stretch>
            <a:fillRect/>
          </a:stretch>
        </p:blipFill>
        <p:spPr>
          <a:xfrm>
            <a:off x="7254240" y="2405170"/>
            <a:ext cx="4937760" cy="3848290"/>
          </a:xfrm>
          <a:prstGeom prst="rect">
            <a:avLst/>
          </a:prstGeom>
        </p:spPr>
      </p:pic>
    </p:spTree>
    <p:extLst>
      <p:ext uri="{BB962C8B-B14F-4D97-AF65-F5344CB8AC3E}">
        <p14:creationId xmlns:p14="http://schemas.microsoft.com/office/powerpoint/2010/main" val="2892047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p:txBody>
          <a:bodyPr/>
          <a:lstStyle/>
          <a:p>
            <a:r>
              <a:rPr lang="fr-FR" dirty="0"/>
              <a:t>CLASSIFICATION NON SUPERVISÉE</a:t>
            </a:r>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7" name="Espace réservé pour une image  6">
            <a:extLst>
              <a:ext uri="{FF2B5EF4-FFF2-40B4-BE49-F238E27FC236}">
                <a16:creationId xmlns:a16="http://schemas.microsoft.com/office/drawing/2014/main" id="{99B019D6-B4D9-4F86-ACB5-3C6BD93F9A73}"/>
              </a:ext>
            </a:extLst>
          </p:cNvPr>
          <p:cNvPicPr>
            <a:picLocks noGrp="1" noChangeAspect="1"/>
          </p:cNvPicPr>
          <p:nvPr>
            <p:ph type="pic" idx="1"/>
          </p:nvPr>
        </p:nvPicPr>
        <p:blipFill>
          <a:blip r:embed="rId3"/>
          <a:srcRect t="16362" b="16362"/>
          <a:stretch>
            <a:fillRect/>
          </a:stretch>
        </p:blipFill>
        <p:spPr/>
      </p:pic>
    </p:spTree>
    <p:extLst>
      <p:ext uri="{BB962C8B-B14F-4D97-AF65-F5344CB8AC3E}">
        <p14:creationId xmlns:p14="http://schemas.microsoft.com/office/powerpoint/2010/main" val="9424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0BB12F-803F-41A1-B81E-75E86A6C487F}"/>
              </a:ext>
            </a:extLst>
          </p:cNvPr>
          <p:cNvSpPr>
            <a:spLocks noGrp="1"/>
          </p:cNvSpPr>
          <p:nvPr>
            <p:ph type="title"/>
          </p:nvPr>
        </p:nvSpPr>
        <p:spPr/>
        <p:txBody>
          <a:bodyPr/>
          <a:lstStyle/>
          <a:p>
            <a:r>
              <a:rPr lang="fr-FR" dirty="0"/>
              <a:t>K-MOYENNES (K-MEANS)</a:t>
            </a:r>
          </a:p>
        </p:txBody>
      </p:sp>
      <p:sp>
        <p:nvSpPr>
          <p:cNvPr id="3" name="Espace réservé du contenu 2">
            <a:extLst>
              <a:ext uri="{FF2B5EF4-FFF2-40B4-BE49-F238E27FC236}">
                <a16:creationId xmlns:a16="http://schemas.microsoft.com/office/drawing/2014/main" id="{76718C39-2D98-4840-96B6-0465B3D4B22A}"/>
              </a:ext>
            </a:extLst>
          </p:cNvPr>
          <p:cNvSpPr>
            <a:spLocks noGrp="1"/>
          </p:cNvSpPr>
          <p:nvPr>
            <p:ph idx="1"/>
          </p:nvPr>
        </p:nvSpPr>
        <p:spPr/>
        <p:txBody>
          <a:bodyPr>
            <a:normAutofit/>
          </a:bodyPr>
          <a:lstStyle/>
          <a:p>
            <a:pPr algn="just"/>
            <a:r>
              <a:rPr lang="fr-FR" dirty="0"/>
              <a:t>La classification K-</a:t>
            </a:r>
            <a:r>
              <a:rPr lang="fr-FR" dirty="0" err="1"/>
              <a:t>means</a:t>
            </a:r>
            <a:r>
              <a:rPr lang="fr-FR" dirty="0"/>
              <a:t> est une technique largement utilisée pour l’analyse par cluster de données. Méthode se repose sur la minimisation de la somme des distances euclidiennes au carré entre chaque objet et le centroïde.</a:t>
            </a:r>
            <a:endParaRPr lang="fr-FR" u="sng" dirty="0"/>
          </a:p>
          <a:p>
            <a:pPr algn="just"/>
            <a:r>
              <a:rPr lang="fr-FR" u="sng" dirty="0"/>
              <a:t>Avantages :</a:t>
            </a:r>
          </a:p>
          <a:p>
            <a:pPr algn="just">
              <a:buFont typeface="Wingdings" panose="05000000000000000000" pitchFamily="2" charset="2"/>
              <a:buChar char="§"/>
            </a:pPr>
            <a:r>
              <a:rPr lang="fr-FR" dirty="0"/>
              <a:t> Simple à comprendre, il fournit des résultats d’entrainement rapidement.</a:t>
            </a:r>
          </a:p>
          <a:p>
            <a:pPr algn="just"/>
            <a:r>
              <a:rPr lang="fr-FR" u="sng" dirty="0"/>
              <a:t>Limites :</a:t>
            </a:r>
          </a:p>
          <a:p>
            <a:pPr algn="just">
              <a:buFont typeface="Wingdings" panose="05000000000000000000" pitchFamily="2" charset="2"/>
              <a:buChar char="§"/>
            </a:pPr>
            <a:r>
              <a:rPr lang="fr-FR" dirty="0"/>
              <a:t> L’algorithme nécessite en amont de définir le nombre de partitions.</a:t>
            </a:r>
          </a:p>
          <a:p>
            <a:pPr algn="just">
              <a:buFont typeface="Wingdings" panose="05000000000000000000" pitchFamily="2" charset="2"/>
              <a:buChar char="§"/>
            </a:pPr>
            <a:r>
              <a:rPr lang="fr-FR" dirty="0"/>
              <a:t> Ses performances ne sont pas généralement pas aussi compétitives que celles des autres techniques de classification.</a:t>
            </a:r>
          </a:p>
        </p:txBody>
      </p:sp>
      <p:pic>
        <p:nvPicPr>
          <p:cNvPr id="4" name="Image 3">
            <a:extLst>
              <a:ext uri="{FF2B5EF4-FFF2-40B4-BE49-F238E27FC236}">
                <a16:creationId xmlns:a16="http://schemas.microsoft.com/office/drawing/2014/main" id="{A0A48FB7-906B-45C6-BEF1-80248A06B502}"/>
              </a:ext>
            </a:extLst>
          </p:cNvPr>
          <p:cNvPicPr/>
          <p:nvPr/>
        </p:nvPicPr>
        <p:blipFill>
          <a:blip r:embed="rId2"/>
          <a:stretch>
            <a:fillRect/>
          </a:stretch>
        </p:blipFill>
        <p:spPr>
          <a:xfrm>
            <a:off x="10327966" y="141882"/>
            <a:ext cx="1655428" cy="973123"/>
          </a:xfrm>
          <a:prstGeom prst="rect">
            <a:avLst/>
          </a:prstGeom>
        </p:spPr>
      </p:pic>
    </p:spTree>
    <p:extLst>
      <p:ext uri="{BB962C8B-B14F-4D97-AF65-F5344CB8AC3E}">
        <p14:creationId xmlns:p14="http://schemas.microsoft.com/office/powerpoint/2010/main" val="1360085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6E147F-1026-C28D-C013-6CCFB0204388}"/>
              </a:ext>
            </a:extLst>
          </p:cNvPr>
          <p:cNvSpPr>
            <a:spLocks noGrp="1"/>
          </p:cNvSpPr>
          <p:nvPr>
            <p:ph type="title"/>
          </p:nvPr>
        </p:nvSpPr>
        <p:spPr/>
        <p:txBody>
          <a:bodyPr/>
          <a:lstStyle/>
          <a:p>
            <a:r>
              <a:rPr lang="fr-FR" dirty="0"/>
              <a:t>K-MOYENNES (K-MEANS)</a:t>
            </a:r>
          </a:p>
        </p:txBody>
      </p:sp>
      <p:pic>
        <p:nvPicPr>
          <p:cNvPr id="8" name="Espace réservé du contenu 7">
            <a:extLst>
              <a:ext uri="{FF2B5EF4-FFF2-40B4-BE49-F238E27FC236}">
                <a16:creationId xmlns:a16="http://schemas.microsoft.com/office/drawing/2014/main" id="{DEAF0392-968F-7B2C-6D9D-FE1A2FCE2D33}"/>
              </a:ext>
            </a:extLst>
          </p:cNvPr>
          <p:cNvPicPr>
            <a:picLocks noGrp="1" noChangeAspect="1"/>
          </p:cNvPicPr>
          <p:nvPr>
            <p:ph sz="half" idx="1"/>
          </p:nvPr>
        </p:nvPicPr>
        <p:blipFill>
          <a:blip r:embed="rId2"/>
          <a:stretch>
            <a:fillRect/>
          </a:stretch>
        </p:blipFill>
        <p:spPr>
          <a:xfrm>
            <a:off x="6126163" y="2014634"/>
            <a:ext cx="4938712" cy="3830445"/>
          </a:xfrm>
          <a:prstGeom prst="rect">
            <a:avLst/>
          </a:prstGeom>
        </p:spPr>
      </p:pic>
      <p:pic>
        <p:nvPicPr>
          <p:cNvPr id="6" name="Espace réservé du contenu 5">
            <a:extLst>
              <a:ext uri="{FF2B5EF4-FFF2-40B4-BE49-F238E27FC236}">
                <a16:creationId xmlns:a16="http://schemas.microsoft.com/office/drawing/2014/main" id="{9DC4040B-DD06-F0A1-A2DF-8BAD55243341}"/>
              </a:ext>
            </a:extLst>
          </p:cNvPr>
          <p:cNvPicPr>
            <a:picLocks noGrp="1" noChangeAspect="1"/>
          </p:cNvPicPr>
          <p:nvPr>
            <p:ph sz="half" idx="2"/>
          </p:nvPr>
        </p:nvPicPr>
        <p:blipFill>
          <a:blip r:embed="rId3"/>
          <a:stretch>
            <a:fillRect/>
          </a:stretch>
        </p:blipFill>
        <p:spPr>
          <a:xfrm>
            <a:off x="710264" y="1918305"/>
            <a:ext cx="4922216" cy="4022725"/>
          </a:xfrm>
          <a:prstGeom prst="rect">
            <a:avLst/>
          </a:prstGeom>
        </p:spPr>
      </p:pic>
    </p:spTree>
    <p:extLst>
      <p:ext uri="{BB962C8B-B14F-4D97-AF65-F5344CB8AC3E}">
        <p14:creationId xmlns:p14="http://schemas.microsoft.com/office/powerpoint/2010/main" val="1484767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0BB12F-803F-41A1-B81E-75E86A6C487F}"/>
              </a:ext>
            </a:extLst>
          </p:cNvPr>
          <p:cNvSpPr>
            <a:spLocks noGrp="1"/>
          </p:cNvSpPr>
          <p:nvPr>
            <p:ph type="title"/>
          </p:nvPr>
        </p:nvSpPr>
        <p:spPr/>
        <p:txBody>
          <a:bodyPr/>
          <a:lstStyle/>
          <a:p>
            <a:r>
              <a:rPr lang="fr-FR" dirty="0"/>
              <a:t>ACP :  Visualisation des clusters K-</a:t>
            </a:r>
            <a:r>
              <a:rPr lang="fr-FR" dirty="0" err="1"/>
              <a:t>means</a:t>
            </a:r>
            <a:endParaRPr lang="fr-FR" dirty="0"/>
          </a:p>
        </p:txBody>
      </p:sp>
      <p:sp>
        <p:nvSpPr>
          <p:cNvPr id="3" name="Espace réservé du contenu 2">
            <a:extLst>
              <a:ext uri="{FF2B5EF4-FFF2-40B4-BE49-F238E27FC236}">
                <a16:creationId xmlns:a16="http://schemas.microsoft.com/office/drawing/2014/main" id="{76718C39-2D98-4840-96B6-0465B3D4B22A}"/>
              </a:ext>
            </a:extLst>
          </p:cNvPr>
          <p:cNvSpPr>
            <a:spLocks noGrp="1"/>
          </p:cNvSpPr>
          <p:nvPr>
            <p:ph sz="half" idx="1"/>
          </p:nvPr>
        </p:nvSpPr>
        <p:spPr/>
        <p:txBody>
          <a:bodyPr>
            <a:normAutofit/>
          </a:bodyPr>
          <a:lstStyle/>
          <a:p>
            <a:r>
              <a:rPr lang="fr-FR" dirty="0"/>
              <a:t> </a:t>
            </a:r>
          </a:p>
        </p:txBody>
      </p:sp>
      <p:pic>
        <p:nvPicPr>
          <p:cNvPr id="4" name="Image 3">
            <a:extLst>
              <a:ext uri="{FF2B5EF4-FFF2-40B4-BE49-F238E27FC236}">
                <a16:creationId xmlns:a16="http://schemas.microsoft.com/office/drawing/2014/main" id="{A0A48FB7-906B-45C6-BEF1-80248A06B502}"/>
              </a:ext>
            </a:extLst>
          </p:cNvPr>
          <p:cNvPicPr/>
          <p:nvPr/>
        </p:nvPicPr>
        <p:blipFill>
          <a:blip r:embed="rId2"/>
          <a:stretch>
            <a:fillRect/>
          </a:stretch>
        </p:blipFill>
        <p:spPr>
          <a:xfrm>
            <a:off x="10327966" y="141882"/>
            <a:ext cx="1655428" cy="973123"/>
          </a:xfrm>
          <a:prstGeom prst="rect">
            <a:avLst/>
          </a:prstGeom>
        </p:spPr>
      </p:pic>
      <p:pic>
        <p:nvPicPr>
          <p:cNvPr id="12" name="Image 11">
            <a:extLst>
              <a:ext uri="{FF2B5EF4-FFF2-40B4-BE49-F238E27FC236}">
                <a16:creationId xmlns:a16="http://schemas.microsoft.com/office/drawing/2014/main" id="{0AA8280D-02F9-4F56-B568-C49A4F3A94CC}"/>
              </a:ext>
            </a:extLst>
          </p:cNvPr>
          <p:cNvPicPr>
            <a:picLocks noChangeAspect="1"/>
          </p:cNvPicPr>
          <p:nvPr/>
        </p:nvPicPr>
        <p:blipFill>
          <a:blip r:embed="rId3"/>
          <a:stretch>
            <a:fillRect/>
          </a:stretch>
        </p:blipFill>
        <p:spPr>
          <a:xfrm>
            <a:off x="145608" y="5651006"/>
            <a:ext cx="1775471" cy="655120"/>
          </a:xfrm>
          <a:prstGeom prst="rect">
            <a:avLst/>
          </a:prstGeom>
        </p:spPr>
      </p:pic>
      <p:pic>
        <p:nvPicPr>
          <p:cNvPr id="17" name="Image 16">
            <a:extLst>
              <a:ext uri="{FF2B5EF4-FFF2-40B4-BE49-F238E27FC236}">
                <a16:creationId xmlns:a16="http://schemas.microsoft.com/office/drawing/2014/main" id="{DE0F4E1E-1D1F-4EA5-CD69-048E344011E3}"/>
              </a:ext>
            </a:extLst>
          </p:cNvPr>
          <p:cNvPicPr>
            <a:picLocks noChangeAspect="1"/>
          </p:cNvPicPr>
          <p:nvPr/>
        </p:nvPicPr>
        <p:blipFill>
          <a:blip r:embed="rId4"/>
          <a:stretch>
            <a:fillRect/>
          </a:stretch>
        </p:blipFill>
        <p:spPr>
          <a:xfrm>
            <a:off x="1169441" y="1882081"/>
            <a:ext cx="5048479" cy="3901097"/>
          </a:xfrm>
          <a:prstGeom prst="rect">
            <a:avLst/>
          </a:prstGeom>
        </p:spPr>
      </p:pic>
      <p:sp>
        <p:nvSpPr>
          <p:cNvPr id="14" name="Organigramme : Jonction de sommaire 13">
            <a:extLst>
              <a:ext uri="{FF2B5EF4-FFF2-40B4-BE49-F238E27FC236}">
                <a16:creationId xmlns:a16="http://schemas.microsoft.com/office/drawing/2014/main" id="{BDDBC438-7A59-447C-A7FC-41AF1E99136A}"/>
              </a:ext>
            </a:extLst>
          </p:cNvPr>
          <p:cNvSpPr/>
          <p:nvPr/>
        </p:nvSpPr>
        <p:spPr>
          <a:xfrm>
            <a:off x="2308752" y="3429000"/>
            <a:ext cx="302004" cy="234892"/>
          </a:xfrm>
          <a:prstGeom prst="flowChartSummingJunction">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rganigramme : Jonction de sommaire 10">
            <a:extLst>
              <a:ext uri="{FF2B5EF4-FFF2-40B4-BE49-F238E27FC236}">
                <a16:creationId xmlns:a16="http://schemas.microsoft.com/office/drawing/2014/main" id="{454E1349-7300-4595-96FA-F62891177685}"/>
              </a:ext>
            </a:extLst>
          </p:cNvPr>
          <p:cNvSpPr/>
          <p:nvPr/>
        </p:nvSpPr>
        <p:spPr>
          <a:xfrm>
            <a:off x="4539607" y="4238540"/>
            <a:ext cx="285226" cy="243280"/>
          </a:xfrm>
          <a:prstGeom prst="flowChartSummingJunction">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1" name="Espace réservé du contenu 20">
            <a:extLst>
              <a:ext uri="{FF2B5EF4-FFF2-40B4-BE49-F238E27FC236}">
                <a16:creationId xmlns:a16="http://schemas.microsoft.com/office/drawing/2014/main" id="{502F9EA1-19FA-5513-2786-AA5D819C3AAE}"/>
              </a:ext>
            </a:extLst>
          </p:cNvPr>
          <p:cNvPicPr>
            <a:picLocks noGrp="1" noChangeAspect="1"/>
          </p:cNvPicPr>
          <p:nvPr>
            <p:ph sz="half" idx="2"/>
          </p:nvPr>
        </p:nvPicPr>
        <p:blipFill>
          <a:blip r:embed="rId5"/>
          <a:stretch>
            <a:fillRect/>
          </a:stretch>
        </p:blipFill>
        <p:spPr>
          <a:xfrm>
            <a:off x="6218238" y="1894403"/>
            <a:ext cx="4937125" cy="3926445"/>
          </a:xfrm>
          <a:prstGeom prst="rect">
            <a:avLst/>
          </a:prstGeom>
        </p:spPr>
      </p:pic>
    </p:spTree>
    <p:extLst>
      <p:ext uri="{BB962C8B-B14F-4D97-AF65-F5344CB8AC3E}">
        <p14:creationId xmlns:p14="http://schemas.microsoft.com/office/powerpoint/2010/main" val="2071715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0BB12F-803F-41A1-B81E-75E86A6C487F}"/>
              </a:ext>
            </a:extLst>
          </p:cNvPr>
          <p:cNvSpPr>
            <a:spLocks noGrp="1"/>
          </p:cNvSpPr>
          <p:nvPr>
            <p:ph type="title"/>
          </p:nvPr>
        </p:nvSpPr>
        <p:spPr/>
        <p:txBody>
          <a:bodyPr/>
          <a:lstStyle/>
          <a:p>
            <a:r>
              <a:rPr lang="fr-FR"/>
              <a:t>K-MOYENNES (K-MEANS)</a:t>
            </a:r>
            <a:endParaRPr lang="fr-FR" dirty="0"/>
          </a:p>
        </p:txBody>
      </p:sp>
      <p:pic>
        <p:nvPicPr>
          <p:cNvPr id="4" name="Image 3">
            <a:extLst>
              <a:ext uri="{FF2B5EF4-FFF2-40B4-BE49-F238E27FC236}">
                <a16:creationId xmlns:a16="http://schemas.microsoft.com/office/drawing/2014/main" id="{A0A48FB7-906B-45C6-BEF1-80248A06B502}"/>
              </a:ext>
            </a:extLst>
          </p:cNvPr>
          <p:cNvPicPr/>
          <p:nvPr/>
        </p:nvPicPr>
        <p:blipFill>
          <a:blip r:embed="rId2"/>
          <a:stretch>
            <a:fillRect/>
          </a:stretch>
        </p:blipFill>
        <p:spPr>
          <a:xfrm>
            <a:off x="10327966" y="141882"/>
            <a:ext cx="1655428" cy="973123"/>
          </a:xfrm>
          <a:prstGeom prst="rect">
            <a:avLst/>
          </a:prstGeom>
        </p:spPr>
      </p:pic>
      <p:pic>
        <p:nvPicPr>
          <p:cNvPr id="9" name="Espace réservé du contenu 8">
            <a:extLst>
              <a:ext uri="{FF2B5EF4-FFF2-40B4-BE49-F238E27FC236}">
                <a16:creationId xmlns:a16="http://schemas.microsoft.com/office/drawing/2014/main" id="{99D671D6-2EA6-695A-C93C-A45269AAC541}"/>
              </a:ext>
            </a:extLst>
          </p:cNvPr>
          <p:cNvPicPr>
            <a:picLocks noGrp="1" noChangeAspect="1"/>
          </p:cNvPicPr>
          <p:nvPr>
            <p:ph sz="half" idx="2"/>
          </p:nvPr>
        </p:nvPicPr>
        <p:blipFill>
          <a:blip r:embed="rId3"/>
          <a:stretch>
            <a:fillRect/>
          </a:stretch>
        </p:blipFill>
        <p:spPr>
          <a:xfrm>
            <a:off x="234597" y="2873148"/>
            <a:ext cx="4312129" cy="3378200"/>
          </a:xfrm>
          <a:prstGeom prst="rect">
            <a:avLst/>
          </a:prstGeom>
        </p:spPr>
      </p:pic>
      <p:pic>
        <p:nvPicPr>
          <p:cNvPr id="11" name="Image 10">
            <a:extLst>
              <a:ext uri="{FF2B5EF4-FFF2-40B4-BE49-F238E27FC236}">
                <a16:creationId xmlns:a16="http://schemas.microsoft.com/office/drawing/2014/main" id="{5B06727D-9BBF-16B0-3224-F9532A00C302}"/>
              </a:ext>
            </a:extLst>
          </p:cNvPr>
          <p:cNvPicPr>
            <a:picLocks noChangeAspect="1"/>
          </p:cNvPicPr>
          <p:nvPr/>
        </p:nvPicPr>
        <p:blipFill>
          <a:blip r:embed="rId4"/>
          <a:stretch>
            <a:fillRect/>
          </a:stretch>
        </p:blipFill>
        <p:spPr>
          <a:xfrm>
            <a:off x="4676177" y="4039734"/>
            <a:ext cx="6912689" cy="1600235"/>
          </a:xfrm>
          <a:prstGeom prst="rect">
            <a:avLst/>
          </a:prstGeom>
        </p:spPr>
      </p:pic>
      <p:sp>
        <p:nvSpPr>
          <p:cNvPr id="13" name="ZoneTexte 12">
            <a:extLst>
              <a:ext uri="{FF2B5EF4-FFF2-40B4-BE49-F238E27FC236}">
                <a16:creationId xmlns:a16="http://schemas.microsoft.com/office/drawing/2014/main" id="{DB17778E-EB9E-4005-6192-5EFEE076FB18}"/>
              </a:ext>
            </a:extLst>
          </p:cNvPr>
          <p:cNvSpPr txBox="1"/>
          <p:nvPr/>
        </p:nvSpPr>
        <p:spPr>
          <a:xfrm>
            <a:off x="4676177" y="3552762"/>
            <a:ext cx="6096000" cy="369332"/>
          </a:xfrm>
          <a:prstGeom prst="rect">
            <a:avLst/>
          </a:prstGeom>
          <a:noFill/>
        </p:spPr>
        <p:txBody>
          <a:bodyPr wrap="square">
            <a:spAutoFit/>
          </a:bodyPr>
          <a:lstStyle/>
          <a:p>
            <a:r>
              <a:rPr lang="fr-FR" dirty="0"/>
              <a:t>Métrique de performance du modèle</a:t>
            </a:r>
          </a:p>
        </p:txBody>
      </p:sp>
      <p:sp>
        <p:nvSpPr>
          <p:cNvPr id="16" name="ZoneTexte 15">
            <a:extLst>
              <a:ext uri="{FF2B5EF4-FFF2-40B4-BE49-F238E27FC236}">
                <a16:creationId xmlns:a16="http://schemas.microsoft.com/office/drawing/2014/main" id="{B028DA71-E026-A686-C1F8-00A5EEE61962}"/>
              </a:ext>
            </a:extLst>
          </p:cNvPr>
          <p:cNvSpPr txBox="1"/>
          <p:nvPr/>
        </p:nvSpPr>
        <p:spPr>
          <a:xfrm>
            <a:off x="-377372" y="2078410"/>
            <a:ext cx="6096000" cy="646331"/>
          </a:xfrm>
          <a:prstGeom prst="rect">
            <a:avLst/>
          </a:prstGeom>
          <a:noFill/>
        </p:spPr>
        <p:txBody>
          <a:bodyPr wrap="square">
            <a:spAutoFit/>
          </a:bodyPr>
          <a:lstStyle/>
          <a:p>
            <a:pPr algn="ctr"/>
            <a:r>
              <a:rPr lang="fr-FR" dirty="0"/>
              <a:t>Évaluation de performance</a:t>
            </a:r>
          </a:p>
          <a:p>
            <a:pPr algn="ctr"/>
            <a:r>
              <a:rPr lang="fr-FR" dirty="0"/>
              <a:t>ROC = </a:t>
            </a:r>
            <a:r>
              <a:rPr lang="fr-FR" dirty="0" err="1"/>
              <a:t>Receiver</a:t>
            </a:r>
            <a:r>
              <a:rPr lang="fr-FR" dirty="0"/>
              <a:t> Operating </a:t>
            </a:r>
            <a:r>
              <a:rPr lang="fr-FR" dirty="0" err="1"/>
              <a:t>Characteristic</a:t>
            </a:r>
            <a:endParaRPr lang="fr-FR" dirty="0"/>
          </a:p>
        </p:txBody>
      </p:sp>
    </p:spTree>
    <p:extLst>
      <p:ext uri="{BB962C8B-B14F-4D97-AF65-F5344CB8AC3E}">
        <p14:creationId xmlns:p14="http://schemas.microsoft.com/office/powerpoint/2010/main" val="1321244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p:txBody>
          <a:bodyPr/>
          <a:lstStyle/>
          <a:p>
            <a:r>
              <a:rPr lang="fr-FR" dirty="0"/>
              <a:t>CHOIX DU MODÈLE FINAL</a:t>
            </a:r>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7" name="Espace réservé pour une image  6">
            <a:extLst>
              <a:ext uri="{FF2B5EF4-FFF2-40B4-BE49-F238E27FC236}">
                <a16:creationId xmlns:a16="http://schemas.microsoft.com/office/drawing/2014/main" id="{2F241DFD-E9B9-4531-8C93-D2CD5E14F3E5}"/>
              </a:ext>
            </a:extLst>
          </p:cNvPr>
          <p:cNvPicPr>
            <a:picLocks noGrp="1" noChangeAspect="1"/>
          </p:cNvPicPr>
          <p:nvPr>
            <p:ph type="pic" idx="1"/>
          </p:nvPr>
        </p:nvPicPr>
        <p:blipFill>
          <a:blip r:embed="rId3"/>
          <a:srcRect t="14167" b="14167"/>
          <a:stretch>
            <a:fillRect/>
          </a:stretch>
        </p:blipFill>
        <p:spPr/>
      </p:pic>
    </p:spTree>
    <p:extLst>
      <p:ext uri="{BB962C8B-B14F-4D97-AF65-F5344CB8AC3E}">
        <p14:creationId xmlns:p14="http://schemas.microsoft.com/office/powerpoint/2010/main" val="1995945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2C21718C-366E-4E22-BF41-9AE0C58A6CE2}"/>
              </a:ext>
            </a:extLst>
          </p:cNvPr>
          <p:cNvSpPr>
            <a:spLocks noGrp="1"/>
          </p:cNvSpPr>
          <p:nvPr>
            <p:ph type="title"/>
          </p:nvPr>
        </p:nvSpPr>
        <p:spPr/>
        <p:txBody>
          <a:bodyPr/>
          <a:lstStyle/>
          <a:p>
            <a:r>
              <a:rPr lang="fr-FR" dirty="0"/>
              <a:t>Machine learning :</a:t>
            </a:r>
            <a:br>
              <a:rPr lang="fr-FR" dirty="0"/>
            </a:br>
            <a:r>
              <a:rPr lang="fr-FR" dirty="0"/>
              <a:t>Choix de régression logistique</a:t>
            </a:r>
          </a:p>
        </p:txBody>
      </p:sp>
      <p:sp>
        <p:nvSpPr>
          <p:cNvPr id="10" name="Espace réservé du texte 9">
            <a:extLst>
              <a:ext uri="{FF2B5EF4-FFF2-40B4-BE49-F238E27FC236}">
                <a16:creationId xmlns:a16="http://schemas.microsoft.com/office/drawing/2014/main" id="{50B6A513-4FEA-4B9F-802F-8C2900BCDC5D}"/>
              </a:ext>
            </a:extLst>
          </p:cNvPr>
          <p:cNvSpPr>
            <a:spLocks noGrp="1"/>
          </p:cNvSpPr>
          <p:nvPr>
            <p:ph type="body" idx="1"/>
          </p:nvPr>
        </p:nvSpPr>
        <p:spPr/>
        <p:txBody>
          <a:bodyPr>
            <a:normAutofit/>
          </a:bodyPr>
          <a:lstStyle/>
          <a:p>
            <a:r>
              <a:rPr lang="fr-FR" dirty="0"/>
              <a:t>Comparaison des performances</a:t>
            </a:r>
          </a:p>
        </p:txBody>
      </p:sp>
      <p:pic>
        <p:nvPicPr>
          <p:cNvPr id="4" name="Image 3">
            <a:extLst>
              <a:ext uri="{FF2B5EF4-FFF2-40B4-BE49-F238E27FC236}">
                <a16:creationId xmlns:a16="http://schemas.microsoft.com/office/drawing/2014/main" id="{A0A48FB7-906B-45C6-BEF1-80248A06B502}"/>
              </a:ext>
            </a:extLst>
          </p:cNvPr>
          <p:cNvPicPr/>
          <p:nvPr/>
        </p:nvPicPr>
        <p:blipFill>
          <a:blip r:embed="rId2"/>
          <a:stretch>
            <a:fillRect/>
          </a:stretch>
        </p:blipFill>
        <p:spPr>
          <a:xfrm>
            <a:off x="10327966" y="141882"/>
            <a:ext cx="1655428" cy="973123"/>
          </a:xfrm>
          <a:prstGeom prst="rect">
            <a:avLst/>
          </a:prstGeom>
        </p:spPr>
      </p:pic>
      <p:pic>
        <p:nvPicPr>
          <p:cNvPr id="7" name="Image 6">
            <a:extLst>
              <a:ext uri="{FF2B5EF4-FFF2-40B4-BE49-F238E27FC236}">
                <a16:creationId xmlns:a16="http://schemas.microsoft.com/office/drawing/2014/main" id="{9E6B0364-DB22-FB0B-B623-D6FF62D27BF7}"/>
              </a:ext>
            </a:extLst>
          </p:cNvPr>
          <p:cNvPicPr>
            <a:picLocks noChangeAspect="1"/>
          </p:cNvPicPr>
          <p:nvPr/>
        </p:nvPicPr>
        <p:blipFill>
          <a:blip r:embed="rId3"/>
          <a:stretch>
            <a:fillRect/>
          </a:stretch>
        </p:blipFill>
        <p:spPr>
          <a:xfrm>
            <a:off x="1035305" y="2423886"/>
            <a:ext cx="4999735" cy="3805036"/>
          </a:xfrm>
          <a:prstGeom prst="rect">
            <a:avLst/>
          </a:prstGeom>
        </p:spPr>
      </p:pic>
      <p:sp>
        <p:nvSpPr>
          <p:cNvPr id="11" name="ZoneTexte 10">
            <a:extLst>
              <a:ext uri="{FF2B5EF4-FFF2-40B4-BE49-F238E27FC236}">
                <a16:creationId xmlns:a16="http://schemas.microsoft.com/office/drawing/2014/main" id="{F44923CC-5D27-F186-8160-135360E4B2DE}"/>
              </a:ext>
            </a:extLst>
          </p:cNvPr>
          <p:cNvSpPr txBox="1"/>
          <p:nvPr/>
        </p:nvSpPr>
        <p:spPr>
          <a:xfrm>
            <a:off x="6241145" y="5431749"/>
            <a:ext cx="6096000" cy="646331"/>
          </a:xfrm>
          <a:prstGeom prst="rect">
            <a:avLst/>
          </a:prstGeom>
          <a:noFill/>
        </p:spPr>
        <p:txBody>
          <a:bodyPr wrap="square">
            <a:spAutoFit/>
          </a:bodyPr>
          <a:lstStyle/>
          <a:p>
            <a:r>
              <a:rPr lang="fr-FR" dirty="0"/>
              <a:t>Sur le fichier fourni :</a:t>
            </a:r>
          </a:p>
          <a:p>
            <a:r>
              <a:rPr lang="fr-FR" dirty="0"/>
              <a:t> 3 faux billets et 2 vrais billets</a:t>
            </a:r>
          </a:p>
        </p:txBody>
      </p:sp>
      <p:pic>
        <p:nvPicPr>
          <p:cNvPr id="13" name="Image 12">
            <a:extLst>
              <a:ext uri="{FF2B5EF4-FFF2-40B4-BE49-F238E27FC236}">
                <a16:creationId xmlns:a16="http://schemas.microsoft.com/office/drawing/2014/main" id="{81F012C3-1D1A-181D-45AF-5B444E478E99}"/>
              </a:ext>
            </a:extLst>
          </p:cNvPr>
          <p:cNvPicPr>
            <a:picLocks noChangeAspect="1"/>
          </p:cNvPicPr>
          <p:nvPr/>
        </p:nvPicPr>
        <p:blipFill>
          <a:blip r:embed="rId4"/>
          <a:stretch>
            <a:fillRect/>
          </a:stretch>
        </p:blipFill>
        <p:spPr>
          <a:xfrm>
            <a:off x="5836194" y="3160168"/>
            <a:ext cx="5881797" cy="2100642"/>
          </a:xfrm>
          <a:prstGeom prst="rect">
            <a:avLst/>
          </a:prstGeom>
        </p:spPr>
      </p:pic>
    </p:spTree>
    <p:extLst>
      <p:ext uri="{BB962C8B-B14F-4D97-AF65-F5344CB8AC3E}">
        <p14:creationId xmlns:p14="http://schemas.microsoft.com/office/powerpoint/2010/main" val="3403331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69D59-812B-495A-86CB-8A33557E53DE}"/>
              </a:ext>
            </a:extLst>
          </p:cNvPr>
          <p:cNvSpPr>
            <a:spLocks noGrp="1"/>
          </p:cNvSpPr>
          <p:nvPr>
            <p:ph type="title"/>
          </p:nvPr>
        </p:nvSpPr>
        <p:spPr/>
        <p:txBody>
          <a:bodyPr/>
          <a:lstStyle/>
          <a:p>
            <a:r>
              <a:rPr lang="fr-FR" dirty="0"/>
              <a:t>QUESTION ?</a:t>
            </a:r>
          </a:p>
        </p:txBody>
      </p:sp>
      <p:pic>
        <p:nvPicPr>
          <p:cNvPr id="5" name="Image 4">
            <a:extLst>
              <a:ext uri="{FF2B5EF4-FFF2-40B4-BE49-F238E27FC236}">
                <a16:creationId xmlns:a16="http://schemas.microsoft.com/office/drawing/2014/main" id="{C8E9F95D-B589-4216-AB00-6AF84BBDCCA4}"/>
              </a:ext>
            </a:extLst>
          </p:cNvPr>
          <p:cNvPicPr/>
          <p:nvPr/>
        </p:nvPicPr>
        <p:blipFill>
          <a:blip r:embed="rId2"/>
          <a:stretch>
            <a:fillRect/>
          </a:stretch>
        </p:blipFill>
        <p:spPr>
          <a:xfrm>
            <a:off x="10327966" y="141882"/>
            <a:ext cx="1655428" cy="973123"/>
          </a:xfrm>
          <a:prstGeom prst="rect">
            <a:avLst/>
          </a:prstGeom>
        </p:spPr>
      </p:pic>
      <p:pic>
        <p:nvPicPr>
          <p:cNvPr id="8" name="Espace réservé pour une image  7">
            <a:extLst>
              <a:ext uri="{FF2B5EF4-FFF2-40B4-BE49-F238E27FC236}">
                <a16:creationId xmlns:a16="http://schemas.microsoft.com/office/drawing/2014/main" id="{F23142B2-8ED4-4980-BCEA-D4A5E7022CFA}"/>
              </a:ext>
            </a:extLst>
          </p:cNvPr>
          <p:cNvPicPr>
            <a:picLocks noGrp="1" noChangeAspect="1"/>
          </p:cNvPicPr>
          <p:nvPr>
            <p:ph type="pic" idx="1"/>
          </p:nvPr>
        </p:nvPicPr>
        <p:blipFill>
          <a:blip r:embed="rId3"/>
          <a:srcRect t="16581" b="16581"/>
          <a:stretch>
            <a:fillRect/>
          </a:stretch>
        </p:blipFill>
        <p:spPr/>
      </p:pic>
    </p:spTree>
    <p:extLst>
      <p:ext uri="{BB962C8B-B14F-4D97-AF65-F5344CB8AC3E}">
        <p14:creationId xmlns:p14="http://schemas.microsoft.com/office/powerpoint/2010/main" val="1481441586"/>
      </p:ext>
    </p:extLst>
  </p:cSld>
  <p:clrMapOvr>
    <a:masterClrMapping/>
  </p:clrMapOvr>
</p:sld>
</file>

<file path=ppt/theme/theme1.xml><?xml version="1.0" encoding="utf-8"?>
<a:theme xmlns:a="http://schemas.openxmlformats.org/drawingml/2006/main" name="Rétrospective">
  <a:themeElements>
    <a:clrScheme name="Bleu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6859</TotalTime>
  <Words>793</Words>
  <Application>Microsoft Office PowerPoint</Application>
  <PresentationFormat>Grand écran</PresentationFormat>
  <Paragraphs>101</Paragraphs>
  <Slides>21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Calibri</vt:lpstr>
      <vt:lpstr>Calibri Light</vt:lpstr>
      <vt:lpstr>Wingdings</vt:lpstr>
      <vt:lpstr>Rétrospective</vt:lpstr>
      <vt:lpstr>Organisation nationale de lutte contre le faux-monnayage (ONCFM)</vt:lpstr>
      <vt:lpstr>SOMMAIRE</vt:lpstr>
      <vt:lpstr>CONTEXTE</vt:lpstr>
      <vt:lpstr>MODÈLE DE DONNÉES</vt:lpstr>
      <vt:lpstr>ANALYSE DESCRIPTIVE</vt:lpstr>
      <vt:lpstr>Distributions des variables </vt:lpstr>
      <vt:lpstr>RÉGRESSION MULTIPLE</vt:lpstr>
      <vt:lpstr>Analysez nos résultats</vt:lpstr>
      <vt:lpstr>ANALYSE EXPLORATOIRE</vt:lpstr>
      <vt:lpstr>CLASSIFICATION SUPERVISÉE</vt:lpstr>
      <vt:lpstr>RÉGRESSION LOGISTIQUE</vt:lpstr>
      <vt:lpstr>RÉGRESSION LOGISTIQUE</vt:lpstr>
      <vt:lpstr>Analyse des résultats</vt:lpstr>
      <vt:lpstr>CLASSIFICATION NON SUPERVISÉE</vt:lpstr>
      <vt:lpstr>K-MOYENNES (K-MEANS)</vt:lpstr>
      <vt:lpstr>K-MOYENNES (K-MEANS)</vt:lpstr>
      <vt:lpstr>ACP :  Visualisation des clusters K-means</vt:lpstr>
      <vt:lpstr>K-MOYENNES (K-MEANS)</vt:lpstr>
      <vt:lpstr>CHOIX DU MODÈLE FINAL</vt:lpstr>
      <vt:lpstr>Machine learning : Choix de régression logistique</vt:lpstr>
      <vt:lpstr>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Organisation nationale de lutte contre le faux-monnayage (ONCFM).</dc:title>
  <dc:creator>Bocquet Mickael</dc:creator>
  <cp:lastModifiedBy>Nas Aylin</cp:lastModifiedBy>
  <cp:revision>102</cp:revision>
  <dcterms:created xsi:type="dcterms:W3CDTF">2024-04-08T13:51:48Z</dcterms:created>
  <dcterms:modified xsi:type="dcterms:W3CDTF">2025-12-03T09:30:52Z</dcterms:modified>
</cp:coreProperties>
</file>