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11"/>
  </p:notesMasterIdLst>
  <p:sldIdLst>
    <p:sldId id="272" r:id="rId2"/>
    <p:sldId id="274" r:id="rId3"/>
    <p:sldId id="280" r:id="rId4"/>
    <p:sldId id="273" r:id="rId5"/>
    <p:sldId id="275" r:id="rId6"/>
    <p:sldId id="276" r:id="rId7"/>
    <p:sldId id="277" r:id="rId8"/>
    <p:sldId id="278" r:id="rId9"/>
    <p:sldId id="279" r:id="rId10"/>
  </p:sldIdLst>
  <p:sldSz cx="12192000" cy="6858000"/>
  <p:notesSz cx="6858000" cy="9144000"/>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021" autoAdjust="0"/>
    <p:restoredTop sz="94660"/>
  </p:normalViewPr>
  <p:slideViewPr>
    <p:cSldViewPr snapToGrid="0">
      <p:cViewPr varScale="1">
        <p:scale>
          <a:sx n="97" d="100"/>
          <a:sy n="97" d="100"/>
        </p:scale>
        <p:origin x="1110" y="30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fr-FR"/>
          </a:p>
        </p:txBody>
      </p:sp>
      <p:sp>
        <p:nvSpPr>
          <p:cNvPr id="3" name="Espace réservé de la date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2537294-1BC6-47B7-9B5F-E1B312E7FD0D}" type="datetimeFigureOut">
              <a:rPr lang="fr-FR" smtClean="0"/>
              <a:t>16/02/2025</a:t>
            </a:fld>
            <a:endParaRPr lang="fr-FR"/>
          </a:p>
        </p:txBody>
      </p:sp>
      <p:sp>
        <p:nvSpPr>
          <p:cNvPr id="4" name="Espace réservé de l'image des diapositives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fr-FR"/>
          </a:p>
        </p:txBody>
      </p:sp>
      <p:sp>
        <p:nvSpPr>
          <p:cNvPr id="5" name="Espace réservé des not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6" name="Espace réservé du pied de page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fr-FR"/>
          </a:p>
        </p:txBody>
      </p:sp>
      <p:sp>
        <p:nvSpPr>
          <p:cNvPr id="7" name="Espace réservé du numéro de diapositiv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33409A6-C658-439D-B963-2BFDD4363652}" type="slidenum">
              <a:rPr lang="fr-FR" smtClean="0"/>
              <a:t>‹N°›</a:t>
            </a:fld>
            <a:endParaRPr lang="fr-FR"/>
          </a:p>
        </p:txBody>
      </p:sp>
    </p:spTree>
    <p:extLst>
      <p:ext uri="{BB962C8B-B14F-4D97-AF65-F5344CB8AC3E}">
        <p14:creationId xmlns:p14="http://schemas.microsoft.com/office/powerpoint/2010/main" val="214786723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A53E76B-AAB9-491F-8F44-8DAF77C1234A}" type="slidenum">
              <a:rPr kumimoji="0" lang="fr-FR"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a:t>
            </a:fld>
            <a:endParaRPr kumimoji="0" lang="fr-FR"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226982878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B95CA9D1-2AB0-8D9A-2DC7-6ABB8261FF5F}"/>
              </a:ext>
            </a:extLst>
          </p:cNvPr>
          <p:cNvSpPr>
            <a:spLocks noGrp="1"/>
          </p:cNvSpPr>
          <p:nvPr>
            <p:ph type="ctrTitle"/>
          </p:nvPr>
        </p:nvSpPr>
        <p:spPr>
          <a:xfrm>
            <a:off x="1524000" y="1122363"/>
            <a:ext cx="9144000" cy="2387600"/>
          </a:xfrm>
        </p:spPr>
        <p:txBody>
          <a:bodyPr anchor="b"/>
          <a:lstStyle>
            <a:lvl1pPr algn="ctr">
              <a:defRPr sz="6000"/>
            </a:lvl1pPr>
          </a:lstStyle>
          <a:p>
            <a:r>
              <a:rPr lang="fr-FR"/>
              <a:t>Modifiez le style du titre</a:t>
            </a:r>
          </a:p>
        </p:txBody>
      </p:sp>
      <p:sp>
        <p:nvSpPr>
          <p:cNvPr id="3" name="Sous-titre 2">
            <a:extLst>
              <a:ext uri="{FF2B5EF4-FFF2-40B4-BE49-F238E27FC236}">
                <a16:creationId xmlns:a16="http://schemas.microsoft.com/office/drawing/2014/main" id="{1D4DEAD3-A7B2-30D3-FF61-52BAEAB04D9E}"/>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fr-FR"/>
              <a:t>Modifiez le style des sous-titres du masque</a:t>
            </a:r>
          </a:p>
        </p:txBody>
      </p:sp>
      <p:sp>
        <p:nvSpPr>
          <p:cNvPr id="4" name="Espace réservé de la date 3">
            <a:extLst>
              <a:ext uri="{FF2B5EF4-FFF2-40B4-BE49-F238E27FC236}">
                <a16:creationId xmlns:a16="http://schemas.microsoft.com/office/drawing/2014/main" id="{25EA85A8-26F5-B117-70F0-CB150F206398}"/>
              </a:ext>
            </a:extLst>
          </p:cNvPr>
          <p:cNvSpPr>
            <a:spLocks noGrp="1"/>
          </p:cNvSpPr>
          <p:nvPr>
            <p:ph type="dt" sz="half" idx="10"/>
          </p:nvPr>
        </p:nvSpPr>
        <p:spPr/>
        <p:txBody>
          <a:bodyPr/>
          <a:lstStyle/>
          <a:p>
            <a:fld id="{8F7C675A-143B-446E-AB33-EBAB473B5184}" type="datetimeFigureOut">
              <a:rPr lang="fr-FR" smtClean="0"/>
              <a:t>16/02/2025</a:t>
            </a:fld>
            <a:endParaRPr lang="fr-FR"/>
          </a:p>
        </p:txBody>
      </p:sp>
      <p:sp>
        <p:nvSpPr>
          <p:cNvPr id="5" name="Espace réservé du pied de page 4">
            <a:extLst>
              <a:ext uri="{FF2B5EF4-FFF2-40B4-BE49-F238E27FC236}">
                <a16:creationId xmlns:a16="http://schemas.microsoft.com/office/drawing/2014/main" id="{50BBFAE7-AC8E-52BE-E29B-1FD694624CD3}"/>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0C64EB87-65AD-A53F-2AEE-67E01B6B2BB1}"/>
              </a:ext>
            </a:extLst>
          </p:cNvPr>
          <p:cNvSpPr>
            <a:spLocks noGrp="1"/>
          </p:cNvSpPr>
          <p:nvPr>
            <p:ph type="sldNum" sz="quarter" idx="12"/>
          </p:nvPr>
        </p:nvSpPr>
        <p:spPr/>
        <p:txBody>
          <a:bodyPr/>
          <a:lstStyle/>
          <a:p>
            <a:fld id="{1F305741-448F-429A-930D-352E1E468A29}" type="slidenum">
              <a:rPr lang="fr-FR" smtClean="0"/>
              <a:t>‹N°›</a:t>
            </a:fld>
            <a:endParaRPr lang="fr-FR"/>
          </a:p>
        </p:txBody>
      </p:sp>
    </p:spTree>
    <p:extLst>
      <p:ext uri="{BB962C8B-B14F-4D97-AF65-F5344CB8AC3E}">
        <p14:creationId xmlns:p14="http://schemas.microsoft.com/office/powerpoint/2010/main" val="424103194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3FB15751-B736-1116-31C4-D4F741BF1A63}"/>
              </a:ext>
            </a:extLst>
          </p:cNvPr>
          <p:cNvSpPr>
            <a:spLocks noGrp="1"/>
          </p:cNvSpPr>
          <p:nvPr>
            <p:ph type="title"/>
          </p:nvPr>
        </p:nvSpPr>
        <p:spPr/>
        <p:txBody>
          <a:bodyPr/>
          <a:lstStyle/>
          <a:p>
            <a:r>
              <a:rPr lang="fr-FR"/>
              <a:t>Modifiez le style du titre</a:t>
            </a:r>
          </a:p>
        </p:txBody>
      </p:sp>
      <p:sp>
        <p:nvSpPr>
          <p:cNvPr id="3" name="Espace réservé du contenu 2">
            <a:extLst>
              <a:ext uri="{FF2B5EF4-FFF2-40B4-BE49-F238E27FC236}">
                <a16:creationId xmlns:a16="http://schemas.microsoft.com/office/drawing/2014/main" id="{684934C4-60BD-3088-3AAC-219FF3F77104}"/>
              </a:ext>
            </a:extLst>
          </p:cNvPr>
          <p:cNvSpPr>
            <a:spLocks noGrp="1"/>
          </p:cNvSpPr>
          <p:nvPr>
            <p:ph idx="1"/>
          </p:nvPr>
        </p:nvSpPr>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70BF6BF3-3A04-5D70-85A1-747FAF56217A}"/>
              </a:ext>
            </a:extLst>
          </p:cNvPr>
          <p:cNvSpPr>
            <a:spLocks noGrp="1"/>
          </p:cNvSpPr>
          <p:nvPr>
            <p:ph type="dt" sz="half" idx="10"/>
          </p:nvPr>
        </p:nvSpPr>
        <p:spPr/>
        <p:txBody>
          <a:bodyPr/>
          <a:lstStyle/>
          <a:p>
            <a:fld id="{8F7C675A-143B-446E-AB33-EBAB473B5184}" type="datetimeFigureOut">
              <a:rPr lang="fr-FR" smtClean="0"/>
              <a:t>16/02/2025</a:t>
            </a:fld>
            <a:endParaRPr lang="fr-FR"/>
          </a:p>
        </p:txBody>
      </p:sp>
      <p:sp>
        <p:nvSpPr>
          <p:cNvPr id="5" name="Espace réservé du pied de page 4">
            <a:extLst>
              <a:ext uri="{FF2B5EF4-FFF2-40B4-BE49-F238E27FC236}">
                <a16:creationId xmlns:a16="http://schemas.microsoft.com/office/drawing/2014/main" id="{F9FCDEAC-51A7-7978-D190-F33B4727DD89}"/>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D101A05E-E676-A418-B931-3A708256EDCD}"/>
              </a:ext>
            </a:extLst>
          </p:cNvPr>
          <p:cNvSpPr>
            <a:spLocks noGrp="1"/>
          </p:cNvSpPr>
          <p:nvPr>
            <p:ph type="sldNum" sz="quarter" idx="12"/>
          </p:nvPr>
        </p:nvSpPr>
        <p:spPr/>
        <p:txBody>
          <a:bodyPr/>
          <a:lstStyle/>
          <a:p>
            <a:fld id="{1F305741-448F-429A-930D-352E1E468A29}" type="slidenum">
              <a:rPr lang="fr-FR" smtClean="0"/>
              <a:t>‹N°›</a:t>
            </a:fld>
            <a:endParaRPr lang="fr-FR"/>
          </a:p>
        </p:txBody>
      </p:sp>
    </p:spTree>
    <p:extLst>
      <p:ext uri="{BB962C8B-B14F-4D97-AF65-F5344CB8AC3E}">
        <p14:creationId xmlns:p14="http://schemas.microsoft.com/office/powerpoint/2010/main" val="238030597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4534E731-6B89-B223-31B3-8DA9CAF6E5C2}"/>
              </a:ext>
            </a:extLst>
          </p:cNvPr>
          <p:cNvSpPr>
            <a:spLocks noGrp="1"/>
          </p:cNvSpPr>
          <p:nvPr>
            <p:ph type="title"/>
          </p:nvPr>
        </p:nvSpPr>
        <p:spPr>
          <a:xfrm>
            <a:off x="831850" y="1709738"/>
            <a:ext cx="10515600" cy="2852737"/>
          </a:xfrm>
        </p:spPr>
        <p:txBody>
          <a:bodyPr anchor="b"/>
          <a:lstStyle>
            <a:lvl1pPr>
              <a:defRPr sz="6000"/>
            </a:lvl1pPr>
          </a:lstStyle>
          <a:p>
            <a:r>
              <a:rPr lang="fr-FR"/>
              <a:t>Modifiez le style du titre</a:t>
            </a:r>
          </a:p>
        </p:txBody>
      </p:sp>
      <p:sp>
        <p:nvSpPr>
          <p:cNvPr id="3" name="Espace réservé du texte 2">
            <a:extLst>
              <a:ext uri="{FF2B5EF4-FFF2-40B4-BE49-F238E27FC236}">
                <a16:creationId xmlns:a16="http://schemas.microsoft.com/office/drawing/2014/main" id="{34FC56FC-A1D8-294F-17E3-0AB6BBC251A1}"/>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fr-FR"/>
              <a:t>Cliquez pour modifier les styles du texte du masque</a:t>
            </a:r>
          </a:p>
        </p:txBody>
      </p:sp>
      <p:sp>
        <p:nvSpPr>
          <p:cNvPr id="4" name="Espace réservé de la date 3">
            <a:extLst>
              <a:ext uri="{FF2B5EF4-FFF2-40B4-BE49-F238E27FC236}">
                <a16:creationId xmlns:a16="http://schemas.microsoft.com/office/drawing/2014/main" id="{87F6483A-803F-C126-2B48-85EB5FAE2F75}"/>
              </a:ext>
            </a:extLst>
          </p:cNvPr>
          <p:cNvSpPr>
            <a:spLocks noGrp="1"/>
          </p:cNvSpPr>
          <p:nvPr>
            <p:ph type="dt" sz="half" idx="10"/>
          </p:nvPr>
        </p:nvSpPr>
        <p:spPr/>
        <p:txBody>
          <a:bodyPr/>
          <a:lstStyle/>
          <a:p>
            <a:fld id="{8F7C675A-143B-446E-AB33-EBAB473B5184}" type="datetimeFigureOut">
              <a:rPr lang="fr-FR" smtClean="0"/>
              <a:t>16/02/2025</a:t>
            </a:fld>
            <a:endParaRPr lang="fr-FR"/>
          </a:p>
        </p:txBody>
      </p:sp>
      <p:sp>
        <p:nvSpPr>
          <p:cNvPr id="5" name="Espace réservé du pied de page 4">
            <a:extLst>
              <a:ext uri="{FF2B5EF4-FFF2-40B4-BE49-F238E27FC236}">
                <a16:creationId xmlns:a16="http://schemas.microsoft.com/office/drawing/2014/main" id="{509E60D7-4E95-58B7-9A3C-03A7009F51D6}"/>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5C518FFF-69F8-75B5-1BE2-2C0A2165FD14}"/>
              </a:ext>
            </a:extLst>
          </p:cNvPr>
          <p:cNvSpPr>
            <a:spLocks noGrp="1"/>
          </p:cNvSpPr>
          <p:nvPr>
            <p:ph type="sldNum" sz="quarter" idx="12"/>
          </p:nvPr>
        </p:nvSpPr>
        <p:spPr/>
        <p:txBody>
          <a:bodyPr/>
          <a:lstStyle/>
          <a:p>
            <a:fld id="{1F305741-448F-429A-930D-352E1E468A29}" type="slidenum">
              <a:rPr lang="fr-FR" smtClean="0"/>
              <a:t>‹N°›</a:t>
            </a:fld>
            <a:endParaRPr lang="fr-FR"/>
          </a:p>
        </p:txBody>
      </p:sp>
    </p:spTree>
    <p:extLst>
      <p:ext uri="{BB962C8B-B14F-4D97-AF65-F5344CB8AC3E}">
        <p14:creationId xmlns:p14="http://schemas.microsoft.com/office/powerpoint/2010/main" val="33740056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691468C5-3F83-8A4F-AFF6-8B365F69C1BC}"/>
              </a:ext>
            </a:extLst>
          </p:cNvPr>
          <p:cNvSpPr>
            <a:spLocks noGrp="1"/>
          </p:cNvSpPr>
          <p:nvPr>
            <p:ph type="title"/>
          </p:nvPr>
        </p:nvSpPr>
        <p:spPr/>
        <p:txBody>
          <a:bodyPr/>
          <a:lstStyle/>
          <a:p>
            <a:r>
              <a:rPr lang="fr-FR"/>
              <a:t>Modifiez le style du titre</a:t>
            </a:r>
          </a:p>
        </p:txBody>
      </p:sp>
      <p:sp>
        <p:nvSpPr>
          <p:cNvPr id="3" name="Espace réservé du contenu 2">
            <a:extLst>
              <a:ext uri="{FF2B5EF4-FFF2-40B4-BE49-F238E27FC236}">
                <a16:creationId xmlns:a16="http://schemas.microsoft.com/office/drawing/2014/main" id="{248FE490-23D8-B367-5887-3403D2453DCF}"/>
              </a:ext>
            </a:extLst>
          </p:cNvPr>
          <p:cNvSpPr>
            <a:spLocks noGrp="1"/>
          </p:cNvSpPr>
          <p:nvPr>
            <p:ph sz="half" idx="1"/>
          </p:nvPr>
        </p:nvSpPr>
        <p:spPr>
          <a:xfrm>
            <a:off x="838200" y="1825625"/>
            <a:ext cx="5181600" cy="435133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contenu 3">
            <a:extLst>
              <a:ext uri="{FF2B5EF4-FFF2-40B4-BE49-F238E27FC236}">
                <a16:creationId xmlns:a16="http://schemas.microsoft.com/office/drawing/2014/main" id="{D5103460-B798-0510-CA24-C6CCD6577435}"/>
              </a:ext>
            </a:extLst>
          </p:cNvPr>
          <p:cNvSpPr>
            <a:spLocks noGrp="1"/>
          </p:cNvSpPr>
          <p:nvPr>
            <p:ph sz="half" idx="2"/>
          </p:nvPr>
        </p:nvSpPr>
        <p:spPr>
          <a:xfrm>
            <a:off x="6172200" y="1825625"/>
            <a:ext cx="5181600" cy="435133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e la date 4">
            <a:extLst>
              <a:ext uri="{FF2B5EF4-FFF2-40B4-BE49-F238E27FC236}">
                <a16:creationId xmlns:a16="http://schemas.microsoft.com/office/drawing/2014/main" id="{9A062060-BB3B-77CF-4789-0F6CD5ECFBBF}"/>
              </a:ext>
            </a:extLst>
          </p:cNvPr>
          <p:cNvSpPr>
            <a:spLocks noGrp="1"/>
          </p:cNvSpPr>
          <p:nvPr>
            <p:ph type="dt" sz="half" idx="10"/>
          </p:nvPr>
        </p:nvSpPr>
        <p:spPr/>
        <p:txBody>
          <a:bodyPr/>
          <a:lstStyle/>
          <a:p>
            <a:fld id="{8F7C675A-143B-446E-AB33-EBAB473B5184}" type="datetimeFigureOut">
              <a:rPr lang="fr-FR" smtClean="0"/>
              <a:t>16/02/2025</a:t>
            </a:fld>
            <a:endParaRPr lang="fr-FR"/>
          </a:p>
        </p:txBody>
      </p:sp>
      <p:sp>
        <p:nvSpPr>
          <p:cNvPr id="6" name="Espace réservé du pied de page 5">
            <a:extLst>
              <a:ext uri="{FF2B5EF4-FFF2-40B4-BE49-F238E27FC236}">
                <a16:creationId xmlns:a16="http://schemas.microsoft.com/office/drawing/2014/main" id="{2D75A866-EB46-D285-3FA5-F24B7B5CC336}"/>
              </a:ext>
            </a:extLst>
          </p:cNvPr>
          <p:cNvSpPr>
            <a:spLocks noGrp="1"/>
          </p:cNvSpPr>
          <p:nvPr>
            <p:ph type="ftr" sz="quarter" idx="11"/>
          </p:nvPr>
        </p:nvSpPr>
        <p:spPr/>
        <p:txBody>
          <a:bodyPr/>
          <a:lstStyle/>
          <a:p>
            <a:endParaRPr lang="fr-FR"/>
          </a:p>
        </p:txBody>
      </p:sp>
      <p:sp>
        <p:nvSpPr>
          <p:cNvPr id="7" name="Espace réservé du numéro de diapositive 6">
            <a:extLst>
              <a:ext uri="{FF2B5EF4-FFF2-40B4-BE49-F238E27FC236}">
                <a16:creationId xmlns:a16="http://schemas.microsoft.com/office/drawing/2014/main" id="{442DE619-07D2-8613-5B12-EDDB5E02B006}"/>
              </a:ext>
            </a:extLst>
          </p:cNvPr>
          <p:cNvSpPr>
            <a:spLocks noGrp="1"/>
          </p:cNvSpPr>
          <p:nvPr>
            <p:ph type="sldNum" sz="quarter" idx="12"/>
          </p:nvPr>
        </p:nvSpPr>
        <p:spPr/>
        <p:txBody>
          <a:bodyPr/>
          <a:lstStyle/>
          <a:p>
            <a:fld id="{1F305741-448F-429A-930D-352E1E468A29}" type="slidenum">
              <a:rPr lang="fr-FR" smtClean="0"/>
              <a:t>‹N°›</a:t>
            </a:fld>
            <a:endParaRPr lang="fr-FR"/>
          </a:p>
        </p:txBody>
      </p:sp>
    </p:spTree>
    <p:extLst>
      <p:ext uri="{BB962C8B-B14F-4D97-AF65-F5344CB8AC3E}">
        <p14:creationId xmlns:p14="http://schemas.microsoft.com/office/powerpoint/2010/main" val="189838775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657A11F3-124D-8B7B-4DA7-6D34D58645F5}"/>
              </a:ext>
            </a:extLst>
          </p:cNvPr>
          <p:cNvSpPr>
            <a:spLocks noGrp="1"/>
          </p:cNvSpPr>
          <p:nvPr>
            <p:ph type="title"/>
          </p:nvPr>
        </p:nvSpPr>
        <p:spPr>
          <a:xfrm>
            <a:off x="839788" y="365125"/>
            <a:ext cx="10515600" cy="1325563"/>
          </a:xfrm>
        </p:spPr>
        <p:txBody>
          <a:bodyPr/>
          <a:lstStyle/>
          <a:p>
            <a:r>
              <a:rPr lang="fr-FR"/>
              <a:t>Modifiez le style du titre</a:t>
            </a:r>
          </a:p>
        </p:txBody>
      </p:sp>
      <p:sp>
        <p:nvSpPr>
          <p:cNvPr id="3" name="Espace réservé du texte 2">
            <a:extLst>
              <a:ext uri="{FF2B5EF4-FFF2-40B4-BE49-F238E27FC236}">
                <a16:creationId xmlns:a16="http://schemas.microsoft.com/office/drawing/2014/main" id="{30132875-E917-F8E3-5AA3-574F6B74E8F8}"/>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4" name="Espace réservé du contenu 3">
            <a:extLst>
              <a:ext uri="{FF2B5EF4-FFF2-40B4-BE49-F238E27FC236}">
                <a16:creationId xmlns:a16="http://schemas.microsoft.com/office/drawing/2014/main" id="{24D1877C-CF88-3FF3-093F-4614A323CF24}"/>
              </a:ext>
            </a:extLst>
          </p:cNvPr>
          <p:cNvSpPr>
            <a:spLocks noGrp="1"/>
          </p:cNvSpPr>
          <p:nvPr>
            <p:ph sz="half" idx="2"/>
          </p:nvPr>
        </p:nvSpPr>
        <p:spPr>
          <a:xfrm>
            <a:off x="839788" y="2505075"/>
            <a:ext cx="5157787" cy="368458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u texte 4">
            <a:extLst>
              <a:ext uri="{FF2B5EF4-FFF2-40B4-BE49-F238E27FC236}">
                <a16:creationId xmlns:a16="http://schemas.microsoft.com/office/drawing/2014/main" id="{A4C22E12-FB2F-0EBD-363D-56723B52FD3E}"/>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6" name="Espace réservé du contenu 5">
            <a:extLst>
              <a:ext uri="{FF2B5EF4-FFF2-40B4-BE49-F238E27FC236}">
                <a16:creationId xmlns:a16="http://schemas.microsoft.com/office/drawing/2014/main" id="{BA7F156A-BDEF-5A3B-252B-C53F6561190B}"/>
              </a:ext>
            </a:extLst>
          </p:cNvPr>
          <p:cNvSpPr>
            <a:spLocks noGrp="1"/>
          </p:cNvSpPr>
          <p:nvPr>
            <p:ph sz="quarter" idx="4"/>
          </p:nvPr>
        </p:nvSpPr>
        <p:spPr>
          <a:xfrm>
            <a:off x="6172200" y="2505075"/>
            <a:ext cx="5183188" cy="368458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7" name="Espace réservé de la date 6">
            <a:extLst>
              <a:ext uri="{FF2B5EF4-FFF2-40B4-BE49-F238E27FC236}">
                <a16:creationId xmlns:a16="http://schemas.microsoft.com/office/drawing/2014/main" id="{87AF1402-B1B1-C9E1-2C70-D31352BD69DE}"/>
              </a:ext>
            </a:extLst>
          </p:cNvPr>
          <p:cNvSpPr>
            <a:spLocks noGrp="1"/>
          </p:cNvSpPr>
          <p:nvPr>
            <p:ph type="dt" sz="half" idx="10"/>
          </p:nvPr>
        </p:nvSpPr>
        <p:spPr/>
        <p:txBody>
          <a:bodyPr/>
          <a:lstStyle/>
          <a:p>
            <a:fld id="{8F7C675A-143B-446E-AB33-EBAB473B5184}" type="datetimeFigureOut">
              <a:rPr lang="fr-FR" smtClean="0"/>
              <a:t>16/02/2025</a:t>
            </a:fld>
            <a:endParaRPr lang="fr-FR"/>
          </a:p>
        </p:txBody>
      </p:sp>
      <p:sp>
        <p:nvSpPr>
          <p:cNvPr id="8" name="Espace réservé du pied de page 7">
            <a:extLst>
              <a:ext uri="{FF2B5EF4-FFF2-40B4-BE49-F238E27FC236}">
                <a16:creationId xmlns:a16="http://schemas.microsoft.com/office/drawing/2014/main" id="{2302159B-448F-9F9A-A0E7-110ACE08C6C0}"/>
              </a:ext>
            </a:extLst>
          </p:cNvPr>
          <p:cNvSpPr>
            <a:spLocks noGrp="1"/>
          </p:cNvSpPr>
          <p:nvPr>
            <p:ph type="ftr" sz="quarter" idx="11"/>
          </p:nvPr>
        </p:nvSpPr>
        <p:spPr/>
        <p:txBody>
          <a:bodyPr/>
          <a:lstStyle/>
          <a:p>
            <a:endParaRPr lang="fr-FR"/>
          </a:p>
        </p:txBody>
      </p:sp>
      <p:sp>
        <p:nvSpPr>
          <p:cNvPr id="9" name="Espace réservé du numéro de diapositive 8">
            <a:extLst>
              <a:ext uri="{FF2B5EF4-FFF2-40B4-BE49-F238E27FC236}">
                <a16:creationId xmlns:a16="http://schemas.microsoft.com/office/drawing/2014/main" id="{8FA0FF33-3A69-5656-F76F-9426A497E419}"/>
              </a:ext>
            </a:extLst>
          </p:cNvPr>
          <p:cNvSpPr>
            <a:spLocks noGrp="1"/>
          </p:cNvSpPr>
          <p:nvPr>
            <p:ph type="sldNum" sz="quarter" idx="12"/>
          </p:nvPr>
        </p:nvSpPr>
        <p:spPr/>
        <p:txBody>
          <a:bodyPr/>
          <a:lstStyle/>
          <a:p>
            <a:fld id="{1F305741-448F-429A-930D-352E1E468A29}" type="slidenum">
              <a:rPr lang="fr-FR" smtClean="0"/>
              <a:t>‹N°›</a:t>
            </a:fld>
            <a:endParaRPr lang="fr-FR"/>
          </a:p>
        </p:txBody>
      </p:sp>
    </p:spTree>
    <p:extLst>
      <p:ext uri="{BB962C8B-B14F-4D97-AF65-F5344CB8AC3E}">
        <p14:creationId xmlns:p14="http://schemas.microsoft.com/office/powerpoint/2010/main" val="128318850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660B5F6C-BDC6-C48D-6725-C0DE9B8AE82D}"/>
              </a:ext>
            </a:extLst>
          </p:cNvPr>
          <p:cNvSpPr>
            <a:spLocks noGrp="1"/>
          </p:cNvSpPr>
          <p:nvPr>
            <p:ph type="title"/>
          </p:nvPr>
        </p:nvSpPr>
        <p:spPr/>
        <p:txBody>
          <a:bodyPr/>
          <a:lstStyle/>
          <a:p>
            <a:r>
              <a:rPr lang="fr-FR"/>
              <a:t>Modifiez le style du titre</a:t>
            </a:r>
          </a:p>
        </p:txBody>
      </p:sp>
      <p:sp>
        <p:nvSpPr>
          <p:cNvPr id="3" name="Espace réservé de la date 2">
            <a:extLst>
              <a:ext uri="{FF2B5EF4-FFF2-40B4-BE49-F238E27FC236}">
                <a16:creationId xmlns:a16="http://schemas.microsoft.com/office/drawing/2014/main" id="{9DF4F356-09D8-395C-4B5F-4545C30A4CE1}"/>
              </a:ext>
            </a:extLst>
          </p:cNvPr>
          <p:cNvSpPr>
            <a:spLocks noGrp="1"/>
          </p:cNvSpPr>
          <p:nvPr>
            <p:ph type="dt" sz="half" idx="10"/>
          </p:nvPr>
        </p:nvSpPr>
        <p:spPr/>
        <p:txBody>
          <a:bodyPr/>
          <a:lstStyle/>
          <a:p>
            <a:fld id="{8F7C675A-143B-446E-AB33-EBAB473B5184}" type="datetimeFigureOut">
              <a:rPr lang="fr-FR" smtClean="0"/>
              <a:t>16/02/2025</a:t>
            </a:fld>
            <a:endParaRPr lang="fr-FR"/>
          </a:p>
        </p:txBody>
      </p:sp>
      <p:sp>
        <p:nvSpPr>
          <p:cNvPr id="4" name="Espace réservé du pied de page 3">
            <a:extLst>
              <a:ext uri="{FF2B5EF4-FFF2-40B4-BE49-F238E27FC236}">
                <a16:creationId xmlns:a16="http://schemas.microsoft.com/office/drawing/2014/main" id="{80F27BF7-342C-07AF-88ED-8AB8EB8B2F43}"/>
              </a:ext>
            </a:extLst>
          </p:cNvPr>
          <p:cNvSpPr>
            <a:spLocks noGrp="1"/>
          </p:cNvSpPr>
          <p:nvPr>
            <p:ph type="ftr" sz="quarter" idx="11"/>
          </p:nvPr>
        </p:nvSpPr>
        <p:spPr/>
        <p:txBody>
          <a:bodyPr/>
          <a:lstStyle/>
          <a:p>
            <a:endParaRPr lang="fr-FR"/>
          </a:p>
        </p:txBody>
      </p:sp>
      <p:sp>
        <p:nvSpPr>
          <p:cNvPr id="5" name="Espace réservé du numéro de diapositive 4">
            <a:extLst>
              <a:ext uri="{FF2B5EF4-FFF2-40B4-BE49-F238E27FC236}">
                <a16:creationId xmlns:a16="http://schemas.microsoft.com/office/drawing/2014/main" id="{B5827A44-F37A-A17C-8C30-110D44C3817A}"/>
              </a:ext>
            </a:extLst>
          </p:cNvPr>
          <p:cNvSpPr>
            <a:spLocks noGrp="1"/>
          </p:cNvSpPr>
          <p:nvPr>
            <p:ph type="sldNum" sz="quarter" idx="12"/>
          </p:nvPr>
        </p:nvSpPr>
        <p:spPr/>
        <p:txBody>
          <a:bodyPr/>
          <a:lstStyle/>
          <a:p>
            <a:fld id="{1F305741-448F-429A-930D-352E1E468A29}" type="slidenum">
              <a:rPr lang="fr-FR" smtClean="0"/>
              <a:t>‹N°›</a:t>
            </a:fld>
            <a:endParaRPr lang="fr-FR"/>
          </a:p>
        </p:txBody>
      </p:sp>
    </p:spTree>
    <p:extLst>
      <p:ext uri="{BB962C8B-B14F-4D97-AF65-F5344CB8AC3E}">
        <p14:creationId xmlns:p14="http://schemas.microsoft.com/office/powerpoint/2010/main" val="7020741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Espace réservé de la date 1">
            <a:extLst>
              <a:ext uri="{FF2B5EF4-FFF2-40B4-BE49-F238E27FC236}">
                <a16:creationId xmlns:a16="http://schemas.microsoft.com/office/drawing/2014/main" id="{72937AA8-7FF6-1248-1168-9B3A1D6742D4}"/>
              </a:ext>
            </a:extLst>
          </p:cNvPr>
          <p:cNvSpPr>
            <a:spLocks noGrp="1"/>
          </p:cNvSpPr>
          <p:nvPr>
            <p:ph type="dt" sz="half" idx="10"/>
          </p:nvPr>
        </p:nvSpPr>
        <p:spPr/>
        <p:txBody>
          <a:bodyPr/>
          <a:lstStyle/>
          <a:p>
            <a:fld id="{8F7C675A-143B-446E-AB33-EBAB473B5184}" type="datetimeFigureOut">
              <a:rPr lang="fr-FR" smtClean="0"/>
              <a:t>16/02/2025</a:t>
            </a:fld>
            <a:endParaRPr lang="fr-FR"/>
          </a:p>
        </p:txBody>
      </p:sp>
      <p:sp>
        <p:nvSpPr>
          <p:cNvPr id="3" name="Espace réservé du pied de page 2">
            <a:extLst>
              <a:ext uri="{FF2B5EF4-FFF2-40B4-BE49-F238E27FC236}">
                <a16:creationId xmlns:a16="http://schemas.microsoft.com/office/drawing/2014/main" id="{7B0670F1-2867-EDE6-5629-1ACC7B1C8973}"/>
              </a:ext>
            </a:extLst>
          </p:cNvPr>
          <p:cNvSpPr>
            <a:spLocks noGrp="1"/>
          </p:cNvSpPr>
          <p:nvPr>
            <p:ph type="ftr" sz="quarter" idx="11"/>
          </p:nvPr>
        </p:nvSpPr>
        <p:spPr/>
        <p:txBody>
          <a:bodyPr/>
          <a:lstStyle/>
          <a:p>
            <a:endParaRPr lang="fr-FR"/>
          </a:p>
        </p:txBody>
      </p:sp>
      <p:sp>
        <p:nvSpPr>
          <p:cNvPr id="4" name="Espace réservé du numéro de diapositive 3">
            <a:extLst>
              <a:ext uri="{FF2B5EF4-FFF2-40B4-BE49-F238E27FC236}">
                <a16:creationId xmlns:a16="http://schemas.microsoft.com/office/drawing/2014/main" id="{EE390F5F-4872-DEA1-5FCD-3777495ACDF9}"/>
              </a:ext>
            </a:extLst>
          </p:cNvPr>
          <p:cNvSpPr>
            <a:spLocks noGrp="1"/>
          </p:cNvSpPr>
          <p:nvPr>
            <p:ph type="sldNum" sz="quarter" idx="12"/>
          </p:nvPr>
        </p:nvSpPr>
        <p:spPr/>
        <p:txBody>
          <a:bodyPr/>
          <a:lstStyle/>
          <a:p>
            <a:fld id="{1F305741-448F-429A-930D-352E1E468A29}" type="slidenum">
              <a:rPr lang="fr-FR" smtClean="0"/>
              <a:t>‹N°›</a:t>
            </a:fld>
            <a:endParaRPr lang="fr-FR"/>
          </a:p>
        </p:txBody>
      </p:sp>
    </p:spTree>
    <p:extLst>
      <p:ext uri="{BB962C8B-B14F-4D97-AF65-F5344CB8AC3E}">
        <p14:creationId xmlns:p14="http://schemas.microsoft.com/office/powerpoint/2010/main" val="282752290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50A6C4FD-FF8F-4078-EF72-8AEBADDCC30C}"/>
              </a:ext>
            </a:extLst>
          </p:cNvPr>
          <p:cNvSpPr>
            <a:spLocks noGrp="1"/>
          </p:cNvSpPr>
          <p:nvPr>
            <p:ph type="title"/>
          </p:nvPr>
        </p:nvSpPr>
        <p:spPr>
          <a:xfrm>
            <a:off x="839788" y="457200"/>
            <a:ext cx="3932237" cy="1600200"/>
          </a:xfrm>
        </p:spPr>
        <p:txBody>
          <a:bodyPr anchor="b"/>
          <a:lstStyle>
            <a:lvl1pPr>
              <a:defRPr sz="3200"/>
            </a:lvl1pPr>
          </a:lstStyle>
          <a:p>
            <a:r>
              <a:rPr lang="fr-FR"/>
              <a:t>Modifiez le style du titre</a:t>
            </a:r>
          </a:p>
        </p:txBody>
      </p:sp>
      <p:sp>
        <p:nvSpPr>
          <p:cNvPr id="3" name="Espace réservé du contenu 2">
            <a:extLst>
              <a:ext uri="{FF2B5EF4-FFF2-40B4-BE49-F238E27FC236}">
                <a16:creationId xmlns:a16="http://schemas.microsoft.com/office/drawing/2014/main" id="{E207BF73-9833-8272-64E3-D293066C9B5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texte 3">
            <a:extLst>
              <a:ext uri="{FF2B5EF4-FFF2-40B4-BE49-F238E27FC236}">
                <a16:creationId xmlns:a16="http://schemas.microsoft.com/office/drawing/2014/main" id="{B1AE0F4E-1B0F-29CF-36D9-590978708DE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5" name="Espace réservé de la date 4">
            <a:extLst>
              <a:ext uri="{FF2B5EF4-FFF2-40B4-BE49-F238E27FC236}">
                <a16:creationId xmlns:a16="http://schemas.microsoft.com/office/drawing/2014/main" id="{0CA85200-630B-8EFE-9A4B-C8D47CB964A3}"/>
              </a:ext>
            </a:extLst>
          </p:cNvPr>
          <p:cNvSpPr>
            <a:spLocks noGrp="1"/>
          </p:cNvSpPr>
          <p:nvPr>
            <p:ph type="dt" sz="half" idx="10"/>
          </p:nvPr>
        </p:nvSpPr>
        <p:spPr/>
        <p:txBody>
          <a:bodyPr/>
          <a:lstStyle/>
          <a:p>
            <a:fld id="{8F7C675A-143B-446E-AB33-EBAB473B5184}" type="datetimeFigureOut">
              <a:rPr lang="fr-FR" smtClean="0"/>
              <a:t>16/02/2025</a:t>
            </a:fld>
            <a:endParaRPr lang="fr-FR"/>
          </a:p>
        </p:txBody>
      </p:sp>
      <p:sp>
        <p:nvSpPr>
          <p:cNvPr id="6" name="Espace réservé du pied de page 5">
            <a:extLst>
              <a:ext uri="{FF2B5EF4-FFF2-40B4-BE49-F238E27FC236}">
                <a16:creationId xmlns:a16="http://schemas.microsoft.com/office/drawing/2014/main" id="{E4ED7CD2-8249-5567-5402-BAB7E400A704}"/>
              </a:ext>
            </a:extLst>
          </p:cNvPr>
          <p:cNvSpPr>
            <a:spLocks noGrp="1"/>
          </p:cNvSpPr>
          <p:nvPr>
            <p:ph type="ftr" sz="quarter" idx="11"/>
          </p:nvPr>
        </p:nvSpPr>
        <p:spPr/>
        <p:txBody>
          <a:bodyPr/>
          <a:lstStyle/>
          <a:p>
            <a:endParaRPr lang="fr-FR"/>
          </a:p>
        </p:txBody>
      </p:sp>
      <p:sp>
        <p:nvSpPr>
          <p:cNvPr id="7" name="Espace réservé du numéro de diapositive 6">
            <a:extLst>
              <a:ext uri="{FF2B5EF4-FFF2-40B4-BE49-F238E27FC236}">
                <a16:creationId xmlns:a16="http://schemas.microsoft.com/office/drawing/2014/main" id="{65C4B3EF-ADC5-87F8-CAD0-A6D378B40CD6}"/>
              </a:ext>
            </a:extLst>
          </p:cNvPr>
          <p:cNvSpPr>
            <a:spLocks noGrp="1"/>
          </p:cNvSpPr>
          <p:nvPr>
            <p:ph type="sldNum" sz="quarter" idx="12"/>
          </p:nvPr>
        </p:nvSpPr>
        <p:spPr/>
        <p:txBody>
          <a:bodyPr/>
          <a:lstStyle/>
          <a:p>
            <a:fld id="{1F305741-448F-429A-930D-352E1E468A29}" type="slidenum">
              <a:rPr lang="fr-FR" smtClean="0"/>
              <a:t>‹N°›</a:t>
            </a:fld>
            <a:endParaRPr lang="fr-FR"/>
          </a:p>
        </p:txBody>
      </p:sp>
    </p:spTree>
    <p:extLst>
      <p:ext uri="{BB962C8B-B14F-4D97-AF65-F5344CB8AC3E}">
        <p14:creationId xmlns:p14="http://schemas.microsoft.com/office/powerpoint/2010/main" val="36411984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07C04A7E-3A5E-F253-8682-5DE7B9A94A0C}"/>
              </a:ext>
            </a:extLst>
          </p:cNvPr>
          <p:cNvSpPr>
            <a:spLocks noGrp="1"/>
          </p:cNvSpPr>
          <p:nvPr>
            <p:ph type="title"/>
          </p:nvPr>
        </p:nvSpPr>
        <p:spPr>
          <a:xfrm>
            <a:off x="839788" y="457200"/>
            <a:ext cx="3932237" cy="1600200"/>
          </a:xfrm>
        </p:spPr>
        <p:txBody>
          <a:bodyPr anchor="b"/>
          <a:lstStyle>
            <a:lvl1pPr>
              <a:defRPr sz="3200"/>
            </a:lvl1pPr>
          </a:lstStyle>
          <a:p>
            <a:r>
              <a:rPr lang="fr-FR"/>
              <a:t>Modifiez le style du titre</a:t>
            </a:r>
          </a:p>
        </p:txBody>
      </p:sp>
      <p:sp>
        <p:nvSpPr>
          <p:cNvPr id="3" name="Espace réservé pour une image  2">
            <a:extLst>
              <a:ext uri="{FF2B5EF4-FFF2-40B4-BE49-F238E27FC236}">
                <a16:creationId xmlns:a16="http://schemas.microsoft.com/office/drawing/2014/main" id="{BD1CB939-373A-4B3A-9763-F4EC79C49091}"/>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fr-FR"/>
          </a:p>
        </p:txBody>
      </p:sp>
      <p:sp>
        <p:nvSpPr>
          <p:cNvPr id="4" name="Espace réservé du texte 3">
            <a:extLst>
              <a:ext uri="{FF2B5EF4-FFF2-40B4-BE49-F238E27FC236}">
                <a16:creationId xmlns:a16="http://schemas.microsoft.com/office/drawing/2014/main" id="{6EC4C50B-CB31-28EC-8311-E5B5A862033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5" name="Espace réservé de la date 4">
            <a:extLst>
              <a:ext uri="{FF2B5EF4-FFF2-40B4-BE49-F238E27FC236}">
                <a16:creationId xmlns:a16="http://schemas.microsoft.com/office/drawing/2014/main" id="{81A7635B-A2CE-E351-57B3-F681B2DCF067}"/>
              </a:ext>
            </a:extLst>
          </p:cNvPr>
          <p:cNvSpPr>
            <a:spLocks noGrp="1"/>
          </p:cNvSpPr>
          <p:nvPr>
            <p:ph type="dt" sz="half" idx="10"/>
          </p:nvPr>
        </p:nvSpPr>
        <p:spPr/>
        <p:txBody>
          <a:bodyPr/>
          <a:lstStyle/>
          <a:p>
            <a:fld id="{8F7C675A-143B-446E-AB33-EBAB473B5184}" type="datetimeFigureOut">
              <a:rPr lang="fr-FR" smtClean="0"/>
              <a:t>16/02/2025</a:t>
            </a:fld>
            <a:endParaRPr lang="fr-FR"/>
          </a:p>
        </p:txBody>
      </p:sp>
      <p:sp>
        <p:nvSpPr>
          <p:cNvPr id="6" name="Espace réservé du pied de page 5">
            <a:extLst>
              <a:ext uri="{FF2B5EF4-FFF2-40B4-BE49-F238E27FC236}">
                <a16:creationId xmlns:a16="http://schemas.microsoft.com/office/drawing/2014/main" id="{180D7FC9-91FD-D09E-D5A3-F58F39BF9E98}"/>
              </a:ext>
            </a:extLst>
          </p:cNvPr>
          <p:cNvSpPr>
            <a:spLocks noGrp="1"/>
          </p:cNvSpPr>
          <p:nvPr>
            <p:ph type="ftr" sz="quarter" idx="11"/>
          </p:nvPr>
        </p:nvSpPr>
        <p:spPr/>
        <p:txBody>
          <a:bodyPr/>
          <a:lstStyle/>
          <a:p>
            <a:endParaRPr lang="fr-FR"/>
          </a:p>
        </p:txBody>
      </p:sp>
      <p:sp>
        <p:nvSpPr>
          <p:cNvPr id="7" name="Espace réservé du numéro de diapositive 6">
            <a:extLst>
              <a:ext uri="{FF2B5EF4-FFF2-40B4-BE49-F238E27FC236}">
                <a16:creationId xmlns:a16="http://schemas.microsoft.com/office/drawing/2014/main" id="{C202C11D-6F5F-6B15-D03F-C07E693338B9}"/>
              </a:ext>
            </a:extLst>
          </p:cNvPr>
          <p:cNvSpPr>
            <a:spLocks noGrp="1"/>
          </p:cNvSpPr>
          <p:nvPr>
            <p:ph type="sldNum" sz="quarter" idx="12"/>
          </p:nvPr>
        </p:nvSpPr>
        <p:spPr/>
        <p:txBody>
          <a:bodyPr/>
          <a:lstStyle/>
          <a:p>
            <a:fld id="{1F305741-448F-429A-930D-352E1E468A29}" type="slidenum">
              <a:rPr lang="fr-FR" smtClean="0"/>
              <a:t>‹N°›</a:t>
            </a:fld>
            <a:endParaRPr lang="fr-FR"/>
          </a:p>
        </p:txBody>
      </p:sp>
    </p:spTree>
    <p:extLst>
      <p:ext uri="{BB962C8B-B14F-4D97-AF65-F5344CB8AC3E}">
        <p14:creationId xmlns:p14="http://schemas.microsoft.com/office/powerpoint/2010/main" val="357398498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04D79508-8CA5-C7C5-7A57-1F5D6243D7C4}"/>
              </a:ext>
            </a:extLst>
          </p:cNvPr>
          <p:cNvSpPr>
            <a:spLocks noGrp="1"/>
          </p:cNvSpPr>
          <p:nvPr>
            <p:ph type="title"/>
          </p:nvPr>
        </p:nvSpPr>
        <p:spPr/>
        <p:txBody>
          <a:bodyPr/>
          <a:lstStyle/>
          <a:p>
            <a:r>
              <a:rPr lang="fr-FR"/>
              <a:t>Modifiez le style du titre</a:t>
            </a:r>
          </a:p>
        </p:txBody>
      </p:sp>
      <p:sp>
        <p:nvSpPr>
          <p:cNvPr id="3" name="Espace réservé du texte vertical 2">
            <a:extLst>
              <a:ext uri="{FF2B5EF4-FFF2-40B4-BE49-F238E27FC236}">
                <a16:creationId xmlns:a16="http://schemas.microsoft.com/office/drawing/2014/main" id="{30BD613B-31C4-1165-6DA2-AB5191719BDC}"/>
              </a:ext>
            </a:extLst>
          </p:cNvPr>
          <p:cNvSpPr>
            <a:spLocks noGrp="1"/>
          </p:cNvSpPr>
          <p:nvPr>
            <p:ph type="body" orient="vert" idx="1"/>
          </p:nvPr>
        </p:nvSpPr>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6B7F568E-D621-31A6-61AC-DC310691738F}"/>
              </a:ext>
            </a:extLst>
          </p:cNvPr>
          <p:cNvSpPr>
            <a:spLocks noGrp="1"/>
          </p:cNvSpPr>
          <p:nvPr>
            <p:ph type="dt" sz="half" idx="10"/>
          </p:nvPr>
        </p:nvSpPr>
        <p:spPr/>
        <p:txBody>
          <a:bodyPr/>
          <a:lstStyle/>
          <a:p>
            <a:fld id="{8F7C675A-143B-446E-AB33-EBAB473B5184}" type="datetimeFigureOut">
              <a:rPr lang="fr-FR" smtClean="0"/>
              <a:t>16/02/2025</a:t>
            </a:fld>
            <a:endParaRPr lang="fr-FR"/>
          </a:p>
        </p:txBody>
      </p:sp>
      <p:sp>
        <p:nvSpPr>
          <p:cNvPr id="5" name="Espace réservé du pied de page 4">
            <a:extLst>
              <a:ext uri="{FF2B5EF4-FFF2-40B4-BE49-F238E27FC236}">
                <a16:creationId xmlns:a16="http://schemas.microsoft.com/office/drawing/2014/main" id="{6A44ABED-80AB-D49F-F6C7-B17090899C96}"/>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9FBE39AD-7C07-A9C6-1334-E7A11415CEC3}"/>
              </a:ext>
            </a:extLst>
          </p:cNvPr>
          <p:cNvSpPr>
            <a:spLocks noGrp="1"/>
          </p:cNvSpPr>
          <p:nvPr>
            <p:ph type="sldNum" sz="quarter" idx="12"/>
          </p:nvPr>
        </p:nvSpPr>
        <p:spPr/>
        <p:txBody>
          <a:bodyPr/>
          <a:lstStyle/>
          <a:p>
            <a:fld id="{1F305741-448F-429A-930D-352E1E468A29}" type="slidenum">
              <a:rPr lang="fr-FR" smtClean="0"/>
              <a:t>‹N°›</a:t>
            </a:fld>
            <a:endParaRPr lang="fr-FR"/>
          </a:p>
        </p:txBody>
      </p:sp>
    </p:spTree>
    <p:extLst>
      <p:ext uri="{BB962C8B-B14F-4D97-AF65-F5344CB8AC3E}">
        <p14:creationId xmlns:p14="http://schemas.microsoft.com/office/powerpoint/2010/main" val="393312523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Titre vertical 1">
            <a:extLst>
              <a:ext uri="{FF2B5EF4-FFF2-40B4-BE49-F238E27FC236}">
                <a16:creationId xmlns:a16="http://schemas.microsoft.com/office/drawing/2014/main" id="{33009051-F487-C5BD-C8D9-A5C0C76D6EB8}"/>
              </a:ext>
            </a:extLst>
          </p:cNvPr>
          <p:cNvSpPr>
            <a:spLocks noGrp="1"/>
          </p:cNvSpPr>
          <p:nvPr>
            <p:ph type="title" orient="vert"/>
          </p:nvPr>
        </p:nvSpPr>
        <p:spPr>
          <a:xfrm>
            <a:off x="8724900" y="365125"/>
            <a:ext cx="2628900" cy="5811838"/>
          </a:xfrm>
        </p:spPr>
        <p:txBody>
          <a:bodyPr vert="eaVert"/>
          <a:lstStyle/>
          <a:p>
            <a:r>
              <a:rPr lang="fr-FR"/>
              <a:t>Modifiez le style du titre</a:t>
            </a:r>
          </a:p>
        </p:txBody>
      </p:sp>
      <p:sp>
        <p:nvSpPr>
          <p:cNvPr id="3" name="Espace réservé du texte vertical 2">
            <a:extLst>
              <a:ext uri="{FF2B5EF4-FFF2-40B4-BE49-F238E27FC236}">
                <a16:creationId xmlns:a16="http://schemas.microsoft.com/office/drawing/2014/main" id="{70D62FC0-8ED4-EF8C-4EC0-1F4023EBC0BB}"/>
              </a:ext>
            </a:extLst>
          </p:cNvPr>
          <p:cNvSpPr>
            <a:spLocks noGrp="1"/>
          </p:cNvSpPr>
          <p:nvPr>
            <p:ph type="body" orient="vert" idx="1"/>
          </p:nvPr>
        </p:nvSpPr>
        <p:spPr>
          <a:xfrm>
            <a:off x="838200" y="365125"/>
            <a:ext cx="7734300" cy="5811838"/>
          </a:xfrm>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526175D6-0530-2A74-1674-6C76607E4F93}"/>
              </a:ext>
            </a:extLst>
          </p:cNvPr>
          <p:cNvSpPr>
            <a:spLocks noGrp="1"/>
          </p:cNvSpPr>
          <p:nvPr>
            <p:ph type="dt" sz="half" idx="10"/>
          </p:nvPr>
        </p:nvSpPr>
        <p:spPr/>
        <p:txBody>
          <a:bodyPr/>
          <a:lstStyle/>
          <a:p>
            <a:fld id="{8F7C675A-143B-446E-AB33-EBAB473B5184}" type="datetimeFigureOut">
              <a:rPr lang="fr-FR" smtClean="0"/>
              <a:t>16/02/2025</a:t>
            </a:fld>
            <a:endParaRPr lang="fr-FR"/>
          </a:p>
        </p:txBody>
      </p:sp>
      <p:sp>
        <p:nvSpPr>
          <p:cNvPr id="5" name="Espace réservé du pied de page 4">
            <a:extLst>
              <a:ext uri="{FF2B5EF4-FFF2-40B4-BE49-F238E27FC236}">
                <a16:creationId xmlns:a16="http://schemas.microsoft.com/office/drawing/2014/main" id="{55CA886A-DFC8-ECA1-7547-DE48A0670E23}"/>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456E4155-DE9C-910B-0D4B-B1D27ADE75C3}"/>
              </a:ext>
            </a:extLst>
          </p:cNvPr>
          <p:cNvSpPr>
            <a:spLocks noGrp="1"/>
          </p:cNvSpPr>
          <p:nvPr>
            <p:ph type="sldNum" sz="quarter" idx="12"/>
          </p:nvPr>
        </p:nvSpPr>
        <p:spPr/>
        <p:txBody>
          <a:bodyPr/>
          <a:lstStyle/>
          <a:p>
            <a:fld id="{1F305741-448F-429A-930D-352E1E468A29}" type="slidenum">
              <a:rPr lang="fr-FR" smtClean="0"/>
              <a:t>‹N°›</a:t>
            </a:fld>
            <a:endParaRPr lang="fr-FR"/>
          </a:p>
        </p:txBody>
      </p:sp>
    </p:spTree>
    <p:extLst>
      <p:ext uri="{BB962C8B-B14F-4D97-AF65-F5344CB8AC3E}">
        <p14:creationId xmlns:p14="http://schemas.microsoft.com/office/powerpoint/2010/main" val="423127114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u titre 1">
            <a:extLst>
              <a:ext uri="{FF2B5EF4-FFF2-40B4-BE49-F238E27FC236}">
                <a16:creationId xmlns:a16="http://schemas.microsoft.com/office/drawing/2014/main" id="{213260D0-EBC8-1A2C-5861-129BF2CC2A5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fr-FR"/>
              <a:t>Modifiez le style du titre</a:t>
            </a:r>
          </a:p>
        </p:txBody>
      </p:sp>
      <p:sp>
        <p:nvSpPr>
          <p:cNvPr id="3" name="Espace réservé du texte 2">
            <a:extLst>
              <a:ext uri="{FF2B5EF4-FFF2-40B4-BE49-F238E27FC236}">
                <a16:creationId xmlns:a16="http://schemas.microsoft.com/office/drawing/2014/main" id="{32CBE21D-80E4-63DD-04C7-353E41F22CC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5783BFC1-7854-DCE9-67DF-9B8BE3E9BEB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8F7C675A-143B-446E-AB33-EBAB473B5184}" type="datetimeFigureOut">
              <a:rPr lang="fr-FR" smtClean="0"/>
              <a:t>16/02/2025</a:t>
            </a:fld>
            <a:endParaRPr lang="fr-FR"/>
          </a:p>
        </p:txBody>
      </p:sp>
      <p:sp>
        <p:nvSpPr>
          <p:cNvPr id="5" name="Espace réservé du pied de page 4">
            <a:extLst>
              <a:ext uri="{FF2B5EF4-FFF2-40B4-BE49-F238E27FC236}">
                <a16:creationId xmlns:a16="http://schemas.microsoft.com/office/drawing/2014/main" id="{37C2E1D7-757F-36AC-DE55-F01EEF7A4357}"/>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fr-FR"/>
          </a:p>
        </p:txBody>
      </p:sp>
      <p:sp>
        <p:nvSpPr>
          <p:cNvPr id="6" name="Espace réservé du numéro de diapositive 5">
            <a:extLst>
              <a:ext uri="{FF2B5EF4-FFF2-40B4-BE49-F238E27FC236}">
                <a16:creationId xmlns:a16="http://schemas.microsoft.com/office/drawing/2014/main" id="{1DEB8C2A-E0E6-8D89-C294-0193A9C14136}"/>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1F305741-448F-429A-930D-352E1E468A29}" type="slidenum">
              <a:rPr lang="fr-FR" smtClean="0"/>
              <a:t>‹N°›</a:t>
            </a:fld>
            <a:endParaRPr lang="fr-FR"/>
          </a:p>
        </p:txBody>
      </p:sp>
    </p:spTree>
    <p:extLst>
      <p:ext uri="{BB962C8B-B14F-4D97-AF65-F5344CB8AC3E}">
        <p14:creationId xmlns:p14="http://schemas.microsoft.com/office/powerpoint/2010/main" val="2643156402"/>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7.xml"/><Relationship Id="rId5" Type="http://schemas.openxmlformats.org/officeDocument/2006/relationships/image" Target="../media/image4.png"/><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7.xml"/><Relationship Id="rId5" Type="http://schemas.openxmlformats.org/officeDocument/2006/relationships/image" Target="../media/image10.png"/><Relationship Id="rId4" Type="http://schemas.openxmlformats.org/officeDocument/2006/relationships/image" Target="../media/image9.png"/></Relationships>
</file>

<file path=ppt/slides/_rels/slide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ZoneTexte 2">
            <a:extLst>
              <a:ext uri="{FF2B5EF4-FFF2-40B4-BE49-F238E27FC236}">
                <a16:creationId xmlns:a16="http://schemas.microsoft.com/office/drawing/2014/main" id="{81012251-0343-ACB1-78EF-EA4DC66FF65D}"/>
              </a:ext>
            </a:extLst>
          </p:cNvPr>
          <p:cNvSpPr txBox="1"/>
          <p:nvPr/>
        </p:nvSpPr>
        <p:spPr>
          <a:xfrm>
            <a:off x="216308" y="2720224"/>
            <a:ext cx="11759381" cy="1785104"/>
          </a:xfrm>
          <a:prstGeom prst="rect">
            <a:avLst/>
          </a:prstGeom>
          <a:noFill/>
        </p:spPr>
        <p:txBody>
          <a:bodyPr wrap="square">
            <a:spAutoFit/>
          </a:bodyP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fr-FR" sz="2000" b="1" i="0" u="none" strike="noStrike" kern="1200" cap="none" spc="0" normalizeH="0" baseline="0" noProof="0" dirty="0">
                <a:ln>
                  <a:noFill/>
                </a:ln>
                <a:solidFill>
                  <a:prstClr val="black"/>
                </a:solidFill>
                <a:effectLst/>
                <a:uLnTx/>
                <a:uFillTx/>
                <a:latin typeface="Aptos" panose="02110004020202020204"/>
                <a:ea typeface="+mn-ea"/>
                <a:cs typeface="+mn-cs"/>
              </a:rPr>
              <a:t>Introduction</a:t>
            </a:r>
          </a:p>
          <a:p>
            <a:pPr marL="0" marR="0" lvl="0" indent="0" defTabSz="914400" rtl="0" eaLnBrk="1" fontAlgn="auto" latinLnBrk="0" hangingPunct="1">
              <a:lnSpc>
                <a:spcPct val="100000"/>
              </a:lnSpc>
              <a:spcBef>
                <a:spcPts val="0"/>
              </a:spcBef>
              <a:spcAft>
                <a:spcPts val="0"/>
              </a:spcAft>
              <a:buClrTx/>
              <a:buSzTx/>
              <a:buFontTx/>
              <a:buNone/>
              <a:tabLst/>
              <a:defRPr/>
            </a:pPr>
            <a:endParaRPr kumimoji="0" lang="fr-FR" sz="1800" b="1" i="0" u="none" strike="noStrike" kern="1200" cap="none" spc="0" normalizeH="0" baseline="0" noProof="0" dirty="0">
              <a:ln>
                <a:noFill/>
              </a:ln>
              <a:solidFill>
                <a:prstClr val="black"/>
              </a:solidFill>
              <a:effectLst/>
              <a:uLnTx/>
              <a:uFillTx/>
              <a:latin typeface="Aptos" panose="02110004020202020204"/>
              <a:ea typeface="+mn-ea"/>
              <a:cs typeface="+mn-cs"/>
            </a:endParaRPr>
          </a:p>
          <a:p>
            <a:pPr marL="0" marR="0" lvl="0" indent="0" defTabSz="914400" rtl="0" eaLnBrk="1" fontAlgn="auto" latinLnBrk="0" hangingPunct="1">
              <a:lnSpc>
                <a:spcPct val="100000"/>
              </a:lnSpc>
              <a:spcBef>
                <a:spcPts val="0"/>
              </a:spcBef>
              <a:spcAft>
                <a:spcPts val="0"/>
              </a:spcAft>
              <a:buClrTx/>
              <a:buSzTx/>
              <a:buFontTx/>
              <a:buNone/>
              <a:tabLst/>
              <a:defRPr/>
            </a:pPr>
            <a:r>
              <a:rPr kumimoji="0" lang="fr-FR" b="0" i="0" u="none" strike="noStrike" kern="1200" cap="none" spc="0" normalizeH="0" baseline="0" noProof="0" dirty="0">
                <a:ln>
                  <a:noFill/>
                </a:ln>
                <a:solidFill>
                  <a:prstClr val="black"/>
                </a:solidFill>
                <a:effectLst/>
                <a:uLnTx/>
                <a:uFillTx/>
                <a:latin typeface="Aptos" panose="02110004020202020204"/>
                <a:ea typeface="+mn-ea"/>
                <a:cs typeface="+mn-cs"/>
              </a:rPr>
              <a:t>Dans cette analyse, nous avons travaillé sur une base de données contenant des informations sur des contrats d’assurance habitation et des régions. L’objectif était d’explorer, nettoyer et analyser ces données en utilisant SQL. Cette présentation détaille chaque étape de notre travail, incluant la modélisation des données, la structuration des tables, l'exécution des requêtes et l'interprétation des résultats.</a:t>
            </a:r>
          </a:p>
        </p:txBody>
      </p:sp>
      <p:sp>
        <p:nvSpPr>
          <p:cNvPr id="2" name="Rectangle 1">
            <a:extLst>
              <a:ext uri="{FF2B5EF4-FFF2-40B4-BE49-F238E27FC236}">
                <a16:creationId xmlns:a16="http://schemas.microsoft.com/office/drawing/2014/main" id="{5C7E1BFB-D21B-50F8-AB06-7E2C72DC3E94}"/>
              </a:ext>
            </a:extLst>
          </p:cNvPr>
          <p:cNvSpPr/>
          <p:nvPr/>
        </p:nvSpPr>
        <p:spPr>
          <a:xfrm>
            <a:off x="216308" y="254974"/>
            <a:ext cx="11759381" cy="1960685"/>
          </a:xfrm>
          <a:prstGeom prst="rect">
            <a:avLst/>
          </a:prstGeom>
          <a:solidFill>
            <a:schemeClr val="accent4"/>
          </a:solidFill>
          <a:ln>
            <a:solidFill>
              <a:schemeClr val="accent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sz="2800" dirty="0"/>
          </a:p>
        </p:txBody>
      </p:sp>
      <p:sp>
        <p:nvSpPr>
          <p:cNvPr id="5" name="ZoneTexte 4">
            <a:extLst>
              <a:ext uri="{FF2B5EF4-FFF2-40B4-BE49-F238E27FC236}">
                <a16:creationId xmlns:a16="http://schemas.microsoft.com/office/drawing/2014/main" id="{02EF40E7-EB8B-F73F-FEBB-E16090AA5394}"/>
              </a:ext>
            </a:extLst>
          </p:cNvPr>
          <p:cNvSpPr txBox="1"/>
          <p:nvPr/>
        </p:nvSpPr>
        <p:spPr>
          <a:xfrm>
            <a:off x="2787161" y="1389186"/>
            <a:ext cx="7587761" cy="523220"/>
          </a:xfrm>
          <a:prstGeom prst="rect">
            <a:avLst/>
          </a:prstGeom>
          <a:noFill/>
        </p:spPr>
        <p:txBody>
          <a:bodyPr wrap="square" rtlCol="0">
            <a:spAutoFit/>
          </a:bodyPr>
          <a:lstStyle/>
          <a:p>
            <a:r>
              <a:rPr lang="fr-FR" sz="2800" b="1" dirty="0"/>
              <a:t>Requêtez une base de données avec SQL</a:t>
            </a:r>
          </a:p>
        </p:txBody>
      </p:sp>
      <p:sp>
        <p:nvSpPr>
          <p:cNvPr id="6" name="ZoneTexte 5">
            <a:extLst>
              <a:ext uri="{FF2B5EF4-FFF2-40B4-BE49-F238E27FC236}">
                <a16:creationId xmlns:a16="http://schemas.microsoft.com/office/drawing/2014/main" id="{D355BB48-8A4E-1B49-6BB8-A7016EB683A5}"/>
              </a:ext>
            </a:extLst>
          </p:cNvPr>
          <p:cNvSpPr txBox="1"/>
          <p:nvPr/>
        </p:nvSpPr>
        <p:spPr>
          <a:xfrm>
            <a:off x="3701562" y="448408"/>
            <a:ext cx="4739053" cy="523220"/>
          </a:xfrm>
          <a:prstGeom prst="rect">
            <a:avLst/>
          </a:prstGeom>
          <a:noFill/>
        </p:spPr>
        <p:txBody>
          <a:bodyPr wrap="square" rtlCol="0">
            <a:spAutoFit/>
          </a:bodyPr>
          <a:lstStyle/>
          <a:p>
            <a:pPr algn="ctr"/>
            <a:r>
              <a:rPr lang="fr-FR" sz="2800" b="1" dirty="0"/>
              <a:t>PROJET 3 DATA ANALYST</a:t>
            </a:r>
          </a:p>
        </p:txBody>
      </p:sp>
    </p:spTree>
    <p:extLst>
      <p:ext uri="{BB962C8B-B14F-4D97-AF65-F5344CB8AC3E}">
        <p14:creationId xmlns:p14="http://schemas.microsoft.com/office/powerpoint/2010/main" val="406843766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ZoneTexte 2">
            <a:extLst>
              <a:ext uri="{FF2B5EF4-FFF2-40B4-BE49-F238E27FC236}">
                <a16:creationId xmlns:a16="http://schemas.microsoft.com/office/drawing/2014/main" id="{C0891DBC-AA95-7977-D0E9-858063BCCF84}"/>
              </a:ext>
            </a:extLst>
          </p:cNvPr>
          <p:cNvSpPr txBox="1"/>
          <p:nvPr/>
        </p:nvSpPr>
        <p:spPr>
          <a:xfrm>
            <a:off x="130995" y="114299"/>
            <a:ext cx="11982236" cy="141577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1800" b="1" i="0" u="none" strike="noStrike" kern="1200" cap="none" spc="0" normalizeH="0" baseline="0" noProof="0" dirty="0">
                <a:ln>
                  <a:noFill/>
                </a:ln>
                <a:solidFill>
                  <a:prstClr val="black"/>
                </a:solidFill>
                <a:effectLst/>
                <a:uLnTx/>
                <a:uFillTx/>
                <a:latin typeface="Aptos" panose="02110004020202020204"/>
                <a:ea typeface="+mn-ea"/>
                <a:cs typeface="+mn-cs"/>
              </a:rPr>
              <a:t>Étape 1 : Dictionnaire des Données</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1" i="0" u="none" strike="noStrike" kern="1200" cap="none" spc="0" normalizeH="0" baseline="0" noProof="0" dirty="0">
              <a:ln>
                <a:noFill/>
              </a:ln>
              <a:solidFill>
                <a:prstClr val="black"/>
              </a:solidFill>
              <a:effectLst/>
              <a:uLnTx/>
              <a:uFillTx/>
              <a:latin typeface="Aptos" panose="0211000402020202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1600" b="0" i="0" u="none" strike="noStrike" kern="1200" cap="none" spc="0" normalizeH="0" baseline="0" noProof="0" dirty="0">
                <a:ln>
                  <a:noFill/>
                </a:ln>
                <a:solidFill>
                  <a:prstClr val="black"/>
                </a:solidFill>
                <a:effectLst/>
                <a:uLnTx/>
                <a:uFillTx/>
                <a:latin typeface="Aptos" panose="02110004020202020204"/>
                <a:ea typeface="+mn-ea"/>
                <a:cs typeface="+mn-cs"/>
              </a:rPr>
              <a:t>Afin de mieux comprendre les types de données et les structures de nos tables, nous avons établi un </a:t>
            </a:r>
            <a:r>
              <a:rPr kumimoji="0" lang="fr-FR" sz="1600" b="1" i="0" u="none" strike="noStrike" kern="1200" cap="none" spc="0" normalizeH="0" baseline="0" noProof="0" dirty="0">
                <a:ln>
                  <a:noFill/>
                </a:ln>
                <a:solidFill>
                  <a:prstClr val="black"/>
                </a:solidFill>
                <a:effectLst/>
                <a:uLnTx/>
                <a:uFillTx/>
                <a:latin typeface="Aptos" panose="02110004020202020204"/>
                <a:ea typeface="+mn-ea"/>
                <a:cs typeface="+mn-cs"/>
              </a:rPr>
              <a:t>dictionnaire des données</a:t>
            </a:r>
            <a:r>
              <a:rPr kumimoji="0" lang="fr-FR" sz="1600" b="0" i="0" u="none" strike="noStrike" kern="1200" cap="none" spc="0" normalizeH="0" baseline="0" noProof="0" dirty="0">
                <a:ln>
                  <a:noFill/>
                </a:ln>
                <a:solidFill>
                  <a:prstClr val="black"/>
                </a:solidFill>
                <a:effectLst/>
                <a:uLnTx/>
                <a:uFillTx/>
                <a:latin typeface="Aptos" panose="02110004020202020204"/>
                <a:ea typeface="+mn-ea"/>
                <a:cs typeface="+mn-cs"/>
              </a:rPr>
              <a:t> décrivant les colonnes principales de chaque table.</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pic>
        <p:nvPicPr>
          <p:cNvPr id="4" name="Image 3">
            <a:extLst>
              <a:ext uri="{FF2B5EF4-FFF2-40B4-BE49-F238E27FC236}">
                <a16:creationId xmlns:a16="http://schemas.microsoft.com/office/drawing/2014/main" id="{7C83DDEE-CCF3-D15C-4663-DA5B1BE99D7D}"/>
              </a:ext>
            </a:extLst>
          </p:cNvPr>
          <p:cNvPicPr>
            <a:picLocks noChangeAspect="1"/>
          </p:cNvPicPr>
          <p:nvPr/>
        </p:nvPicPr>
        <p:blipFill>
          <a:blip r:embed="rId2"/>
          <a:stretch>
            <a:fillRect/>
          </a:stretch>
        </p:blipFill>
        <p:spPr>
          <a:xfrm>
            <a:off x="90919" y="1679296"/>
            <a:ext cx="12010161" cy="3499407"/>
          </a:xfrm>
          <a:prstGeom prst="rect">
            <a:avLst/>
          </a:prstGeom>
        </p:spPr>
      </p:pic>
      <p:sp>
        <p:nvSpPr>
          <p:cNvPr id="6" name="ZoneTexte 5">
            <a:extLst>
              <a:ext uri="{FF2B5EF4-FFF2-40B4-BE49-F238E27FC236}">
                <a16:creationId xmlns:a16="http://schemas.microsoft.com/office/drawing/2014/main" id="{7F8941D5-E2CA-F60A-DF11-4D5953203288}"/>
              </a:ext>
            </a:extLst>
          </p:cNvPr>
          <p:cNvSpPr txBox="1"/>
          <p:nvPr/>
        </p:nvSpPr>
        <p:spPr>
          <a:xfrm>
            <a:off x="130995" y="5801912"/>
            <a:ext cx="11857069" cy="338554"/>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1600" b="0" i="0" u="none" strike="noStrike" kern="1200" cap="none" spc="0" normalizeH="0" baseline="0" noProof="0" dirty="0">
                <a:ln>
                  <a:noFill/>
                </a:ln>
                <a:solidFill>
                  <a:prstClr val="black"/>
                </a:solidFill>
                <a:effectLst/>
                <a:uLnTx/>
                <a:uFillTx/>
                <a:latin typeface="Aptos" panose="02110004020202020204"/>
                <a:ea typeface="+mn-ea"/>
                <a:cs typeface="+mn-cs"/>
              </a:rPr>
              <a:t>Ce dictionnaire a permis de structurer nos requêtes SQL de manière plus efficace et d’éviter les erreurs de typage.</a:t>
            </a:r>
          </a:p>
        </p:txBody>
      </p:sp>
    </p:spTree>
    <p:extLst>
      <p:ext uri="{BB962C8B-B14F-4D97-AF65-F5344CB8AC3E}">
        <p14:creationId xmlns:p14="http://schemas.microsoft.com/office/powerpoint/2010/main" val="46004139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797247-E9E9-8980-6F60-B53A8B3CE075}"/>
            </a:ext>
          </a:extLst>
        </p:cNvPr>
        <p:cNvGrpSpPr/>
        <p:nvPr/>
      </p:nvGrpSpPr>
      <p:grpSpPr>
        <a:xfrm>
          <a:off x="0" y="0"/>
          <a:ext cx="0" cy="0"/>
          <a:chOff x="0" y="0"/>
          <a:chExt cx="0" cy="0"/>
        </a:xfrm>
      </p:grpSpPr>
      <p:sp>
        <p:nvSpPr>
          <p:cNvPr id="4" name="Rectangle 1">
            <a:extLst>
              <a:ext uri="{FF2B5EF4-FFF2-40B4-BE49-F238E27FC236}">
                <a16:creationId xmlns:a16="http://schemas.microsoft.com/office/drawing/2014/main" id="{8C567411-4DB7-695D-ABA4-DF59E59738A8}"/>
              </a:ext>
            </a:extLst>
          </p:cNvPr>
          <p:cNvSpPr>
            <a:spLocks noChangeArrowheads="1"/>
          </p:cNvSpPr>
          <p:nvPr/>
        </p:nvSpPr>
        <p:spPr bwMode="auto">
          <a:xfrm>
            <a:off x="135705" y="1162878"/>
            <a:ext cx="12056295" cy="40318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fr-FR" altLang="fr-FR" b="1" i="0" u="none" strike="noStrike" kern="1200" cap="none" spc="0" normalizeH="0" baseline="0" noProof="0" dirty="0">
                <a:ln>
                  <a:noFill/>
                </a:ln>
                <a:solidFill>
                  <a:prstClr val="black"/>
                </a:solidFill>
                <a:effectLst/>
                <a:uLnTx/>
                <a:uFillTx/>
                <a:latin typeface="Arial" panose="020B0604020202020204" pitchFamily="34" charset="0"/>
                <a:ea typeface="+mn-ea"/>
                <a:cs typeface="+mn-cs"/>
              </a:rPr>
              <a:t>Étape 2 : Schéma Relationnel</a:t>
            </a:r>
          </a:p>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fr-FR" altLang="fr-FR" sz="1600" b="1" i="0" u="none" strike="noStrike" kern="1200" cap="none" spc="0" normalizeH="0" baseline="0" noProof="0" dirty="0">
              <a:ln>
                <a:noFill/>
              </a:ln>
              <a:solidFill>
                <a:prstClr val="black"/>
              </a:solidFill>
              <a:effectLst/>
              <a:uLnTx/>
              <a:uFillTx/>
              <a:latin typeface="Arial" panose="020B0604020202020204" pitchFamily="34" charset="0"/>
              <a:ea typeface="+mn-ea"/>
              <a:cs typeface="+mn-cs"/>
            </a:endParaRP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fr-FR" altLang="fr-FR" sz="1600" b="0" i="0" u="none" strike="noStrike" kern="1200" cap="none" spc="0" normalizeH="0" baseline="0" noProof="0" dirty="0">
                <a:ln>
                  <a:noFill/>
                </a:ln>
                <a:solidFill>
                  <a:prstClr val="black"/>
                </a:solidFill>
                <a:effectLst/>
                <a:uLnTx/>
                <a:uFillTx/>
                <a:latin typeface="Arial" panose="020B0604020202020204" pitchFamily="34" charset="0"/>
                <a:ea typeface="+mn-ea"/>
                <a:cs typeface="+mn-cs"/>
              </a:rPr>
              <a:t>Avant toute analyse, il était essentiel de comprendre la structure des données et leurs relations. Nous avons créé un </a:t>
            </a:r>
            <a:r>
              <a:rPr kumimoji="0" lang="fr-FR" altLang="fr-FR" sz="1600" b="1" i="0" u="none" strike="noStrike" kern="1200" cap="none" spc="0" normalizeH="0" baseline="0" noProof="0" dirty="0">
                <a:ln>
                  <a:noFill/>
                </a:ln>
                <a:solidFill>
                  <a:prstClr val="black"/>
                </a:solidFill>
                <a:effectLst/>
                <a:uLnTx/>
                <a:uFillTx/>
                <a:latin typeface="Arial" panose="020B0604020202020204" pitchFamily="34" charset="0"/>
                <a:ea typeface="+mn-ea"/>
                <a:cs typeface="+mn-cs"/>
              </a:rPr>
              <a:t>schéma relationnel</a:t>
            </a:r>
            <a:r>
              <a:rPr kumimoji="0" lang="fr-FR" altLang="fr-FR" sz="1600" b="0" i="0" u="none" strike="noStrike" kern="1200" cap="none" spc="0" normalizeH="0" baseline="0" noProof="0" dirty="0">
                <a:ln>
                  <a:noFill/>
                </a:ln>
                <a:solidFill>
                  <a:prstClr val="black"/>
                </a:solidFill>
                <a:effectLst/>
                <a:uLnTx/>
                <a:uFillTx/>
                <a:latin typeface="Arial" panose="020B0604020202020204" pitchFamily="34" charset="0"/>
                <a:ea typeface="+mn-ea"/>
                <a:cs typeface="+mn-cs"/>
              </a:rPr>
              <a:t> représentant les liens entre les tables </a:t>
            </a:r>
            <a:r>
              <a:rPr kumimoji="0" lang="fr-FR" altLang="fr-FR" sz="1600" b="0" i="0" u="none" strike="noStrike" kern="1200" cap="none" spc="0" normalizeH="0" baseline="0" noProof="0" dirty="0">
                <a:ln>
                  <a:noFill/>
                </a:ln>
                <a:solidFill>
                  <a:prstClr val="black"/>
                </a:solidFill>
                <a:effectLst/>
                <a:uLnTx/>
                <a:uFillTx/>
                <a:latin typeface="Arial Unicode MS"/>
                <a:ea typeface="+mn-ea"/>
                <a:cs typeface="+mn-cs"/>
              </a:rPr>
              <a:t>contrat</a:t>
            </a:r>
            <a:r>
              <a:rPr kumimoji="0" lang="fr-FR" altLang="fr-FR" sz="1600" b="0" i="0" u="none" strike="noStrike" kern="1200" cap="none" spc="0" normalizeH="0" baseline="0" noProof="0" dirty="0">
                <a:ln>
                  <a:noFill/>
                </a:ln>
                <a:solidFill>
                  <a:prstClr val="black"/>
                </a:solidFill>
                <a:effectLst/>
                <a:uLnTx/>
                <a:uFillTx/>
                <a:latin typeface="Aptos" panose="02110004020202020204"/>
                <a:ea typeface="+mn-ea"/>
                <a:cs typeface="+mn-cs"/>
              </a:rPr>
              <a:t> et </a:t>
            </a:r>
            <a:r>
              <a:rPr kumimoji="0" lang="fr-FR" altLang="fr-FR" sz="1600" b="0" i="0" u="none" strike="noStrike" kern="1200" cap="none" spc="0" normalizeH="0" baseline="0" noProof="0" dirty="0">
                <a:ln>
                  <a:noFill/>
                </a:ln>
                <a:solidFill>
                  <a:prstClr val="black"/>
                </a:solidFill>
                <a:effectLst/>
                <a:uLnTx/>
                <a:uFillTx/>
                <a:latin typeface="Arial Unicode MS"/>
                <a:ea typeface="+mn-ea"/>
                <a:cs typeface="+mn-cs"/>
              </a:rPr>
              <a:t>région</a:t>
            </a:r>
            <a:r>
              <a:rPr kumimoji="0" lang="fr-FR" altLang="fr-FR" sz="1600" b="0" i="0" u="none" strike="noStrike" kern="1200" cap="none" spc="0" normalizeH="0" baseline="0" noProof="0" dirty="0">
                <a:ln>
                  <a:noFill/>
                </a:ln>
                <a:solidFill>
                  <a:prstClr val="black"/>
                </a:solidFill>
                <a:effectLst/>
                <a:uLnTx/>
                <a:uFillTx/>
                <a:latin typeface="Aptos" panose="02110004020202020204"/>
                <a:ea typeface="+mn-ea"/>
                <a:cs typeface="+mn-cs"/>
              </a:rPr>
              <a:t>.</a:t>
            </a:r>
          </a:p>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fr-FR" altLang="fr-FR" sz="1600" b="1" i="0" u="none" strike="noStrike" kern="1200" cap="none" spc="0" normalizeH="0" baseline="0" noProof="0" dirty="0">
              <a:ln>
                <a:noFill/>
              </a:ln>
              <a:solidFill>
                <a:prstClr val="black"/>
              </a:solidFill>
              <a:effectLst/>
              <a:uLnTx/>
              <a:uFillTx/>
              <a:latin typeface="Arial" panose="020B0604020202020204" pitchFamily="34" charset="0"/>
              <a:ea typeface="+mn-ea"/>
              <a:cs typeface="+mn-cs"/>
            </a:endParaRP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fr-FR" altLang="fr-FR" sz="1600" b="1" i="0" u="none" strike="noStrike" kern="1200" cap="none" spc="0" normalizeH="0" baseline="0" noProof="0" dirty="0">
                <a:ln>
                  <a:noFill/>
                </a:ln>
                <a:solidFill>
                  <a:prstClr val="black"/>
                </a:solidFill>
                <a:effectLst/>
                <a:uLnTx/>
                <a:uFillTx/>
                <a:latin typeface="Arial" panose="020B0604020202020204" pitchFamily="34" charset="0"/>
                <a:ea typeface="+mn-ea"/>
                <a:cs typeface="+mn-cs"/>
              </a:rPr>
              <a:t>Structure du schéma relationnel :</a:t>
            </a:r>
          </a:p>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fr-FR" altLang="fr-FR" sz="1600" b="1" i="0" u="none" strike="noStrike" kern="1200" cap="none" spc="0" normalizeH="0" baseline="0" noProof="0" dirty="0">
              <a:ln>
                <a:noFill/>
              </a:ln>
              <a:solidFill>
                <a:prstClr val="black"/>
              </a:solidFill>
              <a:effectLst/>
              <a:uLnTx/>
              <a:uFillTx/>
              <a:latin typeface="Arial" panose="020B0604020202020204" pitchFamily="34" charset="0"/>
              <a:ea typeface="+mn-ea"/>
              <a:cs typeface="+mn-cs"/>
            </a:endParaRPr>
          </a:p>
          <a:p>
            <a:pPr marL="0" marR="0" lvl="0" indent="0" algn="l" defTabSz="914400" rtl="0" eaLnBrk="0" fontAlgn="base" latinLnBrk="0" hangingPunct="0">
              <a:lnSpc>
                <a:spcPct val="100000"/>
              </a:lnSpc>
              <a:spcBef>
                <a:spcPct val="0"/>
              </a:spcBef>
              <a:spcAft>
                <a:spcPct val="0"/>
              </a:spcAft>
              <a:buClrTx/>
              <a:buSzTx/>
              <a:buFontTx/>
              <a:buChar char="•"/>
              <a:tabLst/>
              <a:defRPr/>
            </a:pPr>
            <a:r>
              <a:rPr kumimoji="0" lang="fr-FR" altLang="fr-FR" sz="1600" b="1" i="0" u="none" strike="noStrike" kern="1200" cap="none" spc="0" normalizeH="0" baseline="0" noProof="0" dirty="0">
                <a:ln>
                  <a:noFill/>
                </a:ln>
                <a:solidFill>
                  <a:prstClr val="black"/>
                </a:solidFill>
                <a:effectLst/>
                <a:uLnTx/>
                <a:uFillTx/>
                <a:latin typeface="Arial" panose="020B0604020202020204" pitchFamily="34" charset="0"/>
                <a:ea typeface="+mn-ea"/>
                <a:cs typeface="+mn-cs"/>
              </a:rPr>
              <a:t>Table </a:t>
            </a:r>
            <a:r>
              <a:rPr kumimoji="0" lang="fr-FR" altLang="fr-FR" sz="1600" b="1" i="0" u="none" strike="noStrike" kern="1200" cap="none" spc="0" normalizeH="0" baseline="0" noProof="0" dirty="0">
                <a:ln>
                  <a:noFill/>
                </a:ln>
                <a:solidFill>
                  <a:prstClr val="black"/>
                </a:solidFill>
                <a:effectLst/>
                <a:uLnTx/>
                <a:uFillTx/>
                <a:latin typeface="Arial Unicode MS"/>
                <a:ea typeface="+mn-ea"/>
                <a:cs typeface="+mn-cs"/>
              </a:rPr>
              <a:t>contrat</a:t>
            </a:r>
            <a:r>
              <a:rPr kumimoji="0" lang="fr-FR" altLang="fr-FR" sz="1600" b="1" i="0" u="none" strike="noStrike" kern="1200" cap="none" spc="0" normalizeH="0" baseline="0" noProof="0" dirty="0">
                <a:ln>
                  <a:noFill/>
                </a:ln>
                <a:solidFill>
                  <a:prstClr val="black"/>
                </a:solidFill>
                <a:effectLst/>
                <a:uLnTx/>
                <a:uFillTx/>
                <a:latin typeface="Aptos" panose="02110004020202020204"/>
                <a:ea typeface="+mn-ea"/>
                <a:cs typeface="+mn-cs"/>
              </a:rPr>
              <a:t> :</a:t>
            </a:r>
            <a:r>
              <a:rPr kumimoji="0" lang="fr-FR" altLang="fr-FR" sz="1600" b="0" i="0" u="none" strike="noStrike" kern="1200" cap="none" spc="0" normalizeH="0" baseline="0" noProof="0" dirty="0">
                <a:ln>
                  <a:noFill/>
                </a:ln>
                <a:solidFill>
                  <a:prstClr val="black"/>
                </a:solidFill>
                <a:effectLst/>
                <a:uLnTx/>
                <a:uFillTx/>
                <a:latin typeface="Arial" panose="020B0604020202020204" pitchFamily="34" charset="0"/>
                <a:ea typeface="+mn-ea"/>
                <a:cs typeface="+mn-cs"/>
              </a:rPr>
              <a:t> Contient les informations sur chaque contrat d’assurance (surface, type de logement, prix de cotisation, etc.).</a:t>
            </a:r>
          </a:p>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fr-FR" altLang="fr-FR" sz="1600" b="0" i="0" u="none" strike="noStrike" kern="1200" cap="none" spc="0" normalizeH="0" baseline="0" noProof="0" dirty="0">
              <a:ln>
                <a:noFill/>
              </a:ln>
              <a:solidFill>
                <a:prstClr val="black"/>
              </a:solidFill>
              <a:effectLst/>
              <a:uLnTx/>
              <a:uFillTx/>
              <a:latin typeface="Arial" panose="020B0604020202020204" pitchFamily="34" charset="0"/>
              <a:ea typeface="+mn-ea"/>
              <a:cs typeface="+mn-cs"/>
            </a:endParaRPr>
          </a:p>
          <a:p>
            <a:pPr marL="0" marR="0" lvl="0" indent="0" algn="l" defTabSz="914400" rtl="0" eaLnBrk="0" fontAlgn="base" latinLnBrk="0" hangingPunct="0">
              <a:lnSpc>
                <a:spcPct val="100000"/>
              </a:lnSpc>
              <a:spcBef>
                <a:spcPct val="0"/>
              </a:spcBef>
              <a:spcAft>
                <a:spcPct val="0"/>
              </a:spcAft>
              <a:buClrTx/>
              <a:buSzTx/>
              <a:buFontTx/>
              <a:buChar char="•"/>
              <a:tabLst/>
              <a:defRPr/>
            </a:pPr>
            <a:r>
              <a:rPr kumimoji="0" lang="fr-FR" altLang="fr-FR" sz="1600" b="1" i="0" u="none" strike="noStrike" kern="1200" cap="none" spc="0" normalizeH="0" baseline="0" noProof="0" dirty="0">
                <a:ln>
                  <a:noFill/>
                </a:ln>
                <a:solidFill>
                  <a:prstClr val="black"/>
                </a:solidFill>
                <a:effectLst/>
                <a:uLnTx/>
                <a:uFillTx/>
                <a:latin typeface="Arial" panose="020B0604020202020204" pitchFamily="34" charset="0"/>
                <a:ea typeface="+mn-ea"/>
                <a:cs typeface="+mn-cs"/>
              </a:rPr>
              <a:t>Table </a:t>
            </a:r>
            <a:r>
              <a:rPr kumimoji="0" lang="fr-FR" altLang="fr-FR" sz="1600" b="1" i="0" u="none" strike="noStrike" kern="1200" cap="none" spc="0" normalizeH="0" baseline="0" noProof="0" dirty="0">
                <a:ln>
                  <a:noFill/>
                </a:ln>
                <a:solidFill>
                  <a:prstClr val="black"/>
                </a:solidFill>
                <a:effectLst/>
                <a:uLnTx/>
                <a:uFillTx/>
                <a:latin typeface="Arial Unicode MS"/>
                <a:ea typeface="+mn-ea"/>
                <a:cs typeface="+mn-cs"/>
              </a:rPr>
              <a:t>région</a:t>
            </a:r>
            <a:r>
              <a:rPr kumimoji="0" lang="fr-FR" altLang="fr-FR" sz="1600" b="1" i="0" u="none" strike="noStrike" kern="1200" cap="none" spc="0" normalizeH="0" baseline="0" noProof="0" dirty="0">
                <a:ln>
                  <a:noFill/>
                </a:ln>
                <a:solidFill>
                  <a:prstClr val="black"/>
                </a:solidFill>
                <a:effectLst/>
                <a:uLnTx/>
                <a:uFillTx/>
                <a:latin typeface="Aptos" panose="02110004020202020204"/>
                <a:ea typeface="+mn-ea"/>
                <a:cs typeface="+mn-cs"/>
              </a:rPr>
              <a:t> :</a:t>
            </a:r>
            <a:r>
              <a:rPr kumimoji="0" lang="fr-FR" altLang="fr-FR" sz="1600" b="0" i="0" u="none" strike="noStrike" kern="1200" cap="none" spc="0" normalizeH="0" baseline="0" noProof="0" dirty="0">
                <a:ln>
                  <a:noFill/>
                </a:ln>
                <a:solidFill>
                  <a:prstClr val="black"/>
                </a:solidFill>
                <a:effectLst/>
                <a:uLnTx/>
                <a:uFillTx/>
                <a:latin typeface="Arial" panose="020B0604020202020204" pitchFamily="34" charset="0"/>
                <a:ea typeface="+mn-ea"/>
                <a:cs typeface="+mn-cs"/>
              </a:rPr>
              <a:t> Contient les informations géographiques associées aux contrats (nom de la région, code département, etc.).</a:t>
            </a:r>
          </a:p>
          <a:p>
            <a:pPr marL="0" marR="0" lvl="0" indent="0" algn="l" defTabSz="914400" rtl="0" eaLnBrk="0" fontAlgn="base" latinLnBrk="0" hangingPunct="0">
              <a:lnSpc>
                <a:spcPct val="100000"/>
              </a:lnSpc>
              <a:spcBef>
                <a:spcPct val="0"/>
              </a:spcBef>
              <a:spcAft>
                <a:spcPct val="0"/>
              </a:spcAft>
              <a:buClrTx/>
              <a:buSzTx/>
              <a:buFontTx/>
              <a:buChar char="•"/>
              <a:tabLst/>
              <a:defRPr/>
            </a:pPr>
            <a:endParaRPr kumimoji="0" lang="fr-FR" altLang="fr-FR" sz="1600" b="0" i="0" u="none" strike="noStrike" kern="1200" cap="none" spc="0" normalizeH="0" baseline="0" noProof="0" dirty="0">
              <a:ln>
                <a:noFill/>
              </a:ln>
              <a:solidFill>
                <a:prstClr val="black"/>
              </a:solidFill>
              <a:effectLst/>
              <a:uLnTx/>
              <a:uFillTx/>
              <a:latin typeface="Arial" panose="020B0604020202020204" pitchFamily="34" charset="0"/>
              <a:ea typeface="+mn-ea"/>
              <a:cs typeface="+mn-cs"/>
            </a:endParaRPr>
          </a:p>
          <a:p>
            <a:pPr marL="0" marR="0" lvl="0" indent="0" algn="l" defTabSz="914400" rtl="0" eaLnBrk="0" fontAlgn="base" latinLnBrk="0" hangingPunct="0">
              <a:lnSpc>
                <a:spcPct val="100000"/>
              </a:lnSpc>
              <a:spcBef>
                <a:spcPct val="0"/>
              </a:spcBef>
              <a:spcAft>
                <a:spcPct val="0"/>
              </a:spcAft>
              <a:buClrTx/>
              <a:buSzTx/>
              <a:buFontTx/>
              <a:buChar char="•"/>
              <a:tabLst/>
              <a:defRPr/>
            </a:pPr>
            <a:r>
              <a:rPr kumimoji="0" lang="fr-FR" altLang="fr-FR" sz="1600" b="1" i="0" u="none" strike="noStrike" kern="1200" cap="none" spc="0" normalizeH="0" baseline="0" noProof="0" dirty="0">
                <a:ln>
                  <a:noFill/>
                </a:ln>
                <a:solidFill>
                  <a:prstClr val="black"/>
                </a:solidFill>
                <a:effectLst/>
                <a:uLnTx/>
                <a:uFillTx/>
                <a:latin typeface="Arial" panose="020B0604020202020204" pitchFamily="34" charset="0"/>
                <a:ea typeface="+mn-ea"/>
                <a:cs typeface="+mn-cs"/>
              </a:rPr>
              <a:t>Relation :</a:t>
            </a:r>
            <a:r>
              <a:rPr kumimoji="0" lang="fr-FR" altLang="fr-FR" sz="1600" b="0" i="0" u="none" strike="noStrike" kern="1200" cap="none" spc="0" normalizeH="0" baseline="0" noProof="0" dirty="0">
                <a:ln>
                  <a:noFill/>
                </a:ln>
                <a:solidFill>
                  <a:prstClr val="black"/>
                </a:solidFill>
                <a:effectLst/>
                <a:uLnTx/>
                <a:uFillTx/>
                <a:latin typeface="Arial" panose="020B0604020202020204" pitchFamily="34" charset="0"/>
                <a:ea typeface="+mn-ea"/>
                <a:cs typeface="+mn-cs"/>
              </a:rPr>
              <a:t> La liaison entre les deux tables se fait via </a:t>
            </a:r>
            <a:r>
              <a:rPr kumimoji="0" lang="fr-FR" altLang="fr-FR" sz="1600" b="0" i="0" u="none" strike="noStrike" kern="1200" cap="none" spc="0" normalizeH="0" baseline="0" noProof="0" dirty="0">
                <a:ln>
                  <a:noFill/>
                </a:ln>
                <a:solidFill>
                  <a:prstClr val="black"/>
                </a:solidFill>
                <a:effectLst/>
                <a:uLnTx/>
                <a:uFillTx/>
                <a:latin typeface="Arial Unicode MS"/>
                <a:ea typeface="+mn-ea"/>
                <a:cs typeface="+mn-cs"/>
              </a:rPr>
              <a:t>Code_dep_code_commune</a:t>
            </a:r>
            <a:r>
              <a:rPr kumimoji="0" lang="fr-FR" altLang="fr-FR" sz="1600" b="0" i="0" u="none" strike="noStrike" kern="1200" cap="none" spc="0" normalizeH="0" baseline="0" noProof="0" dirty="0">
                <a:ln>
                  <a:noFill/>
                </a:ln>
                <a:solidFill>
                  <a:prstClr val="black"/>
                </a:solidFill>
                <a:effectLst/>
                <a:uLnTx/>
                <a:uFillTx/>
                <a:latin typeface="Aptos" panose="02110004020202020204"/>
                <a:ea typeface="+mn-ea"/>
                <a:cs typeface="+mn-cs"/>
              </a:rPr>
              <a:t>, qui est la clé étrangère reliant </a:t>
            </a:r>
            <a:r>
              <a:rPr kumimoji="0" lang="fr-FR" altLang="fr-FR" sz="1600" b="0" i="0" u="none" strike="noStrike" kern="1200" cap="none" spc="0" normalizeH="0" baseline="0" noProof="0" dirty="0">
                <a:ln>
                  <a:noFill/>
                </a:ln>
                <a:solidFill>
                  <a:prstClr val="black"/>
                </a:solidFill>
                <a:effectLst/>
                <a:uLnTx/>
                <a:uFillTx/>
                <a:latin typeface="Arial Unicode MS"/>
                <a:ea typeface="+mn-ea"/>
                <a:cs typeface="+mn-cs"/>
              </a:rPr>
              <a:t>contrat</a:t>
            </a:r>
            <a:r>
              <a:rPr kumimoji="0" lang="fr-FR" altLang="fr-FR" sz="1600" b="0" i="0" u="none" strike="noStrike" kern="1200" cap="none" spc="0" normalizeH="0" baseline="0" noProof="0" dirty="0">
                <a:ln>
                  <a:noFill/>
                </a:ln>
                <a:solidFill>
                  <a:prstClr val="black"/>
                </a:solidFill>
                <a:effectLst/>
                <a:uLnTx/>
                <a:uFillTx/>
                <a:latin typeface="Aptos" panose="02110004020202020204"/>
                <a:ea typeface="+mn-ea"/>
                <a:cs typeface="+mn-cs"/>
              </a:rPr>
              <a:t> à </a:t>
            </a:r>
            <a:r>
              <a:rPr kumimoji="0" lang="fr-FR" altLang="fr-FR" sz="1600" b="0" i="0" u="none" strike="noStrike" kern="1200" cap="none" spc="0" normalizeH="0" baseline="0" noProof="0" dirty="0">
                <a:ln>
                  <a:noFill/>
                </a:ln>
                <a:solidFill>
                  <a:prstClr val="black"/>
                </a:solidFill>
                <a:effectLst/>
                <a:uLnTx/>
                <a:uFillTx/>
                <a:latin typeface="Arial Unicode MS"/>
                <a:ea typeface="+mn-ea"/>
                <a:cs typeface="+mn-cs"/>
              </a:rPr>
              <a:t>région</a:t>
            </a:r>
            <a:r>
              <a:rPr kumimoji="0" lang="fr-FR" altLang="fr-FR" sz="1600" b="0" i="0" u="none" strike="noStrike" kern="1200" cap="none" spc="0" normalizeH="0" baseline="0" noProof="0" dirty="0">
                <a:ln>
                  <a:noFill/>
                </a:ln>
                <a:solidFill>
                  <a:prstClr val="black"/>
                </a:solidFill>
                <a:effectLst/>
                <a:uLnTx/>
                <a:uFillTx/>
                <a:latin typeface="Aptos" panose="02110004020202020204"/>
                <a:ea typeface="+mn-ea"/>
                <a:cs typeface="+mn-cs"/>
              </a:rPr>
              <a:t>.</a:t>
            </a:r>
          </a:p>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fr-FR" altLang="fr-FR" sz="1600" b="0" i="0" u="none" strike="noStrike" kern="1200" cap="none" spc="0" normalizeH="0" baseline="0" noProof="0" dirty="0">
              <a:ln>
                <a:noFill/>
              </a:ln>
              <a:solidFill>
                <a:prstClr val="black"/>
              </a:solidFill>
              <a:effectLst/>
              <a:uLnTx/>
              <a:uFillTx/>
              <a:latin typeface="Arial" panose="020B0604020202020204" pitchFamily="34" charset="0"/>
              <a:ea typeface="+mn-ea"/>
              <a:cs typeface="+mn-cs"/>
            </a:endParaRP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fr-FR" altLang="fr-FR" sz="1600" b="0" i="0" u="none" strike="noStrike" kern="1200" cap="none" spc="0" normalizeH="0" baseline="0" noProof="0" dirty="0">
                <a:ln>
                  <a:noFill/>
                </a:ln>
                <a:solidFill>
                  <a:prstClr val="black"/>
                </a:solidFill>
                <a:effectLst/>
                <a:uLnTx/>
                <a:uFillTx/>
                <a:latin typeface="Arial" panose="020B0604020202020204" pitchFamily="34" charset="0"/>
                <a:ea typeface="+mn-ea"/>
                <a:cs typeface="+mn-cs"/>
              </a:rPr>
              <a:t>Ce schéma nous a permis d’optimiser les jointures et d’assurer une cohérence dans l’analyse des données.</a:t>
            </a:r>
          </a:p>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fr-FR" altLang="fr-FR" sz="1600" b="0" i="0" u="none" strike="noStrike" kern="1200" cap="none" spc="0" normalizeH="0" baseline="0" noProof="0" dirty="0">
              <a:ln>
                <a:noFill/>
              </a:ln>
              <a:solidFill>
                <a:prstClr val="black"/>
              </a:solidFill>
              <a:effectLst/>
              <a:uLnTx/>
              <a:uFillTx/>
              <a:latin typeface="Arial" panose="020B0604020202020204" pitchFamily="34" charset="0"/>
              <a:ea typeface="+mn-ea"/>
              <a:cs typeface="+mn-cs"/>
            </a:endParaRP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fr-FR" altLang="fr-FR" sz="1600" b="0" i="0" u="none" strike="noStrike" kern="1200" cap="none" spc="0" normalizeH="0" baseline="0" noProof="0" dirty="0">
                <a:ln>
                  <a:noFill/>
                </a:ln>
                <a:solidFill>
                  <a:prstClr val="black"/>
                </a:solidFill>
                <a:effectLst/>
                <a:uLnTx/>
                <a:uFillTx/>
                <a:latin typeface="Arial" panose="020B0604020202020204" pitchFamily="34" charset="0"/>
                <a:ea typeface="+mn-ea"/>
                <a:cs typeface="+mn-cs"/>
              </a:rPr>
              <a:t>(J’ai utilisé </a:t>
            </a:r>
            <a:r>
              <a:rPr kumimoji="0" lang="fr-FR" altLang="fr-FR" sz="1600" b="1" i="0" u="none" strike="noStrike" kern="1200" cap="none" spc="0" normalizeH="0" baseline="0" noProof="0" dirty="0">
                <a:ln>
                  <a:noFill/>
                </a:ln>
                <a:solidFill>
                  <a:prstClr val="black"/>
                </a:solidFill>
                <a:effectLst/>
                <a:uLnTx/>
                <a:uFillTx/>
                <a:latin typeface="Arial" panose="020B0604020202020204" pitchFamily="34" charset="0"/>
                <a:ea typeface="+mn-ea"/>
                <a:cs typeface="+mn-cs"/>
              </a:rPr>
              <a:t>LUCIDCHART</a:t>
            </a:r>
            <a:r>
              <a:rPr kumimoji="0" lang="fr-FR" altLang="fr-FR" sz="1600" b="0" i="0" u="none" strike="noStrike" kern="1200" cap="none" spc="0" normalizeH="0" baseline="0" noProof="0" dirty="0">
                <a:ln>
                  <a:noFill/>
                </a:ln>
                <a:solidFill>
                  <a:prstClr val="black"/>
                </a:solidFill>
                <a:effectLst/>
                <a:uLnTx/>
                <a:uFillTx/>
                <a:latin typeface="Arial" panose="020B0604020202020204" pitchFamily="34" charset="0"/>
                <a:ea typeface="+mn-ea"/>
                <a:cs typeface="+mn-cs"/>
              </a:rPr>
              <a:t> pour crée le schéma relationnel)</a:t>
            </a:r>
          </a:p>
        </p:txBody>
      </p:sp>
    </p:spTree>
    <p:extLst>
      <p:ext uri="{BB962C8B-B14F-4D97-AF65-F5344CB8AC3E}">
        <p14:creationId xmlns:p14="http://schemas.microsoft.com/office/powerpoint/2010/main" val="397312765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1">
            <a:extLst>
              <a:ext uri="{FF2B5EF4-FFF2-40B4-BE49-F238E27FC236}">
                <a16:creationId xmlns:a16="http://schemas.microsoft.com/office/drawing/2014/main" id="{4C5C1455-09B9-7743-0642-4A852512E549}"/>
              </a:ext>
            </a:extLst>
          </p:cNvPr>
          <p:cNvPicPr>
            <a:picLocks noChangeAspect="1"/>
          </p:cNvPicPr>
          <p:nvPr/>
        </p:nvPicPr>
        <p:blipFill>
          <a:blip r:embed="rId3"/>
          <a:stretch>
            <a:fillRect/>
          </a:stretch>
        </p:blipFill>
        <p:spPr>
          <a:xfrm>
            <a:off x="87871" y="77537"/>
            <a:ext cx="12016257" cy="2552647"/>
          </a:xfrm>
          <a:prstGeom prst="rect">
            <a:avLst/>
          </a:prstGeom>
        </p:spPr>
      </p:pic>
      <p:sp>
        <p:nvSpPr>
          <p:cNvPr id="4" name="Rectangle 1">
            <a:extLst>
              <a:ext uri="{FF2B5EF4-FFF2-40B4-BE49-F238E27FC236}">
                <a16:creationId xmlns:a16="http://schemas.microsoft.com/office/drawing/2014/main" id="{703BD670-39FF-937B-F71D-F0DC26763929}"/>
              </a:ext>
            </a:extLst>
          </p:cNvPr>
          <p:cNvSpPr>
            <a:spLocks noChangeArrowheads="1"/>
          </p:cNvSpPr>
          <p:nvPr/>
        </p:nvSpPr>
        <p:spPr bwMode="auto">
          <a:xfrm>
            <a:off x="50027" y="2630184"/>
            <a:ext cx="12091943"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defRPr/>
            </a:pPr>
            <a:r>
              <a:rPr kumimoji="0" lang="fr-FR" altLang="fr-FR" sz="1200" b="1" i="0" u="none" strike="noStrike" kern="1200" cap="none" spc="0" normalizeH="0" baseline="0" noProof="0" dirty="0">
                <a:ln>
                  <a:noFill/>
                </a:ln>
                <a:solidFill>
                  <a:prstClr val="black"/>
                </a:solidFill>
                <a:effectLst/>
                <a:uLnTx/>
                <a:uFillTx/>
                <a:latin typeface="Aptos" panose="02110004020202020204"/>
                <a:ea typeface="+mn-ea"/>
                <a:cs typeface="+mn-cs"/>
              </a:rPr>
              <a:t> CREATE TABLE </a:t>
            </a:r>
            <a:r>
              <a:rPr kumimoji="0" lang="fr-FR" altLang="fr-FR" sz="1200" b="0" i="0" u="none" strike="noStrike" kern="1200" cap="none" spc="0" normalizeH="0" baseline="0" noProof="0" dirty="0">
                <a:ln>
                  <a:noFill/>
                </a:ln>
                <a:solidFill>
                  <a:prstClr val="black"/>
                </a:solidFill>
                <a:effectLst/>
                <a:uLnTx/>
                <a:uFillTx/>
                <a:latin typeface="Aptos" panose="02110004020202020204"/>
                <a:ea typeface="+mn-ea"/>
                <a:cs typeface="+mn-cs"/>
              </a:rPr>
              <a:t>: Indique à la base de données que nous créons une nouvelle table.</a:t>
            </a:r>
          </a:p>
          <a:p>
            <a:pPr marL="0" marR="0" lvl="0" indent="0" algn="l" defTabSz="914400" rtl="0" eaLnBrk="0" fontAlgn="base" latinLnBrk="0" hangingPunct="0">
              <a:lnSpc>
                <a:spcPct val="100000"/>
              </a:lnSpc>
              <a:spcBef>
                <a:spcPct val="0"/>
              </a:spcBef>
              <a:spcAft>
                <a:spcPct val="0"/>
              </a:spcAft>
              <a:buClrTx/>
              <a:buSzTx/>
              <a:buFontTx/>
              <a:buChar char="•"/>
              <a:tabLst/>
              <a:defRPr/>
            </a:pPr>
            <a:r>
              <a:rPr kumimoji="0" lang="fr-FR" altLang="fr-FR" sz="1200" b="1" i="0" u="none" strike="noStrike" kern="1200" cap="none" spc="0" normalizeH="0" baseline="0" noProof="0" dirty="0">
                <a:ln>
                  <a:noFill/>
                </a:ln>
                <a:solidFill>
                  <a:prstClr val="black"/>
                </a:solidFill>
                <a:effectLst/>
                <a:uLnTx/>
                <a:uFillTx/>
                <a:latin typeface="Aptos" panose="02110004020202020204"/>
                <a:ea typeface="+mn-ea"/>
                <a:cs typeface="+mn-cs"/>
              </a:rPr>
              <a:t> Contrat_ID INT PRIMARY KEY </a:t>
            </a:r>
            <a:r>
              <a:rPr kumimoji="0" lang="fr-FR" altLang="fr-FR" sz="1200" b="0" i="0" u="none" strike="noStrike" kern="1200" cap="none" spc="0" normalizeH="0" baseline="0" noProof="0" dirty="0">
                <a:ln>
                  <a:noFill/>
                </a:ln>
                <a:solidFill>
                  <a:prstClr val="black"/>
                </a:solidFill>
                <a:effectLst/>
                <a:uLnTx/>
                <a:uFillTx/>
                <a:latin typeface="Aptos" panose="02110004020202020204"/>
                <a:ea typeface="+mn-ea"/>
                <a:cs typeface="+mn-cs"/>
              </a:rPr>
              <a:t>: Colonne définie comme une clé primaire unique.</a:t>
            </a:r>
          </a:p>
          <a:p>
            <a:pPr marL="0" marR="0" lvl="0" indent="0" algn="l" defTabSz="914400" rtl="0" eaLnBrk="0" fontAlgn="base" latinLnBrk="0" hangingPunct="0">
              <a:lnSpc>
                <a:spcPct val="100000"/>
              </a:lnSpc>
              <a:spcBef>
                <a:spcPct val="0"/>
              </a:spcBef>
              <a:spcAft>
                <a:spcPct val="0"/>
              </a:spcAft>
              <a:buClrTx/>
              <a:buSzTx/>
              <a:buFontTx/>
              <a:buChar char="•"/>
              <a:tabLst/>
              <a:defRPr/>
            </a:pPr>
            <a:r>
              <a:rPr kumimoji="0" lang="fr-FR" altLang="fr-FR" sz="1200" b="0" i="0" u="none" strike="noStrike" kern="1200" cap="none" spc="0" normalizeH="0" baseline="0" noProof="0" dirty="0">
                <a:ln>
                  <a:noFill/>
                </a:ln>
                <a:solidFill>
                  <a:prstClr val="black"/>
                </a:solidFill>
                <a:effectLst/>
                <a:uLnTx/>
                <a:uFillTx/>
                <a:latin typeface="Aptos" panose="02110004020202020204"/>
                <a:ea typeface="+mn-ea"/>
                <a:cs typeface="+mn-cs"/>
              </a:rPr>
              <a:t> Les autres colonnes sont définies avec leur type de données et, dans certains cas, leur taille (VARCHAR(7)). </a:t>
            </a:r>
          </a:p>
        </p:txBody>
      </p:sp>
      <p:pic>
        <p:nvPicPr>
          <p:cNvPr id="5" name="Image 4">
            <a:extLst>
              <a:ext uri="{FF2B5EF4-FFF2-40B4-BE49-F238E27FC236}">
                <a16:creationId xmlns:a16="http://schemas.microsoft.com/office/drawing/2014/main" id="{3C754462-4620-5007-018A-C32ACEE7B12C}"/>
              </a:ext>
            </a:extLst>
          </p:cNvPr>
          <p:cNvPicPr>
            <a:picLocks noChangeAspect="1"/>
          </p:cNvPicPr>
          <p:nvPr/>
        </p:nvPicPr>
        <p:blipFill>
          <a:blip r:embed="rId4"/>
          <a:stretch>
            <a:fillRect/>
          </a:stretch>
        </p:blipFill>
        <p:spPr>
          <a:xfrm>
            <a:off x="302484" y="3558574"/>
            <a:ext cx="5184726" cy="3221889"/>
          </a:xfrm>
          <a:prstGeom prst="rect">
            <a:avLst/>
          </a:prstGeom>
        </p:spPr>
      </p:pic>
      <p:pic>
        <p:nvPicPr>
          <p:cNvPr id="6" name="Image 5">
            <a:extLst>
              <a:ext uri="{FF2B5EF4-FFF2-40B4-BE49-F238E27FC236}">
                <a16:creationId xmlns:a16="http://schemas.microsoft.com/office/drawing/2014/main" id="{239DC369-9DE6-8196-A7F6-6B1B9B17AA47}"/>
              </a:ext>
            </a:extLst>
          </p:cNvPr>
          <p:cNvPicPr>
            <a:picLocks noChangeAspect="1"/>
          </p:cNvPicPr>
          <p:nvPr/>
        </p:nvPicPr>
        <p:blipFill>
          <a:blip r:embed="rId5"/>
          <a:stretch>
            <a:fillRect/>
          </a:stretch>
        </p:blipFill>
        <p:spPr>
          <a:xfrm>
            <a:off x="5818607" y="3558573"/>
            <a:ext cx="6285521" cy="3221889"/>
          </a:xfrm>
          <a:prstGeom prst="rect">
            <a:avLst/>
          </a:prstGeom>
        </p:spPr>
      </p:pic>
    </p:spTree>
    <p:extLst>
      <p:ext uri="{BB962C8B-B14F-4D97-AF65-F5344CB8AC3E}">
        <p14:creationId xmlns:p14="http://schemas.microsoft.com/office/powerpoint/2010/main" val="105331590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1D81C630-8A81-0FDE-C4F6-C6F371BFDC7A}"/>
              </a:ext>
            </a:extLst>
          </p:cNvPr>
          <p:cNvSpPr>
            <a:spLocks noChangeArrowheads="1"/>
          </p:cNvSpPr>
          <p:nvPr/>
        </p:nvSpPr>
        <p:spPr bwMode="auto">
          <a:xfrm>
            <a:off x="154112" y="172924"/>
            <a:ext cx="11702266" cy="11387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fr-FR" altLang="fr-FR" sz="1800" b="1" i="0" u="none" strike="noStrike" kern="1200" cap="none" spc="0" normalizeH="0" baseline="0" noProof="0" dirty="0">
                <a:ln>
                  <a:noFill/>
                </a:ln>
                <a:solidFill>
                  <a:prstClr val="black"/>
                </a:solidFill>
                <a:effectLst/>
                <a:uLnTx/>
                <a:uFillTx/>
                <a:latin typeface="Arial" panose="020B0604020202020204" pitchFamily="34" charset="0"/>
                <a:ea typeface="+mn-ea"/>
                <a:cs typeface="+mn-cs"/>
              </a:rPr>
              <a:t>Étape 3 : Création des Tables en SQL</a:t>
            </a:r>
          </a:p>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fr-FR" altLang="fr-FR" sz="1800" b="1" i="0" u="none" strike="noStrike" kern="1200" cap="none" spc="0" normalizeH="0" baseline="0" noProof="0" dirty="0">
              <a:ln>
                <a:noFill/>
              </a:ln>
              <a:solidFill>
                <a:prstClr val="black"/>
              </a:solidFill>
              <a:effectLst/>
              <a:uLnTx/>
              <a:uFillTx/>
              <a:latin typeface="Arial" panose="020B0604020202020204" pitchFamily="34" charset="0"/>
              <a:ea typeface="+mn-ea"/>
              <a:cs typeface="+mn-cs"/>
            </a:endParaRP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fr-FR" altLang="fr-FR" sz="1600" b="0" i="0" u="none" strike="noStrike" kern="1200" cap="none" spc="0" normalizeH="0" baseline="0" noProof="0" dirty="0">
                <a:ln>
                  <a:noFill/>
                </a:ln>
                <a:solidFill>
                  <a:prstClr val="black"/>
                </a:solidFill>
                <a:effectLst/>
                <a:uLnTx/>
                <a:uFillTx/>
                <a:latin typeface="Arial" panose="020B0604020202020204" pitchFamily="34" charset="0"/>
                <a:ea typeface="+mn-ea"/>
                <a:cs typeface="+mn-cs"/>
              </a:rPr>
              <a:t>Pour assurer une base de données bien définie, nous avons utilisé SQL pour créer les tables </a:t>
            </a:r>
            <a:r>
              <a:rPr kumimoji="0" lang="fr-FR" altLang="fr-FR" sz="1600" b="0" i="0" u="none" strike="noStrike" kern="1200" cap="none" spc="0" normalizeH="0" baseline="0" noProof="0" dirty="0">
                <a:ln>
                  <a:noFill/>
                </a:ln>
                <a:solidFill>
                  <a:prstClr val="black"/>
                </a:solidFill>
                <a:effectLst/>
                <a:uLnTx/>
                <a:uFillTx/>
                <a:latin typeface="Arial Unicode MS"/>
                <a:ea typeface="+mn-ea"/>
                <a:cs typeface="+mn-cs"/>
              </a:rPr>
              <a:t>contrat</a:t>
            </a:r>
            <a:r>
              <a:rPr kumimoji="0" lang="fr-FR" altLang="fr-FR" sz="1600" b="0" i="0" u="none" strike="noStrike" kern="1200" cap="none" spc="0" normalizeH="0" baseline="0" noProof="0" dirty="0">
                <a:ln>
                  <a:noFill/>
                </a:ln>
                <a:solidFill>
                  <a:prstClr val="black"/>
                </a:solidFill>
                <a:effectLst/>
                <a:uLnTx/>
                <a:uFillTx/>
                <a:latin typeface="Aptos" panose="02110004020202020204"/>
                <a:ea typeface="+mn-ea"/>
                <a:cs typeface="+mn-cs"/>
              </a:rPr>
              <a:t> et </a:t>
            </a:r>
            <a:r>
              <a:rPr kumimoji="0" lang="fr-FR" altLang="fr-FR" sz="1600" b="0" i="0" u="none" strike="noStrike" kern="1200" cap="none" spc="0" normalizeH="0" baseline="0" noProof="0" dirty="0">
                <a:ln>
                  <a:noFill/>
                </a:ln>
                <a:solidFill>
                  <a:prstClr val="black"/>
                </a:solidFill>
                <a:effectLst/>
                <a:uLnTx/>
                <a:uFillTx/>
                <a:latin typeface="Arial Unicode MS"/>
                <a:ea typeface="+mn-ea"/>
                <a:cs typeface="+mn-cs"/>
              </a:rPr>
              <a:t>région</a:t>
            </a:r>
            <a:r>
              <a:rPr kumimoji="0" lang="fr-FR" altLang="fr-FR" sz="1600" b="0" i="0" u="none" strike="noStrike" kern="1200" cap="none" spc="0" normalizeH="0" baseline="0" noProof="0" dirty="0">
                <a:ln>
                  <a:noFill/>
                </a:ln>
                <a:solidFill>
                  <a:prstClr val="black"/>
                </a:solidFill>
                <a:effectLst/>
                <a:uLnTx/>
                <a:uFillTx/>
                <a:latin typeface="Aptos" panose="02110004020202020204"/>
                <a:ea typeface="+mn-ea"/>
                <a:cs typeface="+mn-cs"/>
              </a:rPr>
              <a:t>.</a:t>
            </a:r>
          </a:p>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fr-FR" altLang="fr-FR" sz="1600" b="0" i="0" u="none" strike="noStrike" kern="1200" cap="none" spc="0" normalizeH="0" baseline="0" noProof="0" dirty="0">
              <a:ln>
                <a:noFill/>
              </a:ln>
              <a:solidFill>
                <a:prstClr val="black"/>
              </a:solidFill>
              <a:effectLst/>
              <a:uLnTx/>
              <a:uFillTx/>
              <a:latin typeface="Arial" panose="020B0604020202020204" pitchFamily="34" charset="0"/>
              <a:ea typeface="+mn-ea"/>
              <a:cs typeface="+mn-cs"/>
            </a:endParaRPr>
          </a:p>
        </p:txBody>
      </p:sp>
      <p:pic>
        <p:nvPicPr>
          <p:cNvPr id="3" name="Image 2">
            <a:extLst>
              <a:ext uri="{FF2B5EF4-FFF2-40B4-BE49-F238E27FC236}">
                <a16:creationId xmlns:a16="http://schemas.microsoft.com/office/drawing/2014/main" id="{1E976344-C50B-E7E9-89E1-942C4415BC2A}"/>
              </a:ext>
            </a:extLst>
          </p:cNvPr>
          <p:cNvPicPr>
            <a:picLocks noChangeAspect="1"/>
          </p:cNvPicPr>
          <p:nvPr/>
        </p:nvPicPr>
        <p:blipFill>
          <a:blip r:embed="rId2"/>
          <a:stretch>
            <a:fillRect/>
          </a:stretch>
        </p:blipFill>
        <p:spPr>
          <a:xfrm>
            <a:off x="308071" y="1413726"/>
            <a:ext cx="3210133" cy="3815819"/>
          </a:xfrm>
          <a:prstGeom prst="rect">
            <a:avLst/>
          </a:prstGeom>
        </p:spPr>
      </p:pic>
      <p:pic>
        <p:nvPicPr>
          <p:cNvPr id="4" name="Image 3">
            <a:extLst>
              <a:ext uri="{FF2B5EF4-FFF2-40B4-BE49-F238E27FC236}">
                <a16:creationId xmlns:a16="http://schemas.microsoft.com/office/drawing/2014/main" id="{B60AD960-E865-FEF8-EE27-87DBECC80DDC}"/>
              </a:ext>
            </a:extLst>
          </p:cNvPr>
          <p:cNvPicPr>
            <a:picLocks noChangeAspect="1"/>
          </p:cNvPicPr>
          <p:nvPr/>
        </p:nvPicPr>
        <p:blipFill>
          <a:blip r:embed="rId3"/>
          <a:stretch>
            <a:fillRect/>
          </a:stretch>
        </p:blipFill>
        <p:spPr>
          <a:xfrm>
            <a:off x="7747595" y="1937413"/>
            <a:ext cx="4136334" cy="2983174"/>
          </a:xfrm>
          <a:prstGeom prst="rect">
            <a:avLst/>
          </a:prstGeom>
        </p:spPr>
      </p:pic>
      <p:sp>
        <p:nvSpPr>
          <p:cNvPr id="6" name="ZoneTexte 5">
            <a:extLst>
              <a:ext uri="{FF2B5EF4-FFF2-40B4-BE49-F238E27FC236}">
                <a16:creationId xmlns:a16="http://schemas.microsoft.com/office/drawing/2014/main" id="{A186EC63-903D-F29D-5007-7B372D80620A}"/>
              </a:ext>
            </a:extLst>
          </p:cNvPr>
          <p:cNvSpPr txBox="1"/>
          <p:nvPr/>
        </p:nvSpPr>
        <p:spPr>
          <a:xfrm>
            <a:off x="154112" y="5696891"/>
            <a:ext cx="11887200" cy="1107996"/>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1600" b="0" i="0" u="none" strike="noStrike" kern="1200" cap="none" spc="0" normalizeH="0" baseline="0" noProof="0" dirty="0">
                <a:ln>
                  <a:noFill/>
                </a:ln>
                <a:solidFill>
                  <a:prstClr val="black"/>
                </a:solidFill>
                <a:effectLst/>
                <a:uLnTx/>
                <a:uFillTx/>
                <a:latin typeface="Aptos" panose="02110004020202020204"/>
                <a:ea typeface="+mn-ea"/>
                <a:cs typeface="+mn-cs"/>
              </a:rPr>
              <a:t>Ce code a permis d’établir la structure de notre base de données en définissant les types de chaque colonne et en établissant les relations entre les tables.</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600" b="0" i="0" u="none" strike="noStrike" kern="1200" cap="none" spc="0" normalizeH="0" baseline="0" noProof="0" dirty="0">
              <a:ln>
                <a:noFill/>
              </a:ln>
              <a:solidFill>
                <a:prstClr val="black"/>
              </a:solidFill>
              <a:effectLst/>
              <a:uLnTx/>
              <a:uFillTx/>
              <a:latin typeface="Aptos" panose="0211000402020202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60768703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87B1ADE8-2D7B-B359-F41B-DB5638A4B6D2}"/>
              </a:ext>
            </a:extLst>
          </p:cNvPr>
          <p:cNvSpPr>
            <a:spLocks noChangeArrowheads="1"/>
          </p:cNvSpPr>
          <p:nvPr/>
        </p:nvSpPr>
        <p:spPr bwMode="auto">
          <a:xfrm>
            <a:off x="80481" y="189074"/>
            <a:ext cx="12031038" cy="215443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fr-FR" altLang="fr-FR" sz="1800" b="1" i="0" u="none" strike="noStrike" kern="1200" cap="none" spc="0" normalizeH="0" baseline="0" noProof="0" dirty="0">
                <a:ln>
                  <a:noFill/>
                </a:ln>
                <a:solidFill>
                  <a:prstClr val="black"/>
                </a:solidFill>
                <a:effectLst/>
                <a:uLnTx/>
                <a:uFillTx/>
                <a:latin typeface="Arial" panose="020B0604020202020204" pitchFamily="34" charset="0"/>
                <a:ea typeface="+mn-ea"/>
                <a:cs typeface="+mn-cs"/>
              </a:rPr>
              <a:t>Étape 4 : Importation et Vérification des Données</a:t>
            </a:r>
          </a:p>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fr-FR" altLang="fr-FR" sz="1800" b="1" i="0" u="none" strike="noStrike" kern="1200" cap="none" spc="0" normalizeH="0" baseline="0" noProof="0" dirty="0">
              <a:ln>
                <a:noFill/>
              </a:ln>
              <a:solidFill>
                <a:prstClr val="black"/>
              </a:solidFill>
              <a:effectLst/>
              <a:uLnTx/>
              <a:uFillTx/>
              <a:latin typeface="Arial" panose="020B0604020202020204" pitchFamily="34" charset="0"/>
              <a:ea typeface="+mn-ea"/>
              <a:cs typeface="+mn-cs"/>
            </a:endParaRP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fr-FR" altLang="fr-FR" sz="1600" b="0" i="0" u="none" strike="noStrike" kern="1200" cap="none" spc="0" normalizeH="0" baseline="0" noProof="0" dirty="0">
                <a:ln>
                  <a:noFill/>
                </a:ln>
                <a:solidFill>
                  <a:prstClr val="black"/>
                </a:solidFill>
                <a:effectLst/>
                <a:uLnTx/>
                <a:uFillTx/>
                <a:latin typeface="Arial" panose="020B0604020202020204" pitchFamily="34" charset="0"/>
                <a:ea typeface="+mn-ea"/>
                <a:cs typeface="+mn-cs"/>
              </a:rPr>
              <a:t>Après avoir défini nos tables, nous avons </a:t>
            </a:r>
            <a:r>
              <a:rPr kumimoji="0" lang="fr-FR" altLang="fr-FR" sz="1600" b="1" i="0" u="none" strike="noStrike" kern="1200" cap="none" spc="0" normalizeH="0" baseline="0" noProof="0" dirty="0">
                <a:ln>
                  <a:noFill/>
                </a:ln>
                <a:solidFill>
                  <a:prstClr val="black"/>
                </a:solidFill>
                <a:effectLst/>
                <a:uLnTx/>
                <a:uFillTx/>
                <a:latin typeface="Arial" panose="020B0604020202020204" pitchFamily="34" charset="0"/>
                <a:ea typeface="+mn-ea"/>
                <a:cs typeface="+mn-cs"/>
              </a:rPr>
              <a:t>importé les données</a:t>
            </a:r>
            <a:r>
              <a:rPr kumimoji="0" lang="fr-FR" altLang="fr-FR" sz="1600" b="0" i="0" u="none" strike="noStrike" kern="1200" cap="none" spc="0" normalizeH="0" baseline="0" noProof="0" dirty="0">
                <a:ln>
                  <a:noFill/>
                </a:ln>
                <a:solidFill>
                  <a:prstClr val="black"/>
                </a:solidFill>
                <a:effectLst/>
                <a:uLnTx/>
                <a:uFillTx/>
                <a:latin typeface="Arial" panose="020B0604020202020204" pitchFamily="34" charset="0"/>
                <a:ea typeface="+mn-ea"/>
                <a:cs typeface="+mn-cs"/>
              </a:rPr>
              <a:t> depuis des fichiers CSV en utilisant </a:t>
            </a:r>
            <a:r>
              <a:rPr kumimoji="0" lang="fr-FR" altLang="fr-FR" sz="1600" b="0" i="0" u="none" strike="noStrike" kern="1200" cap="none" spc="0" normalizeH="0" baseline="0" noProof="0" dirty="0">
                <a:ln>
                  <a:noFill/>
                </a:ln>
                <a:solidFill>
                  <a:prstClr val="black"/>
                </a:solidFill>
                <a:effectLst/>
                <a:uLnTx/>
                <a:uFillTx/>
                <a:latin typeface="Arial Unicode MS"/>
                <a:ea typeface="+mn-ea"/>
                <a:cs typeface="+mn-cs"/>
              </a:rPr>
              <a:t>Table Data Import Wizard </a:t>
            </a:r>
            <a:r>
              <a:rPr kumimoji="0" lang="fr-FR" altLang="fr-FR" sz="1600" b="0" i="0" u="none" strike="noStrike" kern="1200" cap="none" spc="0" normalizeH="0" baseline="0" noProof="0" dirty="0">
                <a:ln>
                  <a:noFill/>
                </a:ln>
                <a:solidFill>
                  <a:prstClr val="black"/>
                </a:solidFill>
                <a:effectLst/>
                <a:uLnTx/>
                <a:uFillTx/>
                <a:latin typeface="Aptos" panose="02110004020202020204"/>
                <a:ea typeface="+mn-ea"/>
                <a:cs typeface="+mn-cs"/>
              </a:rPr>
              <a:t>et </a:t>
            </a:r>
            <a:r>
              <a:rPr kumimoji="0" lang="fr-FR" altLang="fr-FR" sz="1600" b="1" i="0" u="none" strike="noStrike" kern="1200" cap="none" spc="0" normalizeH="0" baseline="0" noProof="0" dirty="0">
                <a:ln>
                  <a:noFill/>
                </a:ln>
                <a:solidFill>
                  <a:prstClr val="black"/>
                </a:solidFill>
                <a:effectLst/>
                <a:uLnTx/>
                <a:uFillTx/>
                <a:latin typeface="Arial" panose="020B0604020202020204" pitchFamily="34" charset="0"/>
                <a:ea typeface="+mn-ea"/>
                <a:cs typeface="+mn-cs"/>
              </a:rPr>
              <a:t>vérifié leur intégrité</a:t>
            </a:r>
            <a:r>
              <a:rPr kumimoji="0" lang="fr-FR" altLang="fr-FR" sz="1600" b="0" i="0" u="none" strike="noStrike" kern="1200" cap="none" spc="0" normalizeH="0" baseline="0" noProof="0" dirty="0">
                <a:ln>
                  <a:noFill/>
                </a:ln>
                <a:solidFill>
                  <a:prstClr val="black"/>
                </a:solidFill>
                <a:effectLst/>
                <a:uLnTx/>
                <a:uFillTx/>
                <a:latin typeface="Arial" panose="020B0604020202020204" pitchFamily="34" charset="0"/>
                <a:ea typeface="+mn-ea"/>
                <a:cs typeface="+mn-cs"/>
              </a:rPr>
              <a:t>.</a:t>
            </a:r>
          </a:p>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fr-FR" altLang="fr-FR" sz="1600" b="0" i="0" u="none" strike="noStrike" kern="1200" cap="none" spc="0" normalizeH="0" baseline="0" noProof="0" dirty="0">
              <a:ln>
                <a:noFill/>
              </a:ln>
              <a:solidFill>
                <a:prstClr val="black"/>
              </a:solidFill>
              <a:effectLst/>
              <a:uLnTx/>
              <a:uFillTx/>
              <a:latin typeface="Arial" panose="020B0604020202020204" pitchFamily="34" charset="0"/>
              <a:ea typeface="+mn-ea"/>
              <a:cs typeface="+mn-cs"/>
            </a:endParaRPr>
          </a:p>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fr-FR" altLang="fr-FR" sz="1600" b="1" i="0" u="none" strike="noStrike" kern="1200" cap="none" spc="0" normalizeH="0" baseline="0" noProof="0" dirty="0">
              <a:ln>
                <a:noFill/>
              </a:ln>
              <a:solidFill>
                <a:prstClr val="black"/>
              </a:solidFill>
              <a:effectLst/>
              <a:uLnTx/>
              <a:uFillTx/>
              <a:latin typeface="Arial" panose="020B0604020202020204" pitchFamily="34" charset="0"/>
              <a:ea typeface="+mn-ea"/>
              <a:cs typeface="+mn-cs"/>
            </a:endParaRP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fr-FR" altLang="fr-FR" sz="1600" b="1" i="0" u="none" strike="noStrike" kern="1200" cap="none" spc="0" normalizeH="0" baseline="0" noProof="0" dirty="0">
                <a:ln>
                  <a:noFill/>
                </a:ln>
                <a:solidFill>
                  <a:prstClr val="black"/>
                </a:solidFill>
                <a:effectLst/>
                <a:uLnTx/>
                <a:uFillTx/>
                <a:latin typeface="Arial" panose="020B0604020202020204" pitchFamily="34" charset="0"/>
                <a:ea typeface="+mn-ea"/>
                <a:cs typeface="+mn-cs"/>
              </a:rPr>
              <a:t>Requêtes SQL utilisées pour la vérification :</a:t>
            </a:r>
          </a:p>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fr-FR" altLang="fr-FR" sz="1800" b="0" i="0" u="none" strike="noStrike" kern="1200" cap="none" spc="0" normalizeH="0" baseline="0" noProof="0" dirty="0">
              <a:ln>
                <a:noFill/>
              </a:ln>
              <a:solidFill>
                <a:prstClr val="black"/>
              </a:solidFill>
              <a:effectLst/>
              <a:uLnTx/>
              <a:uFillTx/>
              <a:latin typeface="Arial" panose="020B0604020202020204" pitchFamily="34" charset="0"/>
              <a:ea typeface="+mn-ea"/>
              <a:cs typeface="+mn-cs"/>
            </a:endParaRPr>
          </a:p>
        </p:txBody>
      </p:sp>
      <p:pic>
        <p:nvPicPr>
          <p:cNvPr id="3" name="Image 2">
            <a:extLst>
              <a:ext uri="{FF2B5EF4-FFF2-40B4-BE49-F238E27FC236}">
                <a16:creationId xmlns:a16="http://schemas.microsoft.com/office/drawing/2014/main" id="{4362C3A7-EFAB-7AEF-3D18-28F37C225C67}"/>
              </a:ext>
            </a:extLst>
          </p:cNvPr>
          <p:cNvPicPr>
            <a:picLocks noChangeAspect="1"/>
          </p:cNvPicPr>
          <p:nvPr/>
        </p:nvPicPr>
        <p:blipFill>
          <a:blip r:embed="rId2"/>
          <a:stretch>
            <a:fillRect/>
          </a:stretch>
        </p:blipFill>
        <p:spPr>
          <a:xfrm>
            <a:off x="277801" y="2354322"/>
            <a:ext cx="1715404" cy="1500306"/>
          </a:xfrm>
          <a:prstGeom prst="rect">
            <a:avLst/>
          </a:prstGeom>
        </p:spPr>
      </p:pic>
      <p:pic>
        <p:nvPicPr>
          <p:cNvPr id="4" name="Image 3">
            <a:extLst>
              <a:ext uri="{FF2B5EF4-FFF2-40B4-BE49-F238E27FC236}">
                <a16:creationId xmlns:a16="http://schemas.microsoft.com/office/drawing/2014/main" id="{C2FD763D-1DCD-F425-28C8-7536B26D2592}"/>
              </a:ext>
            </a:extLst>
          </p:cNvPr>
          <p:cNvPicPr>
            <a:picLocks noChangeAspect="1"/>
          </p:cNvPicPr>
          <p:nvPr/>
        </p:nvPicPr>
        <p:blipFill>
          <a:blip r:embed="rId3"/>
          <a:stretch>
            <a:fillRect/>
          </a:stretch>
        </p:blipFill>
        <p:spPr>
          <a:xfrm>
            <a:off x="277801" y="4166093"/>
            <a:ext cx="1613233" cy="1500306"/>
          </a:xfrm>
          <a:prstGeom prst="rect">
            <a:avLst/>
          </a:prstGeom>
        </p:spPr>
      </p:pic>
      <p:sp>
        <p:nvSpPr>
          <p:cNvPr id="6" name="ZoneTexte 5">
            <a:extLst>
              <a:ext uri="{FF2B5EF4-FFF2-40B4-BE49-F238E27FC236}">
                <a16:creationId xmlns:a16="http://schemas.microsoft.com/office/drawing/2014/main" id="{1C52196E-2D32-FEAB-2AC7-D39B31B94AD1}"/>
              </a:ext>
            </a:extLst>
          </p:cNvPr>
          <p:cNvSpPr txBox="1"/>
          <p:nvPr/>
        </p:nvSpPr>
        <p:spPr>
          <a:xfrm>
            <a:off x="80481" y="5977864"/>
            <a:ext cx="11776753" cy="3693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1800" b="0" i="0" u="none" strike="noStrike" kern="1200" cap="none" spc="0" normalizeH="0" baseline="0" noProof="0" dirty="0">
                <a:ln>
                  <a:noFill/>
                </a:ln>
                <a:solidFill>
                  <a:prstClr val="black"/>
                </a:solidFill>
                <a:effectLst/>
                <a:uLnTx/>
                <a:uFillTx/>
                <a:latin typeface="Aptos" panose="02110004020202020204"/>
                <a:ea typeface="+mn-ea"/>
                <a:cs typeface="+mn-cs"/>
              </a:rPr>
              <a:t>Ces requêtes nous ont permis de nous assurer que toutes les données ont bien été importées.</a:t>
            </a:r>
          </a:p>
        </p:txBody>
      </p:sp>
      <p:pic>
        <p:nvPicPr>
          <p:cNvPr id="7" name="Image 6">
            <a:extLst>
              <a:ext uri="{FF2B5EF4-FFF2-40B4-BE49-F238E27FC236}">
                <a16:creationId xmlns:a16="http://schemas.microsoft.com/office/drawing/2014/main" id="{05885712-71F3-6815-BA29-99EDE773A01D}"/>
              </a:ext>
            </a:extLst>
          </p:cNvPr>
          <p:cNvPicPr>
            <a:picLocks noChangeAspect="1"/>
          </p:cNvPicPr>
          <p:nvPr/>
        </p:nvPicPr>
        <p:blipFill>
          <a:blip r:embed="rId4"/>
          <a:stretch>
            <a:fillRect/>
          </a:stretch>
        </p:blipFill>
        <p:spPr>
          <a:xfrm>
            <a:off x="3487570" y="2354322"/>
            <a:ext cx="3106026" cy="3312077"/>
          </a:xfrm>
          <a:prstGeom prst="rect">
            <a:avLst/>
          </a:prstGeom>
        </p:spPr>
      </p:pic>
      <p:pic>
        <p:nvPicPr>
          <p:cNvPr id="8" name="Image 7">
            <a:extLst>
              <a:ext uri="{FF2B5EF4-FFF2-40B4-BE49-F238E27FC236}">
                <a16:creationId xmlns:a16="http://schemas.microsoft.com/office/drawing/2014/main" id="{DEDE6736-1DC4-1A3C-41C5-8DA359D8907E}"/>
              </a:ext>
            </a:extLst>
          </p:cNvPr>
          <p:cNvPicPr>
            <a:picLocks noChangeAspect="1"/>
          </p:cNvPicPr>
          <p:nvPr/>
        </p:nvPicPr>
        <p:blipFill>
          <a:blip r:embed="rId5"/>
          <a:stretch>
            <a:fillRect/>
          </a:stretch>
        </p:blipFill>
        <p:spPr>
          <a:xfrm>
            <a:off x="7520636" y="2354321"/>
            <a:ext cx="3106026" cy="3312077"/>
          </a:xfrm>
          <a:prstGeom prst="rect">
            <a:avLst/>
          </a:prstGeom>
        </p:spPr>
      </p:pic>
    </p:spTree>
    <p:extLst>
      <p:ext uri="{BB962C8B-B14F-4D97-AF65-F5344CB8AC3E}">
        <p14:creationId xmlns:p14="http://schemas.microsoft.com/office/powerpoint/2010/main" val="13967687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ZoneTexte 2">
            <a:extLst>
              <a:ext uri="{FF2B5EF4-FFF2-40B4-BE49-F238E27FC236}">
                <a16:creationId xmlns:a16="http://schemas.microsoft.com/office/drawing/2014/main" id="{33AD531A-DD85-356E-F4BE-23D719FF9DAA}"/>
              </a:ext>
            </a:extLst>
          </p:cNvPr>
          <p:cNvSpPr txBox="1"/>
          <p:nvPr/>
        </p:nvSpPr>
        <p:spPr>
          <a:xfrm>
            <a:off x="79625" y="72994"/>
            <a:ext cx="11982236" cy="141577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1800" b="1" i="0" u="none" strike="noStrike" kern="1200" cap="none" spc="0" normalizeH="0" baseline="0" noProof="0" dirty="0">
                <a:ln>
                  <a:noFill/>
                </a:ln>
                <a:solidFill>
                  <a:prstClr val="black"/>
                </a:solidFill>
                <a:effectLst/>
                <a:uLnTx/>
                <a:uFillTx/>
                <a:latin typeface="Aptos" panose="02110004020202020204"/>
                <a:ea typeface="+mn-ea"/>
                <a:cs typeface="+mn-cs"/>
              </a:rPr>
              <a:t>Étape 5 : Requêtes SQL et Analyse</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1" i="0" u="none" strike="noStrike" kern="1200" cap="none" spc="0" normalizeH="0" baseline="0" noProof="0" dirty="0">
              <a:ln>
                <a:noFill/>
              </a:ln>
              <a:solidFill>
                <a:prstClr val="black"/>
              </a:solidFill>
              <a:effectLst/>
              <a:uLnTx/>
              <a:uFillTx/>
              <a:latin typeface="Aptos" panose="0211000402020202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1600" b="0" i="0" u="none" strike="noStrike" kern="1200" cap="none" spc="0" normalizeH="0" baseline="0" noProof="0" dirty="0">
                <a:ln>
                  <a:noFill/>
                </a:ln>
                <a:solidFill>
                  <a:prstClr val="black"/>
                </a:solidFill>
                <a:effectLst/>
                <a:uLnTx/>
                <a:uFillTx/>
                <a:latin typeface="Aptos" panose="02110004020202020204"/>
                <a:ea typeface="+mn-ea"/>
                <a:cs typeface="+mn-cs"/>
              </a:rPr>
              <a:t>Une fois les données en place, nous avons exécuté plusieurs requêtes pour répondre aux questions métier.</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600" b="0" i="0" u="none" strike="noStrike" kern="1200" cap="none" spc="0" normalizeH="0" baseline="0" noProof="0" dirty="0">
              <a:ln>
                <a:noFill/>
              </a:ln>
              <a:solidFill>
                <a:prstClr val="black"/>
              </a:solidFill>
              <a:effectLst/>
              <a:uLnTx/>
              <a:uFillTx/>
              <a:latin typeface="Aptos" panose="0211000402020202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1800" b="1" i="0" u="none" strike="noStrike" kern="1200" cap="none" spc="0" normalizeH="0" baseline="0" noProof="0" dirty="0">
                <a:ln>
                  <a:noFill/>
                </a:ln>
                <a:solidFill>
                  <a:prstClr val="black"/>
                </a:solidFill>
                <a:effectLst/>
                <a:uLnTx/>
                <a:uFillTx/>
                <a:latin typeface="Aptos" panose="02110004020202020204"/>
                <a:ea typeface="+mn-ea"/>
                <a:cs typeface="+mn-cs"/>
              </a:rPr>
              <a:t>Exemples de requêtes réalisées :</a:t>
            </a:r>
          </a:p>
        </p:txBody>
      </p:sp>
      <p:pic>
        <p:nvPicPr>
          <p:cNvPr id="4" name="Image 3">
            <a:extLst>
              <a:ext uri="{FF2B5EF4-FFF2-40B4-BE49-F238E27FC236}">
                <a16:creationId xmlns:a16="http://schemas.microsoft.com/office/drawing/2014/main" id="{5C1D32A9-0526-AF37-3735-1CF51563D447}"/>
              </a:ext>
            </a:extLst>
          </p:cNvPr>
          <p:cNvPicPr>
            <a:picLocks noChangeAspect="1"/>
          </p:cNvPicPr>
          <p:nvPr/>
        </p:nvPicPr>
        <p:blipFill>
          <a:blip r:embed="rId2"/>
          <a:stretch>
            <a:fillRect/>
          </a:stretch>
        </p:blipFill>
        <p:spPr>
          <a:xfrm>
            <a:off x="224700" y="2412633"/>
            <a:ext cx="4602939" cy="4416333"/>
          </a:xfrm>
          <a:prstGeom prst="rect">
            <a:avLst/>
          </a:prstGeom>
        </p:spPr>
      </p:pic>
      <p:sp>
        <p:nvSpPr>
          <p:cNvPr id="6" name="ZoneTexte 5">
            <a:extLst>
              <a:ext uri="{FF2B5EF4-FFF2-40B4-BE49-F238E27FC236}">
                <a16:creationId xmlns:a16="http://schemas.microsoft.com/office/drawing/2014/main" id="{02E9DDA6-7426-BFA8-1632-BC08B3F227BF}"/>
              </a:ext>
            </a:extLst>
          </p:cNvPr>
          <p:cNvSpPr txBox="1"/>
          <p:nvPr/>
        </p:nvSpPr>
        <p:spPr>
          <a:xfrm>
            <a:off x="79624" y="1921536"/>
            <a:ext cx="3721813" cy="3693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 typeface="+mj-lt"/>
              <a:buAutoNum type="arabicPeriod"/>
              <a:tabLst/>
              <a:defRPr/>
            </a:pPr>
            <a:r>
              <a:rPr kumimoji="0" lang="fr-FR" sz="1800" b="1" i="0" u="none" strike="noStrike" kern="1200" cap="none" spc="0" normalizeH="0" baseline="0" noProof="0" dirty="0">
                <a:ln>
                  <a:noFill/>
                </a:ln>
                <a:solidFill>
                  <a:prstClr val="black"/>
                </a:solidFill>
                <a:effectLst/>
                <a:uLnTx/>
                <a:uFillTx/>
                <a:latin typeface="Aptos" panose="02110004020202020204"/>
                <a:ea typeface="+mn-ea"/>
                <a:cs typeface="+mn-cs"/>
              </a:rPr>
              <a:t>Nombre de contrats par région :</a:t>
            </a:r>
            <a:endParaRPr kumimoji="0" lang="fr-FR" sz="18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sp>
        <p:nvSpPr>
          <p:cNvPr id="8" name="ZoneTexte 7">
            <a:extLst>
              <a:ext uri="{FF2B5EF4-FFF2-40B4-BE49-F238E27FC236}">
                <a16:creationId xmlns:a16="http://schemas.microsoft.com/office/drawing/2014/main" id="{C16F0AB3-CBF4-13E6-1DA7-EDAD476034F2}"/>
              </a:ext>
            </a:extLst>
          </p:cNvPr>
          <p:cNvSpPr txBox="1"/>
          <p:nvPr/>
        </p:nvSpPr>
        <p:spPr>
          <a:xfrm>
            <a:off x="5424754" y="1921536"/>
            <a:ext cx="5506950" cy="3693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1800" b="1" i="0" u="none" strike="noStrike" kern="1200" cap="none" spc="0" normalizeH="0" baseline="0" noProof="0" dirty="0">
                <a:ln>
                  <a:noFill/>
                </a:ln>
                <a:solidFill>
                  <a:prstClr val="black"/>
                </a:solidFill>
                <a:effectLst/>
                <a:uLnTx/>
                <a:uFillTx/>
                <a:latin typeface="Aptos" panose="02110004020202020204"/>
                <a:ea typeface="+mn-ea"/>
                <a:cs typeface="+mn-cs"/>
              </a:rPr>
              <a:t>2.Surface moyenne des logements assurés à Paris: </a:t>
            </a:r>
            <a:endParaRPr kumimoji="0" lang="fr-FR" sz="18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pic>
        <p:nvPicPr>
          <p:cNvPr id="10" name="Image 9" descr="Une image contenant texte, capture d’écran, affichage, logiciel&#10;&#10;Description générée automatiquement">
            <a:extLst>
              <a:ext uri="{FF2B5EF4-FFF2-40B4-BE49-F238E27FC236}">
                <a16:creationId xmlns:a16="http://schemas.microsoft.com/office/drawing/2014/main" id="{3AAD272B-99C5-8F69-E5A6-1570E5E0416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140431" y="2412634"/>
            <a:ext cx="6684844" cy="2326514"/>
          </a:xfrm>
          <a:prstGeom prst="rect">
            <a:avLst/>
          </a:prstGeom>
        </p:spPr>
      </p:pic>
    </p:spTree>
    <p:extLst>
      <p:ext uri="{BB962C8B-B14F-4D97-AF65-F5344CB8AC3E}">
        <p14:creationId xmlns:p14="http://schemas.microsoft.com/office/powerpoint/2010/main" val="105672366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ZoneTexte 2">
            <a:extLst>
              <a:ext uri="{FF2B5EF4-FFF2-40B4-BE49-F238E27FC236}">
                <a16:creationId xmlns:a16="http://schemas.microsoft.com/office/drawing/2014/main" id="{92F9D510-82F5-70AA-82F0-217480687EBA}"/>
              </a:ext>
            </a:extLst>
          </p:cNvPr>
          <p:cNvSpPr txBox="1"/>
          <p:nvPr/>
        </p:nvSpPr>
        <p:spPr>
          <a:xfrm>
            <a:off x="172092" y="142949"/>
            <a:ext cx="8417104" cy="3693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1800" b="1" i="0" u="none" strike="noStrike" kern="1200" cap="none" spc="0" normalizeH="0" baseline="0" noProof="0" dirty="0">
                <a:ln>
                  <a:noFill/>
                </a:ln>
                <a:solidFill>
                  <a:prstClr val="black"/>
                </a:solidFill>
                <a:effectLst/>
                <a:uLnTx/>
                <a:uFillTx/>
                <a:latin typeface="Aptos" panose="02110004020202020204"/>
                <a:ea typeface="+mn-ea"/>
                <a:cs typeface="+mn-cs"/>
              </a:rPr>
              <a:t>3. Classement des départements avec la cotisation moyenne la plus élevée :</a:t>
            </a:r>
            <a:endParaRPr kumimoji="0" lang="fr-FR" sz="18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pic>
        <p:nvPicPr>
          <p:cNvPr id="5" name="Image 4" descr="Une image contenant texte, capture d’écran, affichage, logiciel&#10;&#10;Description générée automatiquement">
            <a:extLst>
              <a:ext uri="{FF2B5EF4-FFF2-40B4-BE49-F238E27FC236}">
                <a16:creationId xmlns:a16="http://schemas.microsoft.com/office/drawing/2014/main" id="{63728768-77DF-45FF-6107-DDF538092A1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72092" y="1010427"/>
            <a:ext cx="6306430" cy="3896269"/>
          </a:xfrm>
          <a:prstGeom prst="rect">
            <a:avLst/>
          </a:prstGeom>
        </p:spPr>
      </p:pic>
      <p:sp>
        <p:nvSpPr>
          <p:cNvPr id="7" name="ZoneTexte 6">
            <a:extLst>
              <a:ext uri="{FF2B5EF4-FFF2-40B4-BE49-F238E27FC236}">
                <a16:creationId xmlns:a16="http://schemas.microsoft.com/office/drawing/2014/main" id="{6DFD97FA-6CF2-86F5-B9A9-9D7FEB23E12D}"/>
              </a:ext>
            </a:extLst>
          </p:cNvPr>
          <p:cNvSpPr txBox="1"/>
          <p:nvPr/>
        </p:nvSpPr>
        <p:spPr>
          <a:xfrm>
            <a:off x="172092" y="5404842"/>
            <a:ext cx="11540447" cy="3693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1600" b="0" i="0" u="none" strike="noStrike" kern="1200" cap="none" spc="0" normalizeH="0" baseline="0" noProof="0" dirty="0">
                <a:ln>
                  <a:noFill/>
                </a:ln>
                <a:solidFill>
                  <a:prstClr val="black"/>
                </a:solidFill>
                <a:effectLst/>
                <a:uLnTx/>
                <a:uFillTx/>
                <a:latin typeface="Aptos" panose="02110004020202020204"/>
                <a:ea typeface="+mn-ea"/>
                <a:cs typeface="+mn-cs"/>
              </a:rPr>
              <a:t>Ces analyses nous ont permis d’identifier des tendances importantes dans les contrats d’assurance</a:t>
            </a:r>
            <a:r>
              <a:rPr kumimoji="0" lang="fr-FR" sz="1800" b="0" i="0" u="none" strike="noStrike" kern="1200" cap="none" spc="0" normalizeH="0" baseline="0" noProof="0" dirty="0">
                <a:ln>
                  <a:noFill/>
                </a:ln>
                <a:solidFill>
                  <a:prstClr val="black"/>
                </a:solidFill>
                <a:effectLst/>
                <a:uLnTx/>
                <a:uFillTx/>
                <a:latin typeface="Aptos" panose="02110004020202020204"/>
                <a:ea typeface="+mn-ea"/>
                <a:cs typeface="+mn-cs"/>
              </a:rPr>
              <a:t>.</a:t>
            </a:r>
          </a:p>
        </p:txBody>
      </p:sp>
    </p:spTree>
    <p:extLst>
      <p:ext uri="{BB962C8B-B14F-4D97-AF65-F5344CB8AC3E}">
        <p14:creationId xmlns:p14="http://schemas.microsoft.com/office/powerpoint/2010/main" val="272557094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ZoneTexte 5">
            <a:extLst>
              <a:ext uri="{FF2B5EF4-FFF2-40B4-BE49-F238E27FC236}">
                <a16:creationId xmlns:a16="http://schemas.microsoft.com/office/drawing/2014/main" id="{8AAA4F1D-4E00-FB67-5857-5AADE94EA1E4}"/>
              </a:ext>
            </a:extLst>
          </p:cNvPr>
          <p:cNvSpPr txBox="1"/>
          <p:nvPr/>
        </p:nvSpPr>
        <p:spPr>
          <a:xfrm>
            <a:off x="120721" y="0"/>
            <a:ext cx="11951414" cy="4247317"/>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1800" b="1" i="0" u="none" strike="noStrike" kern="1200" cap="none" spc="0" normalizeH="0" baseline="0" noProof="0" dirty="0">
                <a:ln>
                  <a:noFill/>
                </a:ln>
                <a:solidFill>
                  <a:prstClr val="black"/>
                </a:solidFill>
                <a:effectLst/>
                <a:uLnTx/>
                <a:uFillTx/>
                <a:latin typeface="Aptos" panose="02110004020202020204"/>
                <a:ea typeface="+mn-ea"/>
                <a:cs typeface="+mn-cs"/>
              </a:rPr>
              <a:t>Étape 6 : Conclusion et Recommandations</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1" i="0" u="none" strike="noStrike" kern="1200" cap="none" spc="0" normalizeH="0" baseline="0" noProof="0" dirty="0">
              <a:ln>
                <a:noFill/>
              </a:ln>
              <a:solidFill>
                <a:prstClr val="black"/>
              </a:solidFill>
              <a:effectLst/>
              <a:uLnTx/>
              <a:uFillTx/>
              <a:latin typeface="Aptos" panose="0211000402020202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1800" b="1" i="0" u="none" strike="noStrike" kern="1200" cap="none" spc="0" normalizeH="0" baseline="0" noProof="0" dirty="0">
                <a:ln>
                  <a:noFill/>
                </a:ln>
                <a:solidFill>
                  <a:prstClr val="black"/>
                </a:solidFill>
                <a:effectLst/>
                <a:uLnTx/>
                <a:uFillTx/>
                <a:latin typeface="Aptos" panose="02110004020202020204"/>
                <a:ea typeface="+mn-ea"/>
                <a:cs typeface="+mn-cs"/>
              </a:rPr>
              <a:t>Principaux résultats :</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1" i="0" u="none" strike="noStrike" kern="1200" cap="none" spc="0" normalizeH="0" baseline="0" noProof="0" dirty="0">
              <a:ln>
                <a:noFill/>
              </a:ln>
              <a:solidFill>
                <a:prstClr val="black"/>
              </a:solidFill>
              <a:effectLst/>
              <a:uLnTx/>
              <a:uFillTx/>
              <a:latin typeface="Aptos" panose="02110004020202020204"/>
              <a:ea typeface="+mn-ea"/>
              <a:cs typeface="+mn-cs"/>
            </a:endParaRP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fr-FR" sz="1800" b="1" i="0" u="none" strike="noStrike" kern="1200" cap="none" spc="0" normalizeH="0" baseline="0" noProof="0" dirty="0">
                <a:ln>
                  <a:noFill/>
                </a:ln>
                <a:solidFill>
                  <a:prstClr val="black"/>
                </a:solidFill>
                <a:effectLst/>
                <a:uLnTx/>
                <a:uFillTx/>
                <a:latin typeface="Aptos" panose="02110004020202020204"/>
                <a:ea typeface="+mn-ea"/>
                <a:cs typeface="+mn-cs"/>
              </a:rPr>
              <a:t>Surface moyenne des logements assurés à Paris :</a:t>
            </a:r>
            <a:r>
              <a:rPr kumimoji="0" lang="fr-FR" sz="1800" b="0" i="0" u="none" strike="noStrike" kern="1200" cap="none" spc="0" normalizeH="0" baseline="0" noProof="0" dirty="0">
                <a:ln>
                  <a:noFill/>
                </a:ln>
                <a:solidFill>
                  <a:prstClr val="black"/>
                </a:solidFill>
                <a:effectLst/>
                <a:uLnTx/>
                <a:uFillTx/>
                <a:latin typeface="Aptos" panose="02110004020202020204"/>
                <a:ea typeface="+mn-ea"/>
                <a:cs typeface="+mn-cs"/>
              </a:rPr>
              <a:t> 56 m².</a:t>
            </a: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fr-FR" sz="1800" b="0" i="0" u="none" strike="noStrike" kern="1200" cap="none" spc="0" normalizeH="0" baseline="0" noProof="0" dirty="0">
              <a:ln>
                <a:noFill/>
              </a:ln>
              <a:solidFill>
                <a:prstClr val="black"/>
              </a:solidFill>
              <a:effectLst/>
              <a:uLnTx/>
              <a:uFillTx/>
              <a:latin typeface="Aptos" panose="02110004020202020204"/>
              <a:ea typeface="+mn-ea"/>
              <a:cs typeface="+mn-cs"/>
            </a:endParaRP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fr-FR" sz="1800" b="1" i="0" u="none" strike="noStrike" kern="1200" cap="none" spc="0" normalizeH="0" baseline="0" noProof="0" dirty="0">
                <a:ln>
                  <a:noFill/>
                </a:ln>
                <a:solidFill>
                  <a:prstClr val="black"/>
                </a:solidFill>
                <a:effectLst/>
                <a:uLnTx/>
                <a:uFillTx/>
                <a:latin typeface="Aptos" panose="02110004020202020204"/>
                <a:ea typeface="+mn-ea"/>
                <a:cs typeface="+mn-cs"/>
              </a:rPr>
              <a:t>Top 10 des départements avec les cotisations les plus élevées.</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dirty="0">
              <a:ln>
                <a:noFill/>
              </a:ln>
              <a:solidFill>
                <a:prstClr val="black"/>
              </a:solidFill>
              <a:effectLst/>
              <a:uLnTx/>
              <a:uFillTx/>
              <a:latin typeface="Aptos" panose="02110004020202020204"/>
              <a:ea typeface="+mn-ea"/>
              <a:cs typeface="+mn-cs"/>
            </a:endParaRP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fr-FR" sz="1800" b="1" i="0" u="none" strike="noStrike" kern="1200" cap="none" spc="0" normalizeH="0" baseline="0" noProof="0" dirty="0">
                <a:ln>
                  <a:noFill/>
                </a:ln>
                <a:solidFill>
                  <a:prstClr val="black"/>
                </a:solidFill>
                <a:effectLst/>
                <a:uLnTx/>
                <a:uFillTx/>
                <a:latin typeface="Aptos" panose="02110004020202020204"/>
                <a:ea typeface="+mn-ea"/>
                <a:cs typeface="+mn-cs"/>
              </a:rPr>
              <a:t>Nombre de formules "Intégral" dans la région Pays de la Loire :</a:t>
            </a:r>
            <a:r>
              <a:rPr kumimoji="0" lang="fr-FR" sz="1800" b="0" i="0" u="none" strike="noStrike" kern="1200" cap="none" spc="0" normalizeH="0" baseline="0" noProof="0" dirty="0">
                <a:ln>
                  <a:noFill/>
                </a:ln>
                <a:solidFill>
                  <a:prstClr val="black"/>
                </a:solidFill>
                <a:effectLst/>
                <a:uLnTx/>
                <a:uFillTx/>
                <a:latin typeface="Aptos" panose="02110004020202020204"/>
                <a:ea typeface="+mn-ea"/>
                <a:cs typeface="+mn-cs"/>
              </a:rPr>
              <a:t> 52.</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dirty="0">
              <a:ln>
                <a:noFill/>
              </a:ln>
              <a:solidFill>
                <a:prstClr val="black"/>
              </a:solidFill>
              <a:effectLst/>
              <a:uLnTx/>
              <a:uFillTx/>
              <a:latin typeface="Aptos" panose="0211000402020202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1800" b="1" i="0" u="none" strike="noStrike" kern="1200" cap="none" spc="0" normalizeH="0" baseline="0" noProof="0" dirty="0">
                <a:ln>
                  <a:noFill/>
                </a:ln>
                <a:solidFill>
                  <a:prstClr val="black"/>
                </a:solidFill>
                <a:effectLst/>
                <a:uLnTx/>
                <a:uFillTx/>
                <a:latin typeface="Aptos" panose="02110004020202020204"/>
                <a:ea typeface="+mn-ea"/>
                <a:cs typeface="+mn-cs"/>
              </a:rPr>
              <a:t>Recommandations pour les prochaines étapes :</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1" i="0" u="none" strike="noStrike" kern="1200" cap="none" spc="0" normalizeH="0" baseline="0" noProof="0" dirty="0">
              <a:ln>
                <a:noFill/>
              </a:ln>
              <a:solidFill>
                <a:prstClr val="black"/>
              </a:solidFill>
              <a:effectLst/>
              <a:uLnTx/>
              <a:uFillTx/>
              <a:latin typeface="Aptos" panose="02110004020202020204"/>
              <a:ea typeface="+mn-ea"/>
              <a:cs typeface="+mn-cs"/>
            </a:endParaRPr>
          </a:p>
          <a:p>
            <a:pPr marL="0" marR="0" lvl="0" indent="0" algn="l" defTabSz="914400" rtl="0" eaLnBrk="1" fontAlgn="auto" latinLnBrk="0" hangingPunct="1">
              <a:lnSpc>
                <a:spcPct val="100000"/>
              </a:lnSpc>
              <a:spcBef>
                <a:spcPts val="0"/>
              </a:spcBef>
              <a:spcAft>
                <a:spcPts val="0"/>
              </a:spcAft>
              <a:buClrTx/>
              <a:buSzTx/>
              <a:buFont typeface="+mj-lt"/>
              <a:buAutoNum type="arabicPeriod"/>
              <a:tabLst/>
              <a:defRPr/>
            </a:pPr>
            <a:r>
              <a:rPr kumimoji="0" lang="fr-FR" sz="1800" b="1" i="0" u="none" strike="noStrike" kern="1200" cap="none" spc="0" normalizeH="0" baseline="0" noProof="0" dirty="0">
                <a:ln>
                  <a:noFill/>
                </a:ln>
                <a:solidFill>
                  <a:prstClr val="black"/>
                </a:solidFill>
                <a:effectLst/>
                <a:uLnTx/>
                <a:uFillTx/>
                <a:latin typeface="Aptos" panose="02110004020202020204"/>
                <a:ea typeface="+mn-ea"/>
                <a:cs typeface="+mn-cs"/>
              </a:rPr>
              <a:t>Optimisation des performances SQL</a:t>
            </a:r>
            <a:r>
              <a:rPr kumimoji="0" lang="fr-FR" sz="1800" b="0" i="0" u="none" strike="noStrike" kern="1200" cap="none" spc="0" normalizeH="0" baseline="0" noProof="0" dirty="0">
                <a:ln>
                  <a:noFill/>
                </a:ln>
                <a:solidFill>
                  <a:prstClr val="black"/>
                </a:solidFill>
                <a:effectLst/>
                <a:uLnTx/>
                <a:uFillTx/>
                <a:latin typeface="Aptos" panose="02110004020202020204"/>
                <a:ea typeface="+mn-ea"/>
                <a:cs typeface="+mn-cs"/>
              </a:rPr>
              <a:t> : Mise en place d'index pour accélérer les requêtes.</a:t>
            </a:r>
          </a:p>
          <a:p>
            <a:pPr marL="0" marR="0" lvl="0" indent="0" algn="l" defTabSz="914400" rtl="0" eaLnBrk="1" fontAlgn="auto" latinLnBrk="0" hangingPunct="1">
              <a:lnSpc>
                <a:spcPct val="100000"/>
              </a:lnSpc>
              <a:spcBef>
                <a:spcPts val="0"/>
              </a:spcBef>
              <a:spcAft>
                <a:spcPts val="0"/>
              </a:spcAft>
              <a:buClrTx/>
              <a:buSzTx/>
              <a:buFont typeface="+mj-lt"/>
              <a:buAutoNum type="arabicPeriod"/>
              <a:tabLst/>
              <a:defRPr/>
            </a:pPr>
            <a:r>
              <a:rPr kumimoji="0" lang="fr-FR" sz="1800" b="1" i="0" u="none" strike="noStrike" kern="1200" cap="none" spc="0" normalizeH="0" baseline="0" noProof="0" dirty="0">
                <a:ln>
                  <a:noFill/>
                </a:ln>
                <a:solidFill>
                  <a:prstClr val="black"/>
                </a:solidFill>
                <a:effectLst/>
                <a:uLnTx/>
                <a:uFillTx/>
                <a:latin typeface="Aptos" panose="02110004020202020204"/>
                <a:ea typeface="+mn-ea"/>
                <a:cs typeface="+mn-cs"/>
              </a:rPr>
              <a:t>Automatisation des rapports SQL</a:t>
            </a:r>
            <a:r>
              <a:rPr kumimoji="0" lang="fr-FR" sz="1800" b="0" i="0" u="none" strike="noStrike" kern="1200" cap="none" spc="0" normalizeH="0" baseline="0" noProof="0" dirty="0">
                <a:ln>
                  <a:noFill/>
                </a:ln>
                <a:solidFill>
                  <a:prstClr val="black"/>
                </a:solidFill>
                <a:effectLst/>
                <a:uLnTx/>
                <a:uFillTx/>
                <a:latin typeface="Aptos" panose="02110004020202020204"/>
                <a:ea typeface="+mn-ea"/>
                <a:cs typeface="+mn-cs"/>
              </a:rPr>
              <a:t> : Création de vues et de requêtes stockées.</a:t>
            </a:r>
          </a:p>
          <a:p>
            <a:pPr marL="0" marR="0" lvl="0" indent="0" algn="l" defTabSz="914400" rtl="0" eaLnBrk="1" fontAlgn="auto" latinLnBrk="0" hangingPunct="1">
              <a:lnSpc>
                <a:spcPct val="100000"/>
              </a:lnSpc>
              <a:spcBef>
                <a:spcPts val="0"/>
              </a:spcBef>
              <a:spcAft>
                <a:spcPts val="0"/>
              </a:spcAft>
              <a:buClrTx/>
              <a:buSzTx/>
              <a:buFont typeface="+mj-lt"/>
              <a:buAutoNum type="arabicPeriod"/>
              <a:tabLst/>
              <a:defRPr/>
            </a:pPr>
            <a:r>
              <a:rPr kumimoji="0" lang="fr-FR" sz="1800" b="1" i="0" u="none" strike="noStrike" kern="1200" cap="none" spc="0" normalizeH="0" baseline="0" noProof="0" dirty="0">
                <a:ln>
                  <a:noFill/>
                </a:ln>
                <a:solidFill>
                  <a:prstClr val="black"/>
                </a:solidFill>
                <a:effectLst/>
                <a:uLnTx/>
                <a:uFillTx/>
                <a:latin typeface="Aptos" panose="02110004020202020204"/>
                <a:ea typeface="+mn-ea"/>
                <a:cs typeface="+mn-cs"/>
              </a:rPr>
              <a:t>Amélioration des analyses</a:t>
            </a:r>
            <a:r>
              <a:rPr kumimoji="0" lang="fr-FR" sz="1800" b="0" i="0" u="none" strike="noStrike" kern="1200" cap="none" spc="0" normalizeH="0" baseline="0" noProof="0" dirty="0">
                <a:ln>
                  <a:noFill/>
                </a:ln>
                <a:solidFill>
                  <a:prstClr val="black"/>
                </a:solidFill>
                <a:effectLst/>
                <a:uLnTx/>
                <a:uFillTx/>
                <a:latin typeface="Aptos" panose="02110004020202020204"/>
                <a:ea typeface="+mn-ea"/>
                <a:cs typeface="+mn-cs"/>
              </a:rPr>
              <a:t> : Ajout de nouveaux indicateurs métier.</a:t>
            </a:r>
          </a:p>
        </p:txBody>
      </p:sp>
      <p:sp>
        <p:nvSpPr>
          <p:cNvPr id="8" name="ZoneTexte 7">
            <a:extLst>
              <a:ext uri="{FF2B5EF4-FFF2-40B4-BE49-F238E27FC236}">
                <a16:creationId xmlns:a16="http://schemas.microsoft.com/office/drawing/2014/main" id="{700CB3CF-EF96-C4F2-E9E8-3CDB4EB89CC1}"/>
              </a:ext>
            </a:extLst>
          </p:cNvPr>
          <p:cNvSpPr txBox="1"/>
          <p:nvPr/>
        </p:nvSpPr>
        <p:spPr>
          <a:xfrm>
            <a:off x="119865" y="4327706"/>
            <a:ext cx="11951414" cy="1877437"/>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1800" b="1" i="0" u="none" strike="noStrike" kern="1200" cap="none" spc="0" normalizeH="0" baseline="0" noProof="0" dirty="0">
                <a:ln>
                  <a:noFill/>
                </a:ln>
                <a:solidFill>
                  <a:prstClr val="black"/>
                </a:solidFill>
                <a:effectLst/>
                <a:uLnTx/>
                <a:uFillTx/>
                <a:latin typeface="Aptos" panose="02110004020202020204"/>
                <a:ea typeface="+mn-ea"/>
                <a:cs typeface="+mn-cs"/>
              </a:rPr>
              <a:t>Conclusion :</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1" i="0" u="none" strike="noStrike" kern="1200" cap="none" spc="0" normalizeH="0" baseline="0" noProof="0" dirty="0">
              <a:ln>
                <a:noFill/>
              </a:ln>
              <a:solidFill>
                <a:prstClr val="black"/>
              </a:solidFill>
              <a:effectLst/>
              <a:uLnTx/>
              <a:uFillTx/>
              <a:latin typeface="Aptos" panose="0211000402020202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1600" b="0" i="0" u="none" strike="noStrike" kern="1200" cap="none" spc="0" normalizeH="0" baseline="0" noProof="0" dirty="0">
                <a:ln>
                  <a:noFill/>
                </a:ln>
                <a:solidFill>
                  <a:prstClr val="black"/>
                </a:solidFill>
                <a:effectLst/>
                <a:uLnTx/>
                <a:uFillTx/>
                <a:latin typeface="Aptos" panose="02110004020202020204"/>
                <a:ea typeface="+mn-ea"/>
                <a:cs typeface="+mn-cs"/>
              </a:rPr>
              <a:t>Grâce à cette analyse, nous avons pu structurer et explorer efficacement la base de données d’assurance habitation. L’approche méthodique, en passant par le schéma relationnel, la définition des tables, l’importation des données et l’exécution de requêtes ciblées, nous a permis d’obtenir des résultats pertinents pour la compréhension des contrats d’assurance en France.</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1600" b="0" i="0" u="none" strike="noStrike" kern="1200" cap="none" spc="0" normalizeH="0" baseline="0" noProof="0" dirty="0">
                <a:ln>
                  <a:noFill/>
                </a:ln>
                <a:solidFill>
                  <a:prstClr val="black"/>
                </a:solidFill>
                <a:effectLst/>
                <a:uLnTx/>
                <a:uFillTx/>
                <a:latin typeface="Aptos" panose="02110004020202020204"/>
                <a:ea typeface="+mn-ea"/>
                <a:cs typeface="+mn-cs"/>
              </a:rPr>
              <a:t>Les prochaines étapes incluront l’optimisation des performances SQL et l’automatisation des analyses pour faciliter les prises de décision.</a:t>
            </a:r>
          </a:p>
        </p:txBody>
      </p:sp>
    </p:spTree>
    <p:extLst>
      <p:ext uri="{BB962C8B-B14F-4D97-AF65-F5344CB8AC3E}">
        <p14:creationId xmlns:p14="http://schemas.microsoft.com/office/powerpoint/2010/main" val="837848375"/>
      </p:ext>
    </p:extLst>
  </p:cSld>
  <p:clrMapOvr>
    <a:masterClrMapping/>
  </p:clrMapOvr>
</p:sld>
</file>

<file path=ppt/theme/theme1.xml><?xml version="1.0" encoding="utf-8"?>
<a:theme xmlns:a="http://schemas.openxmlformats.org/drawingml/2006/main" name="1_Thèm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5631</TotalTime>
  <Words>692</Words>
  <Application>Microsoft Office PowerPoint</Application>
  <PresentationFormat>Grand écran</PresentationFormat>
  <Paragraphs>67</Paragraphs>
  <Slides>9</Slides>
  <Notes>1</Notes>
  <HiddenSlides>0</HiddenSlides>
  <MMClips>0</MMClips>
  <ScaleCrop>false</ScaleCrop>
  <HeadingPairs>
    <vt:vector size="6" baseType="variant">
      <vt:variant>
        <vt:lpstr>Polices utilisées</vt:lpstr>
      </vt:variant>
      <vt:variant>
        <vt:i4>4</vt:i4>
      </vt:variant>
      <vt:variant>
        <vt:lpstr>Thème</vt:lpstr>
      </vt:variant>
      <vt:variant>
        <vt:i4>1</vt:i4>
      </vt:variant>
      <vt:variant>
        <vt:lpstr>Titres des diapositives</vt:lpstr>
      </vt:variant>
      <vt:variant>
        <vt:i4>9</vt:i4>
      </vt:variant>
    </vt:vector>
  </HeadingPairs>
  <TitlesOfParts>
    <vt:vector size="14" baseType="lpstr">
      <vt:lpstr>Aptos</vt:lpstr>
      <vt:lpstr>Aptos Display</vt:lpstr>
      <vt:lpstr>Arial</vt:lpstr>
      <vt:lpstr>Arial Unicode MS</vt:lpstr>
      <vt:lpstr>1_Thème Office</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Nas Aylin</dc:creator>
  <cp:lastModifiedBy>Nas Aylin</cp:lastModifiedBy>
  <cp:revision>3</cp:revision>
  <dcterms:created xsi:type="dcterms:W3CDTF">2025-02-07T16:45:49Z</dcterms:created>
  <dcterms:modified xsi:type="dcterms:W3CDTF">2025-02-20T17:11:07Z</dcterms:modified>
</cp:coreProperties>
</file>