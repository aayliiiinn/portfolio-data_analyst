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72" r:id="rId4"/>
    <p:sldId id="258" r:id="rId5"/>
    <p:sldId id="273" r:id="rId6"/>
    <p:sldId id="259" r:id="rId7"/>
    <p:sldId id="274"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x="12192000" cy="6858000"/>
  <p:notesSz cx="6858000" cy="9144000"/>
  <p:embeddedFontLst>
    <p:embeddedFont>
      <p:font typeface="Century Gothic" panose="020B0502020202020204" pitchFamily="34"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6" roundtripDataSignature="AMtx7mirjfFyYNBG5sNntC35Cbhoqt17C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3" d="100"/>
          <a:sy n="93" d="100"/>
        </p:scale>
        <p:origin x="1272"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customschemas.google.com/relationships/presentationmetadata" Target="metadata"/><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a:solidFill>
                  <a:schemeClr val="dk1"/>
                </a:solidFill>
                <a:latin typeface="Calibri"/>
                <a:ea typeface="Calibri"/>
                <a:cs typeface="Calibri"/>
                <a:sym typeface="Calibri"/>
              </a:rPr>
              <a:t>‹N°›</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 name="Google Shape;11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8" name="Google Shape;11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8" name="Google Shape;12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5" name="Google Shape;13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3" name="Google Shape;14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0" name="Google Shape;15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7" name="Google Shape;15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2" name="Google Shape;17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9" name="Google Shape;17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86" name="Google Shape;18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233f607d43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 name="Google Shape;193;g2233f607d43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4" name="Google Shape;214;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1" name="Google Shape;22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28" name="Google Shape;22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e de titre" type="title">
  <p:cSld name="TITLE">
    <p:spTree>
      <p:nvGrpSpPr>
        <p:cNvPr id="1" name="Shape 15"/>
        <p:cNvGrpSpPr/>
        <p:nvPr/>
      </p:nvGrpSpPr>
      <p:grpSpPr>
        <a:xfrm>
          <a:off x="0" y="0"/>
          <a:ext cx="0" cy="0"/>
          <a:chOff x="0" y="0"/>
          <a:chExt cx="0" cy="0"/>
        </a:xfrm>
      </p:grpSpPr>
      <p:sp>
        <p:nvSpPr>
          <p:cNvPr id="16" name="Google Shape;16;p17"/>
          <p:cNvSpPr/>
          <p:nvPr/>
        </p:nvSpPr>
        <p:spPr>
          <a:xfrm>
            <a:off x="0" y="-3175"/>
            <a:ext cx="12192000" cy="5203825"/>
          </a:xfrm>
          <a:custGeom>
            <a:avLst/>
            <a:gdLst/>
            <a:ahLst/>
            <a:cxnLst/>
            <a:rect l="l" t="t" r="r" b="b"/>
            <a:pathLst>
              <a:path w="5760" h="3278" extrusionOk="0">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17" name="Google Shape;17;p17"/>
          <p:cNvSpPr txBox="1">
            <a:spLocks noGrp="1"/>
          </p:cNvSpPr>
          <p:nvPr>
            <p:ph type="ctrTitle"/>
          </p:nvPr>
        </p:nvSpPr>
        <p:spPr>
          <a:xfrm>
            <a:off x="810001" y="1449147"/>
            <a:ext cx="10572000" cy="2971051"/>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5400"/>
              <a:buFont typeface="Century Gothic"/>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7"/>
          <p:cNvSpPr txBox="1">
            <a:spLocks noGrp="1"/>
          </p:cNvSpPr>
          <p:nvPr>
            <p:ph type="subTitle" idx="1"/>
          </p:nvPr>
        </p:nvSpPr>
        <p:spPr>
          <a:xfrm>
            <a:off x="810001" y="5280847"/>
            <a:ext cx="10572000" cy="434974"/>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lvl="0" algn="l">
              <a:lnSpc>
                <a:spcPct val="100000"/>
              </a:lnSpc>
              <a:spcBef>
                <a:spcPts val="360"/>
              </a:spcBef>
              <a:spcAft>
                <a:spcPts val="0"/>
              </a:spcAft>
              <a:buSzPts val="1800"/>
              <a:buNone/>
              <a:defRPr>
                <a:solidFill>
                  <a:schemeClr val="lt1"/>
                </a:solidFill>
              </a:defRPr>
            </a:lvl1pPr>
            <a:lvl2pPr lvl="1" algn="ctr">
              <a:lnSpc>
                <a:spcPct val="100000"/>
              </a:lnSpc>
              <a:spcBef>
                <a:spcPts val="600"/>
              </a:spcBef>
              <a:spcAft>
                <a:spcPts val="0"/>
              </a:spcAft>
              <a:buSzPts val="1600"/>
              <a:buNone/>
              <a:defRPr>
                <a:solidFill>
                  <a:schemeClr val="lt1"/>
                </a:solidFill>
              </a:defRPr>
            </a:lvl2pPr>
            <a:lvl3pPr lvl="2" algn="ctr">
              <a:lnSpc>
                <a:spcPct val="100000"/>
              </a:lnSpc>
              <a:spcBef>
                <a:spcPts val="600"/>
              </a:spcBef>
              <a:spcAft>
                <a:spcPts val="0"/>
              </a:spcAft>
              <a:buSzPts val="1400"/>
              <a:buNone/>
              <a:defRPr>
                <a:solidFill>
                  <a:schemeClr val="lt1"/>
                </a:solidFill>
              </a:defRPr>
            </a:lvl3pPr>
            <a:lvl4pPr lvl="3" algn="ctr">
              <a:lnSpc>
                <a:spcPct val="100000"/>
              </a:lnSpc>
              <a:spcBef>
                <a:spcPts val="600"/>
              </a:spcBef>
              <a:spcAft>
                <a:spcPts val="0"/>
              </a:spcAft>
              <a:buSzPts val="1200"/>
              <a:buNone/>
              <a:defRPr>
                <a:solidFill>
                  <a:schemeClr val="lt1"/>
                </a:solidFill>
              </a:defRPr>
            </a:lvl4pPr>
            <a:lvl5pPr lvl="4" algn="ctr">
              <a:lnSpc>
                <a:spcPct val="100000"/>
              </a:lnSpc>
              <a:spcBef>
                <a:spcPts val="600"/>
              </a:spcBef>
              <a:spcAft>
                <a:spcPts val="0"/>
              </a:spcAft>
              <a:buSzPts val="1200"/>
              <a:buNone/>
              <a:defRPr>
                <a:solidFill>
                  <a:schemeClr val="lt1"/>
                </a:solidFill>
              </a:defRPr>
            </a:lvl5pPr>
            <a:lvl6pPr lvl="5" algn="ctr">
              <a:lnSpc>
                <a:spcPct val="100000"/>
              </a:lnSpc>
              <a:spcBef>
                <a:spcPts val="600"/>
              </a:spcBef>
              <a:spcAft>
                <a:spcPts val="0"/>
              </a:spcAft>
              <a:buSzPts val="1200"/>
              <a:buNone/>
              <a:defRPr>
                <a:solidFill>
                  <a:schemeClr val="lt1"/>
                </a:solidFill>
              </a:defRPr>
            </a:lvl6pPr>
            <a:lvl7pPr lvl="6" algn="ctr">
              <a:lnSpc>
                <a:spcPct val="100000"/>
              </a:lnSpc>
              <a:spcBef>
                <a:spcPts val="600"/>
              </a:spcBef>
              <a:spcAft>
                <a:spcPts val="0"/>
              </a:spcAft>
              <a:buSzPts val="1200"/>
              <a:buNone/>
              <a:defRPr>
                <a:solidFill>
                  <a:schemeClr val="lt1"/>
                </a:solidFill>
              </a:defRPr>
            </a:lvl7pPr>
            <a:lvl8pPr lvl="7" algn="ctr">
              <a:lnSpc>
                <a:spcPct val="100000"/>
              </a:lnSpc>
              <a:spcBef>
                <a:spcPts val="600"/>
              </a:spcBef>
              <a:spcAft>
                <a:spcPts val="0"/>
              </a:spcAft>
              <a:buSzPts val="1200"/>
              <a:buNone/>
              <a:defRPr>
                <a:solidFill>
                  <a:schemeClr val="lt1"/>
                </a:solidFill>
              </a:defRPr>
            </a:lvl8pPr>
            <a:lvl9pPr lvl="8" algn="ctr">
              <a:lnSpc>
                <a:spcPct val="100000"/>
              </a:lnSpc>
              <a:spcBef>
                <a:spcPts val="600"/>
              </a:spcBef>
              <a:spcAft>
                <a:spcPts val="600"/>
              </a:spcAft>
              <a:buSzPts val="1200"/>
              <a:buNone/>
              <a:defRPr>
                <a:solidFill>
                  <a:schemeClr val="lt1"/>
                </a:solidFill>
              </a:defRPr>
            </a:lvl9pPr>
          </a:lstStyle>
          <a:p>
            <a:endParaRPr/>
          </a:p>
        </p:txBody>
      </p:sp>
      <p:sp>
        <p:nvSpPr>
          <p:cNvPr id="19" name="Google Shape;19;p17"/>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7"/>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re et contenu" type="obj">
  <p:cSld name="OBJECT">
    <p:spTree>
      <p:nvGrpSpPr>
        <p:cNvPr id="1" name="Shape 22"/>
        <p:cNvGrpSpPr/>
        <p:nvPr/>
      </p:nvGrpSpPr>
      <p:grpSpPr>
        <a:xfrm>
          <a:off x="0" y="0"/>
          <a:ext cx="0" cy="0"/>
          <a:chOff x="0" y="0"/>
          <a:chExt cx="0" cy="0"/>
        </a:xfrm>
      </p:grpSpPr>
      <p:sp>
        <p:nvSpPr>
          <p:cNvPr id="23" name="Google Shape;23;p18"/>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24" name="Google Shape;24;p18"/>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8"/>
          <p:cNvSpPr txBox="1">
            <a:spLocks noGrp="1"/>
          </p:cNvSpPr>
          <p:nvPr>
            <p:ph type="body" idx="1"/>
          </p:nvPr>
        </p:nvSpPr>
        <p:spPr>
          <a:xfrm>
            <a:off x="818712" y="2222287"/>
            <a:ext cx="10554574" cy="3636511"/>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26" name="Google Shape;26;p18"/>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8"/>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tête de section" type="secHead">
  <p:cSld name="SECTION_HEADER">
    <p:spTree>
      <p:nvGrpSpPr>
        <p:cNvPr id="1" name="Shape 29"/>
        <p:cNvGrpSpPr/>
        <p:nvPr/>
      </p:nvGrpSpPr>
      <p:grpSpPr>
        <a:xfrm>
          <a:off x="0" y="0"/>
          <a:ext cx="0" cy="0"/>
          <a:chOff x="0" y="0"/>
          <a:chExt cx="0" cy="0"/>
        </a:xfrm>
      </p:grpSpPr>
      <p:sp>
        <p:nvSpPr>
          <p:cNvPr id="30" name="Google Shape;30;p19"/>
          <p:cNvSpPr/>
          <p:nvPr/>
        </p:nvSpPr>
        <p:spPr>
          <a:xfrm>
            <a:off x="0" y="1"/>
            <a:ext cx="12192000" cy="5203825"/>
          </a:xfrm>
          <a:custGeom>
            <a:avLst/>
            <a:gdLst/>
            <a:ahLst/>
            <a:cxnLst/>
            <a:rect l="l" t="t" r="r" b="b"/>
            <a:pathLst>
              <a:path w="5760" h="3278" extrusionOk="0">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31" name="Google Shape;31;p19"/>
          <p:cNvSpPr txBox="1">
            <a:spLocks noGrp="1"/>
          </p:cNvSpPr>
          <p:nvPr>
            <p:ph type="title"/>
          </p:nvPr>
        </p:nvSpPr>
        <p:spPr>
          <a:xfrm>
            <a:off x="810000" y="2951396"/>
            <a:ext cx="10561418" cy="146880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r">
              <a:lnSpc>
                <a:spcPct val="100000"/>
              </a:lnSpc>
              <a:spcBef>
                <a:spcPts val="0"/>
              </a:spcBef>
              <a:spcAft>
                <a:spcPts val="0"/>
              </a:spcAft>
              <a:buClr>
                <a:srgbClr val="FEFEFE"/>
              </a:buClr>
              <a:buSzPts val="4800"/>
              <a:buFont typeface="Century Gothic"/>
              <a:buNone/>
              <a:defRPr sz="48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9"/>
          <p:cNvSpPr txBox="1">
            <a:spLocks noGrp="1"/>
          </p:cNvSpPr>
          <p:nvPr>
            <p:ph type="body" idx="1"/>
          </p:nvPr>
        </p:nvSpPr>
        <p:spPr>
          <a:xfrm>
            <a:off x="810000" y="5281201"/>
            <a:ext cx="10561418" cy="43395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Autofit/>
          </a:bodyPr>
          <a:lstStyle>
            <a:lvl1pPr marL="457200" lvl="0" indent="-228600" algn="r">
              <a:lnSpc>
                <a:spcPct val="100000"/>
              </a:lnSpc>
              <a:spcBef>
                <a:spcPts val="360"/>
              </a:spcBef>
              <a:spcAft>
                <a:spcPts val="0"/>
              </a:spcAft>
              <a:buSzPts val="1800"/>
              <a:buNone/>
              <a:defRPr sz="1800">
                <a:solidFill>
                  <a:schemeClr val="lt1"/>
                </a:solidFill>
              </a:defRPr>
            </a:lvl1pPr>
            <a:lvl2pPr marL="914400" lvl="1" indent="-228600" algn="l">
              <a:lnSpc>
                <a:spcPct val="100000"/>
              </a:lnSpc>
              <a:spcBef>
                <a:spcPts val="600"/>
              </a:spcBef>
              <a:spcAft>
                <a:spcPts val="0"/>
              </a:spcAft>
              <a:buSzPts val="1800"/>
              <a:buNone/>
              <a:defRPr sz="1800">
                <a:solidFill>
                  <a:schemeClr val="lt1"/>
                </a:solidFill>
              </a:defRPr>
            </a:lvl2pPr>
            <a:lvl3pPr marL="1371600" lvl="2" indent="-228600" algn="l">
              <a:lnSpc>
                <a:spcPct val="100000"/>
              </a:lnSpc>
              <a:spcBef>
                <a:spcPts val="600"/>
              </a:spcBef>
              <a:spcAft>
                <a:spcPts val="0"/>
              </a:spcAft>
              <a:buSzPts val="1600"/>
              <a:buNone/>
              <a:defRPr sz="1600">
                <a:solidFill>
                  <a:schemeClr val="lt1"/>
                </a:solidFill>
              </a:defRPr>
            </a:lvl3pPr>
            <a:lvl4pPr marL="1828800" lvl="3" indent="-228600" algn="l">
              <a:lnSpc>
                <a:spcPct val="100000"/>
              </a:lnSpc>
              <a:spcBef>
                <a:spcPts val="600"/>
              </a:spcBef>
              <a:spcAft>
                <a:spcPts val="0"/>
              </a:spcAft>
              <a:buSzPts val="1400"/>
              <a:buNone/>
              <a:defRPr sz="1400">
                <a:solidFill>
                  <a:schemeClr val="lt1"/>
                </a:solidFill>
              </a:defRPr>
            </a:lvl4pPr>
            <a:lvl5pPr marL="2286000" lvl="4" indent="-228600" algn="l">
              <a:lnSpc>
                <a:spcPct val="100000"/>
              </a:lnSpc>
              <a:spcBef>
                <a:spcPts val="600"/>
              </a:spcBef>
              <a:spcAft>
                <a:spcPts val="0"/>
              </a:spcAft>
              <a:buSzPts val="1400"/>
              <a:buNone/>
              <a:defRPr sz="1400">
                <a:solidFill>
                  <a:schemeClr val="lt1"/>
                </a:solidFill>
              </a:defRPr>
            </a:lvl5pPr>
            <a:lvl6pPr marL="2743200" lvl="5" indent="-228600" algn="l">
              <a:lnSpc>
                <a:spcPct val="100000"/>
              </a:lnSpc>
              <a:spcBef>
                <a:spcPts val="600"/>
              </a:spcBef>
              <a:spcAft>
                <a:spcPts val="0"/>
              </a:spcAft>
              <a:buSzPts val="1400"/>
              <a:buNone/>
              <a:defRPr sz="1400">
                <a:solidFill>
                  <a:schemeClr val="lt1"/>
                </a:solidFill>
              </a:defRPr>
            </a:lvl6pPr>
            <a:lvl7pPr marL="3200400" lvl="6" indent="-228600" algn="l">
              <a:lnSpc>
                <a:spcPct val="100000"/>
              </a:lnSpc>
              <a:spcBef>
                <a:spcPts val="600"/>
              </a:spcBef>
              <a:spcAft>
                <a:spcPts val="0"/>
              </a:spcAft>
              <a:buSzPts val="1400"/>
              <a:buNone/>
              <a:defRPr sz="1400">
                <a:solidFill>
                  <a:schemeClr val="lt1"/>
                </a:solidFill>
              </a:defRPr>
            </a:lvl7pPr>
            <a:lvl8pPr marL="3657600" lvl="7" indent="-228600" algn="l">
              <a:lnSpc>
                <a:spcPct val="100000"/>
              </a:lnSpc>
              <a:spcBef>
                <a:spcPts val="600"/>
              </a:spcBef>
              <a:spcAft>
                <a:spcPts val="0"/>
              </a:spcAft>
              <a:buSzPts val="1400"/>
              <a:buNone/>
              <a:defRPr sz="1400">
                <a:solidFill>
                  <a:schemeClr val="lt1"/>
                </a:solidFill>
              </a:defRPr>
            </a:lvl8pPr>
            <a:lvl9pPr marL="4114800" lvl="8" indent="-228600" algn="l">
              <a:lnSpc>
                <a:spcPct val="100000"/>
              </a:lnSpc>
              <a:spcBef>
                <a:spcPts val="600"/>
              </a:spcBef>
              <a:spcAft>
                <a:spcPts val="600"/>
              </a:spcAft>
              <a:buSzPts val="1400"/>
              <a:buNone/>
              <a:defRPr sz="1400">
                <a:solidFill>
                  <a:schemeClr val="lt1"/>
                </a:solidFill>
              </a:defRPr>
            </a:lvl9pPr>
          </a:lstStyle>
          <a:p>
            <a:endParaRPr/>
          </a:p>
        </p:txBody>
      </p:sp>
      <p:sp>
        <p:nvSpPr>
          <p:cNvPr id="33" name="Google Shape;33;p19"/>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9"/>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aison" type="twoTxTwoObj">
  <p:cSld name="TWO_OBJECTS_WITH_TEXT">
    <p:spTree>
      <p:nvGrpSpPr>
        <p:cNvPr id="1" name="Shape 44"/>
        <p:cNvGrpSpPr/>
        <p:nvPr/>
      </p:nvGrpSpPr>
      <p:grpSpPr>
        <a:xfrm>
          <a:off x="0" y="0"/>
          <a:ext cx="0" cy="0"/>
          <a:chOff x="0" y="0"/>
          <a:chExt cx="0" cy="0"/>
        </a:xfrm>
      </p:grpSpPr>
      <p:sp>
        <p:nvSpPr>
          <p:cNvPr id="45" name="Google Shape;45;p21"/>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46" name="Google Shape;46;p21"/>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1"/>
          <p:cNvSpPr txBox="1">
            <a:spLocks noGrp="1"/>
          </p:cNvSpPr>
          <p:nvPr>
            <p:ph type="body" idx="1"/>
          </p:nvPr>
        </p:nvSpPr>
        <p:spPr>
          <a:xfrm>
            <a:off x="814728" y="2174875"/>
            <a:ext cx="5189857" cy="576262"/>
          </a:xfrm>
          <a:prstGeom prst="rect">
            <a:avLst/>
          </a:prstGeom>
          <a:noFill/>
          <a:ln>
            <a:noFill/>
          </a:ln>
          <a:effectLst>
            <a:outerShdw blurRad="50800">
              <a:srgbClr val="000000">
                <a:alpha val="40000"/>
              </a:srgbClr>
            </a:outerShdw>
          </a:effectLst>
        </p:spPr>
        <p:txBody>
          <a:bodyPr spcFirstLastPara="1" wrap="square" lIns="91425" tIns="45700" rIns="91425" bIns="45700" anchor="b" anchorCtr="0">
            <a:noAutofit/>
          </a:bodyPr>
          <a:lstStyle>
            <a:lvl1pPr marL="457200" lvl="0" indent="-228600" algn="ctr">
              <a:lnSpc>
                <a:spcPct val="100000"/>
              </a:lnSpc>
              <a:spcBef>
                <a:spcPts val="400"/>
              </a:spcBef>
              <a:spcAft>
                <a:spcPts val="0"/>
              </a:spcAft>
              <a:buSzPts val="2000"/>
              <a:buNone/>
              <a:defRPr sz="2000" b="0"/>
            </a:lvl1pPr>
            <a:lvl2pPr marL="914400" lvl="1" indent="-228600" algn="l">
              <a:lnSpc>
                <a:spcPct val="100000"/>
              </a:lnSpc>
              <a:spcBef>
                <a:spcPts val="600"/>
              </a:spcBef>
              <a:spcAft>
                <a:spcPts val="0"/>
              </a:spcAft>
              <a:buSzPts val="2000"/>
              <a:buNone/>
              <a:defRPr sz="2000" b="1"/>
            </a:lvl2pPr>
            <a:lvl3pPr marL="1371600" lvl="2" indent="-228600" algn="l">
              <a:lnSpc>
                <a:spcPct val="100000"/>
              </a:lnSpc>
              <a:spcBef>
                <a:spcPts val="600"/>
              </a:spcBef>
              <a:spcAft>
                <a:spcPts val="0"/>
              </a:spcAft>
              <a:buSzPts val="1800"/>
              <a:buNone/>
              <a:defRPr sz="1800" b="1"/>
            </a:lvl3pPr>
            <a:lvl4pPr marL="1828800" lvl="3" indent="-228600" algn="l">
              <a:lnSpc>
                <a:spcPct val="100000"/>
              </a:lnSpc>
              <a:spcBef>
                <a:spcPts val="600"/>
              </a:spcBef>
              <a:spcAft>
                <a:spcPts val="0"/>
              </a:spcAft>
              <a:buSzPts val="1600"/>
              <a:buNone/>
              <a:defRPr sz="1600" b="1"/>
            </a:lvl4pPr>
            <a:lvl5pPr marL="2286000" lvl="4" indent="-228600" algn="l">
              <a:lnSpc>
                <a:spcPct val="100000"/>
              </a:lnSpc>
              <a:spcBef>
                <a:spcPts val="600"/>
              </a:spcBef>
              <a:spcAft>
                <a:spcPts val="0"/>
              </a:spcAft>
              <a:buSzPts val="1600"/>
              <a:buNone/>
              <a:defRPr sz="1600" b="1"/>
            </a:lvl5pPr>
            <a:lvl6pPr marL="2743200" lvl="5" indent="-228600" algn="l">
              <a:lnSpc>
                <a:spcPct val="100000"/>
              </a:lnSpc>
              <a:spcBef>
                <a:spcPts val="600"/>
              </a:spcBef>
              <a:spcAft>
                <a:spcPts val="0"/>
              </a:spcAft>
              <a:buSzPts val="1600"/>
              <a:buNone/>
              <a:defRPr sz="1600" b="1"/>
            </a:lvl6pPr>
            <a:lvl7pPr marL="3200400" lvl="6" indent="-228600" algn="l">
              <a:lnSpc>
                <a:spcPct val="100000"/>
              </a:lnSpc>
              <a:spcBef>
                <a:spcPts val="600"/>
              </a:spcBef>
              <a:spcAft>
                <a:spcPts val="0"/>
              </a:spcAft>
              <a:buSzPts val="1600"/>
              <a:buNone/>
              <a:defRPr sz="1600" b="1"/>
            </a:lvl7pPr>
            <a:lvl8pPr marL="3657600" lvl="7" indent="-228600" algn="l">
              <a:lnSpc>
                <a:spcPct val="100000"/>
              </a:lnSpc>
              <a:spcBef>
                <a:spcPts val="600"/>
              </a:spcBef>
              <a:spcAft>
                <a:spcPts val="0"/>
              </a:spcAft>
              <a:buSzPts val="1600"/>
              <a:buNone/>
              <a:defRPr sz="1600" b="1"/>
            </a:lvl8pPr>
            <a:lvl9pPr marL="4114800" lvl="8" indent="-228600" algn="l">
              <a:lnSpc>
                <a:spcPct val="100000"/>
              </a:lnSpc>
              <a:spcBef>
                <a:spcPts val="600"/>
              </a:spcBef>
              <a:spcAft>
                <a:spcPts val="600"/>
              </a:spcAft>
              <a:buSzPts val="1600"/>
              <a:buNone/>
              <a:defRPr sz="1600" b="1"/>
            </a:lvl9pPr>
          </a:lstStyle>
          <a:p>
            <a:endParaRPr/>
          </a:p>
        </p:txBody>
      </p:sp>
      <p:sp>
        <p:nvSpPr>
          <p:cNvPr id="48" name="Google Shape;48;p21"/>
          <p:cNvSpPr txBox="1">
            <a:spLocks noGrp="1"/>
          </p:cNvSpPr>
          <p:nvPr>
            <p:ph type="body" idx="2"/>
          </p:nvPr>
        </p:nvSpPr>
        <p:spPr>
          <a:xfrm>
            <a:off x="814729" y="2751138"/>
            <a:ext cx="5189856" cy="3109913"/>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49" name="Google Shape;49;p21"/>
          <p:cNvSpPr txBox="1">
            <a:spLocks noGrp="1"/>
          </p:cNvSpPr>
          <p:nvPr>
            <p:ph type="body" idx="3"/>
          </p:nvPr>
        </p:nvSpPr>
        <p:spPr>
          <a:xfrm>
            <a:off x="6187415" y="2174875"/>
            <a:ext cx="5194583" cy="576262"/>
          </a:xfrm>
          <a:prstGeom prst="rect">
            <a:avLst/>
          </a:prstGeom>
          <a:noFill/>
          <a:ln>
            <a:noFill/>
          </a:ln>
          <a:effectLst>
            <a:outerShdw blurRad="50800">
              <a:srgbClr val="000000">
                <a:alpha val="40000"/>
              </a:srgbClr>
            </a:outerShdw>
          </a:effectLst>
        </p:spPr>
        <p:txBody>
          <a:bodyPr spcFirstLastPara="1" wrap="square" lIns="91425" tIns="45700" rIns="91425" bIns="45700" anchor="b" anchorCtr="0">
            <a:noAutofit/>
          </a:bodyPr>
          <a:lstStyle>
            <a:lvl1pPr marL="457200" lvl="0" indent="-228600" algn="ctr">
              <a:lnSpc>
                <a:spcPct val="100000"/>
              </a:lnSpc>
              <a:spcBef>
                <a:spcPts val="400"/>
              </a:spcBef>
              <a:spcAft>
                <a:spcPts val="0"/>
              </a:spcAft>
              <a:buSzPts val="2000"/>
              <a:buNone/>
              <a:defRPr sz="2000" b="0"/>
            </a:lvl1pPr>
            <a:lvl2pPr marL="914400" lvl="1" indent="-228600" algn="l">
              <a:lnSpc>
                <a:spcPct val="100000"/>
              </a:lnSpc>
              <a:spcBef>
                <a:spcPts val="600"/>
              </a:spcBef>
              <a:spcAft>
                <a:spcPts val="0"/>
              </a:spcAft>
              <a:buSzPts val="2000"/>
              <a:buNone/>
              <a:defRPr sz="2000" b="1"/>
            </a:lvl2pPr>
            <a:lvl3pPr marL="1371600" lvl="2" indent="-228600" algn="l">
              <a:lnSpc>
                <a:spcPct val="100000"/>
              </a:lnSpc>
              <a:spcBef>
                <a:spcPts val="600"/>
              </a:spcBef>
              <a:spcAft>
                <a:spcPts val="0"/>
              </a:spcAft>
              <a:buSzPts val="1800"/>
              <a:buNone/>
              <a:defRPr sz="1800" b="1"/>
            </a:lvl3pPr>
            <a:lvl4pPr marL="1828800" lvl="3" indent="-228600" algn="l">
              <a:lnSpc>
                <a:spcPct val="100000"/>
              </a:lnSpc>
              <a:spcBef>
                <a:spcPts val="600"/>
              </a:spcBef>
              <a:spcAft>
                <a:spcPts val="0"/>
              </a:spcAft>
              <a:buSzPts val="1600"/>
              <a:buNone/>
              <a:defRPr sz="1600" b="1"/>
            </a:lvl4pPr>
            <a:lvl5pPr marL="2286000" lvl="4" indent="-228600" algn="l">
              <a:lnSpc>
                <a:spcPct val="100000"/>
              </a:lnSpc>
              <a:spcBef>
                <a:spcPts val="600"/>
              </a:spcBef>
              <a:spcAft>
                <a:spcPts val="0"/>
              </a:spcAft>
              <a:buSzPts val="1600"/>
              <a:buNone/>
              <a:defRPr sz="1600" b="1"/>
            </a:lvl5pPr>
            <a:lvl6pPr marL="2743200" lvl="5" indent="-228600" algn="l">
              <a:lnSpc>
                <a:spcPct val="100000"/>
              </a:lnSpc>
              <a:spcBef>
                <a:spcPts val="600"/>
              </a:spcBef>
              <a:spcAft>
                <a:spcPts val="0"/>
              </a:spcAft>
              <a:buSzPts val="1600"/>
              <a:buNone/>
              <a:defRPr sz="1600" b="1"/>
            </a:lvl6pPr>
            <a:lvl7pPr marL="3200400" lvl="6" indent="-228600" algn="l">
              <a:lnSpc>
                <a:spcPct val="100000"/>
              </a:lnSpc>
              <a:spcBef>
                <a:spcPts val="600"/>
              </a:spcBef>
              <a:spcAft>
                <a:spcPts val="0"/>
              </a:spcAft>
              <a:buSzPts val="1600"/>
              <a:buNone/>
              <a:defRPr sz="1600" b="1"/>
            </a:lvl7pPr>
            <a:lvl8pPr marL="3657600" lvl="7" indent="-228600" algn="l">
              <a:lnSpc>
                <a:spcPct val="100000"/>
              </a:lnSpc>
              <a:spcBef>
                <a:spcPts val="600"/>
              </a:spcBef>
              <a:spcAft>
                <a:spcPts val="0"/>
              </a:spcAft>
              <a:buSzPts val="1600"/>
              <a:buNone/>
              <a:defRPr sz="1600" b="1"/>
            </a:lvl8pPr>
            <a:lvl9pPr marL="4114800" lvl="8" indent="-228600" algn="l">
              <a:lnSpc>
                <a:spcPct val="100000"/>
              </a:lnSpc>
              <a:spcBef>
                <a:spcPts val="600"/>
              </a:spcBef>
              <a:spcAft>
                <a:spcPts val="600"/>
              </a:spcAft>
              <a:buSzPts val="1600"/>
              <a:buNone/>
              <a:defRPr sz="1600" b="1"/>
            </a:lvl9pPr>
          </a:lstStyle>
          <a:p>
            <a:endParaRPr/>
          </a:p>
        </p:txBody>
      </p:sp>
      <p:sp>
        <p:nvSpPr>
          <p:cNvPr id="50" name="Google Shape;50;p21"/>
          <p:cNvSpPr txBox="1">
            <a:spLocks noGrp="1"/>
          </p:cNvSpPr>
          <p:nvPr>
            <p:ph type="body" idx="4"/>
          </p:nvPr>
        </p:nvSpPr>
        <p:spPr>
          <a:xfrm>
            <a:off x="6187415" y="2751138"/>
            <a:ext cx="5194583" cy="3109913"/>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51" name="Google Shape;51;p21"/>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1"/>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re uniquement" type="titleOnly">
  <p:cSld name="TITLE_ONLY">
    <p:spTree>
      <p:nvGrpSpPr>
        <p:cNvPr id="1" name="Shape 54"/>
        <p:cNvGrpSpPr/>
        <p:nvPr/>
      </p:nvGrpSpPr>
      <p:grpSpPr>
        <a:xfrm>
          <a:off x="0" y="0"/>
          <a:ext cx="0" cy="0"/>
          <a:chOff x="0" y="0"/>
          <a:chExt cx="0" cy="0"/>
        </a:xfrm>
      </p:grpSpPr>
      <p:sp>
        <p:nvSpPr>
          <p:cNvPr id="55" name="Google Shape;55;p22"/>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56" name="Google Shape;56;p22"/>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2"/>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2"/>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2"/>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Vide" type="blank">
  <p:cSld name="BLANK">
    <p:spTree>
      <p:nvGrpSpPr>
        <p:cNvPr id="1" name="Shape 60"/>
        <p:cNvGrpSpPr/>
        <p:nvPr/>
      </p:nvGrpSpPr>
      <p:grpSpPr>
        <a:xfrm>
          <a:off x="0" y="0"/>
          <a:ext cx="0" cy="0"/>
          <a:chOff x="0" y="0"/>
          <a:chExt cx="0" cy="0"/>
        </a:xfrm>
      </p:grpSpPr>
      <p:sp>
        <p:nvSpPr>
          <p:cNvPr id="61" name="Google Shape;61;p23"/>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u avec légende" type="objTx">
  <p:cSld name="OBJECT_WITH_CAPTION_TEXT">
    <p:spTree>
      <p:nvGrpSpPr>
        <p:cNvPr id="1" name="Shape 64"/>
        <p:cNvGrpSpPr/>
        <p:nvPr/>
      </p:nvGrpSpPr>
      <p:grpSpPr>
        <a:xfrm>
          <a:off x="0" y="0"/>
          <a:ext cx="0" cy="0"/>
          <a:chOff x="0" y="0"/>
          <a:chExt cx="0" cy="0"/>
        </a:xfrm>
      </p:grpSpPr>
      <p:sp>
        <p:nvSpPr>
          <p:cNvPr id="65" name="Google Shape;65;p24"/>
          <p:cNvSpPr/>
          <p:nvPr/>
        </p:nvSpPr>
        <p:spPr>
          <a:xfrm>
            <a:off x="1073151" y="446087"/>
            <a:ext cx="3547533" cy="1814651"/>
          </a:xfrm>
          <a:custGeom>
            <a:avLst/>
            <a:gdLst/>
            <a:ahLst/>
            <a:cxnLst/>
            <a:rect l="l" t="t" r="r" b="b"/>
            <a:pathLst>
              <a:path w="3384" h="2308" extrusionOk="0">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66" name="Google Shape;66;p24"/>
          <p:cNvSpPr txBox="1">
            <a:spLocks noGrp="1"/>
          </p:cNvSpPr>
          <p:nvPr>
            <p:ph type="title"/>
          </p:nvPr>
        </p:nvSpPr>
        <p:spPr>
          <a:xfrm>
            <a:off x="1073151" y="446088"/>
            <a:ext cx="3547533" cy="1618396"/>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2000"/>
              <a:buFont typeface="Century Gothic"/>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4"/>
          <p:cNvSpPr txBox="1">
            <a:spLocks noGrp="1"/>
          </p:cNvSpPr>
          <p:nvPr>
            <p:ph type="body" idx="1"/>
          </p:nvPr>
        </p:nvSpPr>
        <p:spPr>
          <a:xfrm>
            <a:off x="4855633" y="446088"/>
            <a:ext cx="6252633" cy="5414963"/>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68" name="Google Shape;68;p24"/>
          <p:cNvSpPr txBox="1">
            <a:spLocks noGrp="1"/>
          </p:cNvSpPr>
          <p:nvPr>
            <p:ph type="body" idx="2"/>
          </p:nvPr>
        </p:nvSpPr>
        <p:spPr>
          <a:xfrm>
            <a:off x="1073151" y="2260738"/>
            <a:ext cx="3547533" cy="3600311"/>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228600" algn="l">
              <a:lnSpc>
                <a:spcPct val="100000"/>
              </a:lnSpc>
              <a:spcBef>
                <a:spcPts val="280"/>
              </a:spcBef>
              <a:spcAft>
                <a:spcPts val="0"/>
              </a:spcAft>
              <a:buSzPts val="1400"/>
              <a:buNone/>
              <a:defRPr sz="1400"/>
            </a:lvl1pPr>
            <a:lvl2pPr marL="914400" lvl="1" indent="-228600" algn="l">
              <a:lnSpc>
                <a:spcPct val="100000"/>
              </a:lnSpc>
              <a:spcBef>
                <a:spcPts val="600"/>
              </a:spcBef>
              <a:spcAft>
                <a:spcPts val="0"/>
              </a:spcAft>
              <a:buSzPts val="1200"/>
              <a:buNone/>
              <a:defRPr sz="1200"/>
            </a:lvl2pPr>
            <a:lvl3pPr marL="1371600" lvl="2" indent="-228600" algn="l">
              <a:lnSpc>
                <a:spcPct val="100000"/>
              </a:lnSpc>
              <a:spcBef>
                <a:spcPts val="600"/>
              </a:spcBef>
              <a:spcAft>
                <a:spcPts val="0"/>
              </a:spcAft>
              <a:buSzPts val="1000"/>
              <a:buNone/>
              <a:defRPr sz="1000"/>
            </a:lvl3pPr>
            <a:lvl4pPr marL="1828800" lvl="3" indent="-228600" algn="l">
              <a:lnSpc>
                <a:spcPct val="100000"/>
              </a:lnSpc>
              <a:spcBef>
                <a:spcPts val="600"/>
              </a:spcBef>
              <a:spcAft>
                <a:spcPts val="0"/>
              </a:spcAft>
              <a:buSzPts val="900"/>
              <a:buNone/>
              <a:defRPr sz="900"/>
            </a:lvl4pPr>
            <a:lvl5pPr marL="2286000" lvl="4" indent="-228600" algn="l">
              <a:lnSpc>
                <a:spcPct val="100000"/>
              </a:lnSpc>
              <a:spcBef>
                <a:spcPts val="600"/>
              </a:spcBef>
              <a:spcAft>
                <a:spcPts val="0"/>
              </a:spcAft>
              <a:buSzPts val="900"/>
              <a:buNone/>
              <a:defRPr sz="900"/>
            </a:lvl5pPr>
            <a:lvl6pPr marL="2743200" lvl="5" indent="-228600" algn="l">
              <a:lnSpc>
                <a:spcPct val="100000"/>
              </a:lnSpc>
              <a:spcBef>
                <a:spcPts val="600"/>
              </a:spcBef>
              <a:spcAft>
                <a:spcPts val="0"/>
              </a:spcAft>
              <a:buSzPts val="900"/>
              <a:buNone/>
              <a:defRPr sz="900"/>
            </a:lvl6pPr>
            <a:lvl7pPr marL="3200400" lvl="6" indent="-228600" algn="l">
              <a:lnSpc>
                <a:spcPct val="100000"/>
              </a:lnSpc>
              <a:spcBef>
                <a:spcPts val="600"/>
              </a:spcBef>
              <a:spcAft>
                <a:spcPts val="0"/>
              </a:spcAft>
              <a:buSzPts val="900"/>
              <a:buNone/>
              <a:defRPr sz="900"/>
            </a:lvl7pPr>
            <a:lvl8pPr marL="3657600" lvl="7" indent="-228600" algn="l">
              <a:lnSpc>
                <a:spcPct val="100000"/>
              </a:lnSpc>
              <a:spcBef>
                <a:spcPts val="600"/>
              </a:spcBef>
              <a:spcAft>
                <a:spcPts val="0"/>
              </a:spcAft>
              <a:buSzPts val="900"/>
              <a:buNone/>
              <a:defRPr sz="900"/>
            </a:lvl8pPr>
            <a:lvl9pPr marL="4114800" lvl="8" indent="-228600" algn="l">
              <a:lnSpc>
                <a:spcPct val="100000"/>
              </a:lnSpc>
              <a:spcBef>
                <a:spcPts val="600"/>
              </a:spcBef>
              <a:spcAft>
                <a:spcPts val="600"/>
              </a:spcAft>
              <a:buSzPts val="900"/>
              <a:buNone/>
              <a:defRPr sz="900"/>
            </a:lvl9pPr>
          </a:lstStyle>
          <a:p>
            <a:endParaRPr/>
          </a:p>
        </p:txBody>
      </p:sp>
      <p:sp>
        <p:nvSpPr>
          <p:cNvPr id="69" name="Google Shape;69;p24"/>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4"/>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Image avec légende" type="picTx">
  <p:cSld name="PICTURE_WITH_CAPTION_TEXT">
    <p:spTree>
      <p:nvGrpSpPr>
        <p:cNvPr id="1" name="Shape 72"/>
        <p:cNvGrpSpPr/>
        <p:nvPr/>
      </p:nvGrpSpPr>
      <p:grpSpPr>
        <a:xfrm>
          <a:off x="0" y="0"/>
          <a:ext cx="0" cy="0"/>
          <a:chOff x="0" y="0"/>
          <a:chExt cx="0" cy="0"/>
        </a:xfrm>
      </p:grpSpPr>
      <p:sp>
        <p:nvSpPr>
          <p:cNvPr id="73" name="Google Shape;73;p25"/>
          <p:cNvSpPr txBox="1">
            <a:spLocks noGrp="1"/>
          </p:cNvSpPr>
          <p:nvPr>
            <p:ph type="title"/>
          </p:nvPr>
        </p:nvSpPr>
        <p:spPr>
          <a:xfrm>
            <a:off x="814728" y="727522"/>
            <a:ext cx="4852988" cy="1617163"/>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rmAutofit/>
          </a:bodyPr>
          <a:lstStyle>
            <a:lvl1pPr lvl="0" algn="l">
              <a:lnSpc>
                <a:spcPct val="100000"/>
              </a:lnSpc>
              <a:spcBef>
                <a:spcPts val="0"/>
              </a:spcBef>
              <a:spcAft>
                <a:spcPts val="0"/>
              </a:spcAft>
              <a:buClr>
                <a:srgbClr val="FEFEFE"/>
              </a:buClr>
              <a:buSzPts val="2400"/>
              <a:buFont typeface="Century Gothic"/>
              <a:buNone/>
              <a:defRPr sz="24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
          <p:cNvSpPr>
            <a:spLocks noGrp="1"/>
          </p:cNvSpPr>
          <p:nvPr>
            <p:ph type="pic" idx="2"/>
          </p:nvPr>
        </p:nvSpPr>
        <p:spPr>
          <a:xfrm>
            <a:off x="6098117" y="0"/>
            <a:ext cx="6093883" cy="6858000"/>
          </a:xfrm>
          <a:prstGeom prst="rect">
            <a:avLst/>
          </a:prstGeom>
          <a:noFill/>
          <a:ln w="9525" cap="flat" cmpd="sng">
            <a:solidFill>
              <a:schemeClr val="lt2"/>
            </a:solidFill>
            <a:prstDash val="solid"/>
            <a:round/>
            <a:headEnd type="none" w="sm" len="sm"/>
            <a:tailEnd type="none" w="sm" len="sm"/>
          </a:ln>
          <a:effectLst>
            <a:outerShdw blurRad="50800">
              <a:srgbClr val="000000">
                <a:alpha val="40000"/>
              </a:srgbClr>
            </a:outerShdw>
          </a:effectLst>
        </p:spPr>
      </p:sp>
      <p:sp>
        <p:nvSpPr>
          <p:cNvPr id="75" name="Google Shape;75;p25"/>
          <p:cNvSpPr txBox="1">
            <a:spLocks noGrp="1"/>
          </p:cNvSpPr>
          <p:nvPr>
            <p:ph type="body" idx="1"/>
          </p:nvPr>
        </p:nvSpPr>
        <p:spPr>
          <a:xfrm>
            <a:off x="814728" y="2344684"/>
            <a:ext cx="4852988" cy="351636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228600" algn="l">
              <a:lnSpc>
                <a:spcPct val="100000"/>
              </a:lnSpc>
              <a:spcBef>
                <a:spcPts val="240"/>
              </a:spcBef>
              <a:spcAft>
                <a:spcPts val="0"/>
              </a:spcAft>
              <a:buSzPts val="1200"/>
              <a:buNone/>
              <a:defRPr sz="1200"/>
            </a:lvl1pPr>
            <a:lvl2pPr marL="914400" lvl="1" indent="-228600" algn="l">
              <a:lnSpc>
                <a:spcPct val="100000"/>
              </a:lnSpc>
              <a:spcBef>
                <a:spcPts val="600"/>
              </a:spcBef>
              <a:spcAft>
                <a:spcPts val="0"/>
              </a:spcAft>
              <a:buSzPts val="1200"/>
              <a:buNone/>
              <a:defRPr sz="1200"/>
            </a:lvl2pPr>
            <a:lvl3pPr marL="1371600" lvl="2" indent="-228600" algn="l">
              <a:lnSpc>
                <a:spcPct val="100000"/>
              </a:lnSpc>
              <a:spcBef>
                <a:spcPts val="600"/>
              </a:spcBef>
              <a:spcAft>
                <a:spcPts val="0"/>
              </a:spcAft>
              <a:buSzPts val="1000"/>
              <a:buNone/>
              <a:defRPr sz="1000"/>
            </a:lvl3pPr>
            <a:lvl4pPr marL="1828800" lvl="3" indent="-228600" algn="l">
              <a:lnSpc>
                <a:spcPct val="100000"/>
              </a:lnSpc>
              <a:spcBef>
                <a:spcPts val="600"/>
              </a:spcBef>
              <a:spcAft>
                <a:spcPts val="0"/>
              </a:spcAft>
              <a:buSzPts val="900"/>
              <a:buNone/>
              <a:defRPr sz="900"/>
            </a:lvl4pPr>
            <a:lvl5pPr marL="2286000" lvl="4" indent="-228600" algn="l">
              <a:lnSpc>
                <a:spcPct val="100000"/>
              </a:lnSpc>
              <a:spcBef>
                <a:spcPts val="600"/>
              </a:spcBef>
              <a:spcAft>
                <a:spcPts val="0"/>
              </a:spcAft>
              <a:buSzPts val="900"/>
              <a:buNone/>
              <a:defRPr sz="900"/>
            </a:lvl5pPr>
            <a:lvl6pPr marL="2743200" lvl="5" indent="-228600" algn="l">
              <a:lnSpc>
                <a:spcPct val="100000"/>
              </a:lnSpc>
              <a:spcBef>
                <a:spcPts val="600"/>
              </a:spcBef>
              <a:spcAft>
                <a:spcPts val="0"/>
              </a:spcAft>
              <a:buSzPts val="900"/>
              <a:buNone/>
              <a:defRPr sz="900"/>
            </a:lvl6pPr>
            <a:lvl7pPr marL="3200400" lvl="6" indent="-228600" algn="l">
              <a:lnSpc>
                <a:spcPct val="100000"/>
              </a:lnSpc>
              <a:spcBef>
                <a:spcPts val="600"/>
              </a:spcBef>
              <a:spcAft>
                <a:spcPts val="0"/>
              </a:spcAft>
              <a:buSzPts val="900"/>
              <a:buNone/>
              <a:defRPr sz="900"/>
            </a:lvl7pPr>
            <a:lvl8pPr marL="3657600" lvl="7" indent="-228600" algn="l">
              <a:lnSpc>
                <a:spcPct val="100000"/>
              </a:lnSpc>
              <a:spcBef>
                <a:spcPts val="600"/>
              </a:spcBef>
              <a:spcAft>
                <a:spcPts val="0"/>
              </a:spcAft>
              <a:buSzPts val="900"/>
              <a:buNone/>
              <a:defRPr sz="900"/>
            </a:lvl8pPr>
            <a:lvl9pPr marL="4114800" lvl="8" indent="-228600" algn="l">
              <a:lnSpc>
                <a:spcPct val="100000"/>
              </a:lnSpc>
              <a:spcBef>
                <a:spcPts val="600"/>
              </a:spcBef>
              <a:spcAft>
                <a:spcPts val="600"/>
              </a:spcAft>
              <a:buSzPts val="900"/>
              <a:buNone/>
              <a:defRPr sz="900"/>
            </a:lvl9pPr>
          </a:lstStyle>
          <a:p>
            <a:endParaRPr/>
          </a:p>
        </p:txBody>
      </p:sp>
      <p:sp>
        <p:nvSpPr>
          <p:cNvPr id="76" name="Google Shape;76;p25"/>
          <p:cNvSpPr txBox="1">
            <a:spLocks noGrp="1"/>
          </p:cNvSpPr>
          <p:nvPr>
            <p:ph type="dt" idx="10"/>
          </p:nvPr>
        </p:nvSpPr>
        <p:spPr>
          <a:xfrm>
            <a:off x="3885810" y="6041362"/>
            <a:ext cx="976879"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ftr" idx="11"/>
          </p:nvPr>
        </p:nvSpPr>
        <p:spPr>
          <a:xfrm>
            <a:off x="590396" y="6041362"/>
            <a:ext cx="3295413"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5"/>
          <p:cNvSpPr txBox="1">
            <a:spLocks noGrp="1"/>
          </p:cNvSpPr>
          <p:nvPr>
            <p:ph type="sldNum" idx="12"/>
          </p:nvPr>
        </p:nvSpPr>
        <p:spPr>
          <a:xfrm>
            <a:off x="4862689"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 panoramique avec légende">
  <p:cSld name="Image panoramique avec légende">
    <p:spTree>
      <p:nvGrpSpPr>
        <p:cNvPr id="1" name="Shape 79"/>
        <p:cNvGrpSpPr/>
        <p:nvPr/>
      </p:nvGrpSpPr>
      <p:grpSpPr>
        <a:xfrm>
          <a:off x="0" y="0"/>
          <a:ext cx="0" cy="0"/>
          <a:chOff x="0" y="0"/>
          <a:chExt cx="0" cy="0"/>
        </a:xfrm>
      </p:grpSpPr>
      <p:sp>
        <p:nvSpPr>
          <p:cNvPr id="80" name="Google Shape;80;p26"/>
          <p:cNvSpPr txBox="1">
            <a:spLocks noGrp="1"/>
          </p:cNvSpPr>
          <p:nvPr>
            <p:ph type="title"/>
          </p:nvPr>
        </p:nvSpPr>
        <p:spPr>
          <a:xfrm>
            <a:off x="810000" y="4800600"/>
            <a:ext cx="10561418" cy="566738"/>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rmAutofit/>
          </a:bodyPr>
          <a:lstStyle>
            <a:lvl1pPr lvl="0" algn="l">
              <a:lnSpc>
                <a:spcPct val="100000"/>
              </a:lnSpc>
              <a:spcBef>
                <a:spcPts val="0"/>
              </a:spcBef>
              <a:spcAft>
                <a:spcPts val="0"/>
              </a:spcAft>
              <a:buClr>
                <a:srgbClr val="FEFEFE"/>
              </a:buClr>
              <a:buSzPts val="2400"/>
              <a:buFont typeface="Century Gothic"/>
              <a:buNone/>
              <a:defRPr sz="24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a:spLocks noGrp="1"/>
          </p:cNvSpPr>
          <p:nvPr>
            <p:ph type="pic" idx="2"/>
          </p:nvPr>
        </p:nvSpPr>
        <p:spPr>
          <a:xfrm>
            <a:off x="0" y="0"/>
            <a:ext cx="12192000" cy="4800600"/>
          </a:xfrm>
          <a:prstGeom prst="rect">
            <a:avLst/>
          </a:prstGeom>
          <a:noFill/>
          <a:ln w="9525" cap="rnd" cmpd="sng">
            <a:solidFill>
              <a:schemeClr val="lt2"/>
            </a:solidFill>
            <a:prstDash val="solid"/>
            <a:round/>
            <a:headEnd type="none" w="sm" len="sm"/>
            <a:tailEnd type="none" w="sm" len="sm"/>
          </a:ln>
          <a:effectLst>
            <a:outerShdw blurRad="50800">
              <a:srgbClr val="000000">
                <a:alpha val="40000"/>
              </a:srgbClr>
            </a:outerShdw>
          </a:effectLst>
        </p:spPr>
      </p:sp>
      <p:sp>
        <p:nvSpPr>
          <p:cNvPr id="82" name="Google Shape;82;p26"/>
          <p:cNvSpPr txBox="1">
            <a:spLocks noGrp="1"/>
          </p:cNvSpPr>
          <p:nvPr>
            <p:ph type="body" idx="1"/>
          </p:nvPr>
        </p:nvSpPr>
        <p:spPr>
          <a:xfrm>
            <a:off x="810000" y="5367338"/>
            <a:ext cx="10561418" cy="493712"/>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228600" algn="l">
              <a:lnSpc>
                <a:spcPct val="100000"/>
              </a:lnSpc>
              <a:spcBef>
                <a:spcPts val="240"/>
              </a:spcBef>
              <a:spcAft>
                <a:spcPts val="0"/>
              </a:spcAft>
              <a:buSzPts val="1200"/>
              <a:buNone/>
              <a:defRPr sz="1200"/>
            </a:lvl1pPr>
            <a:lvl2pPr marL="914400" lvl="1" indent="-228600" algn="l">
              <a:lnSpc>
                <a:spcPct val="100000"/>
              </a:lnSpc>
              <a:spcBef>
                <a:spcPts val="600"/>
              </a:spcBef>
              <a:spcAft>
                <a:spcPts val="0"/>
              </a:spcAft>
              <a:buSzPts val="1200"/>
              <a:buNone/>
              <a:defRPr sz="1200"/>
            </a:lvl2pPr>
            <a:lvl3pPr marL="1371600" lvl="2" indent="-228600" algn="l">
              <a:lnSpc>
                <a:spcPct val="100000"/>
              </a:lnSpc>
              <a:spcBef>
                <a:spcPts val="600"/>
              </a:spcBef>
              <a:spcAft>
                <a:spcPts val="0"/>
              </a:spcAft>
              <a:buSzPts val="1000"/>
              <a:buNone/>
              <a:defRPr sz="1000"/>
            </a:lvl3pPr>
            <a:lvl4pPr marL="1828800" lvl="3" indent="-228600" algn="l">
              <a:lnSpc>
                <a:spcPct val="100000"/>
              </a:lnSpc>
              <a:spcBef>
                <a:spcPts val="600"/>
              </a:spcBef>
              <a:spcAft>
                <a:spcPts val="0"/>
              </a:spcAft>
              <a:buSzPts val="900"/>
              <a:buNone/>
              <a:defRPr sz="900"/>
            </a:lvl4pPr>
            <a:lvl5pPr marL="2286000" lvl="4" indent="-228600" algn="l">
              <a:lnSpc>
                <a:spcPct val="100000"/>
              </a:lnSpc>
              <a:spcBef>
                <a:spcPts val="600"/>
              </a:spcBef>
              <a:spcAft>
                <a:spcPts val="0"/>
              </a:spcAft>
              <a:buSzPts val="900"/>
              <a:buNone/>
              <a:defRPr sz="900"/>
            </a:lvl5pPr>
            <a:lvl6pPr marL="2743200" lvl="5" indent="-228600" algn="l">
              <a:lnSpc>
                <a:spcPct val="100000"/>
              </a:lnSpc>
              <a:spcBef>
                <a:spcPts val="600"/>
              </a:spcBef>
              <a:spcAft>
                <a:spcPts val="0"/>
              </a:spcAft>
              <a:buSzPts val="900"/>
              <a:buNone/>
              <a:defRPr sz="900"/>
            </a:lvl6pPr>
            <a:lvl7pPr marL="3200400" lvl="6" indent="-228600" algn="l">
              <a:lnSpc>
                <a:spcPct val="100000"/>
              </a:lnSpc>
              <a:spcBef>
                <a:spcPts val="600"/>
              </a:spcBef>
              <a:spcAft>
                <a:spcPts val="0"/>
              </a:spcAft>
              <a:buSzPts val="900"/>
              <a:buNone/>
              <a:defRPr sz="900"/>
            </a:lvl7pPr>
            <a:lvl8pPr marL="3657600" lvl="7" indent="-228600" algn="l">
              <a:lnSpc>
                <a:spcPct val="100000"/>
              </a:lnSpc>
              <a:spcBef>
                <a:spcPts val="600"/>
              </a:spcBef>
              <a:spcAft>
                <a:spcPts val="0"/>
              </a:spcAft>
              <a:buSzPts val="900"/>
              <a:buNone/>
              <a:defRPr sz="900"/>
            </a:lvl8pPr>
            <a:lvl9pPr marL="4114800" lvl="8" indent="-228600" algn="l">
              <a:lnSpc>
                <a:spcPct val="100000"/>
              </a:lnSpc>
              <a:spcBef>
                <a:spcPts val="600"/>
              </a:spcBef>
              <a:spcAft>
                <a:spcPts val="600"/>
              </a:spcAft>
              <a:buSzPts val="900"/>
              <a:buNone/>
              <a:defRPr sz="900"/>
            </a:lvl9pPr>
          </a:lstStyle>
          <a:p>
            <a:endParaRPr/>
          </a:p>
        </p:txBody>
      </p:sp>
      <p:sp>
        <p:nvSpPr>
          <p:cNvPr id="83" name="Google Shape;83;p26"/>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26"/>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itation avec légende">
  <p:cSld name="Citation avec légende">
    <p:spTree>
      <p:nvGrpSpPr>
        <p:cNvPr id="1" name="Shape 86"/>
        <p:cNvGrpSpPr/>
        <p:nvPr/>
      </p:nvGrpSpPr>
      <p:grpSpPr>
        <a:xfrm>
          <a:off x="0" y="0"/>
          <a:ext cx="0" cy="0"/>
          <a:chOff x="0" y="0"/>
          <a:chExt cx="0" cy="0"/>
        </a:xfrm>
      </p:grpSpPr>
      <p:sp>
        <p:nvSpPr>
          <p:cNvPr id="87" name="Google Shape;87;p27"/>
          <p:cNvSpPr/>
          <p:nvPr/>
        </p:nvSpPr>
        <p:spPr>
          <a:xfrm>
            <a:off x="631697" y="1081456"/>
            <a:ext cx="6332416" cy="3239188"/>
          </a:xfrm>
          <a:custGeom>
            <a:avLst/>
            <a:gdLst/>
            <a:ahLst/>
            <a:cxnLst/>
            <a:rect l="l" t="t" r="r" b="b"/>
            <a:pathLst>
              <a:path w="3384" h="2308" extrusionOk="0">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88" name="Google Shape;88;p27"/>
          <p:cNvSpPr txBox="1">
            <a:spLocks noGrp="1"/>
          </p:cNvSpPr>
          <p:nvPr>
            <p:ph type="title"/>
          </p:nvPr>
        </p:nvSpPr>
        <p:spPr>
          <a:xfrm>
            <a:off x="850985" y="1238502"/>
            <a:ext cx="5893840" cy="2645912"/>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4200"/>
              <a:buFont typeface="Century Gothic"/>
              <a:buNone/>
              <a:defRPr sz="42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27"/>
          <p:cNvSpPr txBox="1">
            <a:spLocks noGrp="1"/>
          </p:cNvSpPr>
          <p:nvPr>
            <p:ph type="body" idx="1"/>
          </p:nvPr>
        </p:nvSpPr>
        <p:spPr>
          <a:xfrm>
            <a:off x="853190" y="4443680"/>
            <a:ext cx="5891636" cy="713241"/>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Autofit/>
          </a:bodyPr>
          <a:lstStyle>
            <a:lvl1pPr marL="457200" lvl="0" indent="-228600" algn="l">
              <a:lnSpc>
                <a:spcPct val="100000"/>
              </a:lnSpc>
              <a:spcBef>
                <a:spcPts val="360"/>
              </a:spcBef>
              <a:spcAft>
                <a:spcPts val="0"/>
              </a:spcAft>
              <a:buSzPts val="1800"/>
              <a:buNone/>
              <a:defRPr sz="1800">
                <a:solidFill>
                  <a:schemeClr val="lt1"/>
                </a:solidFill>
              </a:defRPr>
            </a:lvl1pPr>
            <a:lvl2pPr marL="914400" lvl="1" indent="-228600" algn="l">
              <a:lnSpc>
                <a:spcPct val="100000"/>
              </a:lnSpc>
              <a:spcBef>
                <a:spcPts val="600"/>
              </a:spcBef>
              <a:spcAft>
                <a:spcPts val="0"/>
              </a:spcAft>
              <a:buSzPts val="1800"/>
              <a:buNone/>
              <a:defRPr sz="1800">
                <a:solidFill>
                  <a:schemeClr val="lt1"/>
                </a:solidFill>
              </a:defRPr>
            </a:lvl2pPr>
            <a:lvl3pPr marL="1371600" lvl="2" indent="-228600" algn="l">
              <a:lnSpc>
                <a:spcPct val="100000"/>
              </a:lnSpc>
              <a:spcBef>
                <a:spcPts val="600"/>
              </a:spcBef>
              <a:spcAft>
                <a:spcPts val="0"/>
              </a:spcAft>
              <a:buSzPts val="1600"/>
              <a:buNone/>
              <a:defRPr sz="1600">
                <a:solidFill>
                  <a:schemeClr val="lt1"/>
                </a:solidFill>
              </a:defRPr>
            </a:lvl3pPr>
            <a:lvl4pPr marL="1828800" lvl="3" indent="-228600" algn="l">
              <a:lnSpc>
                <a:spcPct val="100000"/>
              </a:lnSpc>
              <a:spcBef>
                <a:spcPts val="600"/>
              </a:spcBef>
              <a:spcAft>
                <a:spcPts val="0"/>
              </a:spcAft>
              <a:buSzPts val="1400"/>
              <a:buNone/>
              <a:defRPr sz="1400">
                <a:solidFill>
                  <a:schemeClr val="lt1"/>
                </a:solidFill>
              </a:defRPr>
            </a:lvl4pPr>
            <a:lvl5pPr marL="2286000" lvl="4" indent="-228600" algn="l">
              <a:lnSpc>
                <a:spcPct val="100000"/>
              </a:lnSpc>
              <a:spcBef>
                <a:spcPts val="600"/>
              </a:spcBef>
              <a:spcAft>
                <a:spcPts val="0"/>
              </a:spcAft>
              <a:buSzPts val="1400"/>
              <a:buNone/>
              <a:defRPr sz="1400">
                <a:solidFill>
                  <a:schemeClr val="lt1"/>
                </a:solidFill>
              </a:defRPr>
            </a:lvl5pPr>
            <a:lvl6pPr marL="2743200" lvl="5" indent="-228600" algn="l">
              <a:lnSpc>
                <a:spcPct val="100000"/>
              </a:lnSpc>
              <a:spcBef>
                <a:spcPts val="600"/>
              </a:spcBef>
              <a:spcAft>
                <a:spcPts val="0"/>
              </a:spcAft>
              <a:buSzPts val="1400"/>
              <a:buNone/>
              <a:defRPr sz="1400">
                <a:solidFill>
                  <a:schemeClr val="lt1"/>
                </a:solidFill>
              </a:defRPr>
            </a:lvl6pPr>
            <a:lvl7pPr marL="3200400" lvl="6" indent="-228600" algn="l">
              <a:lnSpc>
                <a:spcPct val="100000"/>
              </a:lnSpc>
              <a:spcBef>
                <a:spcPts val="600"/>
              </a:spcBef>
              <a:spcAft>
                <a:spcPts val="0"/>
              </a:spcAft>
              <a:buSzPts val="1400"/>
              <a:buNone/>
              <a:defRPr sz="1400">
                <a:solidFill>
                  <a:schemeClr val="lt1"/>
                </a:solidFill>
              </a:defRPr>
            </a:lvl7pPr>
            <a:lvl8pPr marL="3657600" lvl="7" indent="-228600" algn="l">
              <a:lnSpc>
                <a:spcPct val="100000"/>
              </a:lnSpc>
              <a:spcBef>
                <a:spcPts val="600"/>
              </a:spcBef>
              <a:spcAft>
                <a:spcPts val="0"/>
              </a:spcAft>
              <a:buSzPts val="1400"/>
              <a:buNone/>
              <a:defRPr sz="1400">
                <a:solidFill>
                  <a:schemeClr val="lt1"/>
                </a:solidFill>
              </a:defRPr>
            </a:lvl8pPr>
            <a:lvl9pPr marL="4114800" lvl="8" indent="-228600" algn="l">
              <a:lnSpc>
                <a:spcPct val="100000"/>
              </a:lnSpc>
              <a:spcBef>
                <a:spcPts val="600"/>
              </a:spcBef>
              <a:spcAft>
                <a:spcPts val="600"/>
              </a:spcAft>
              <a:buSzPts val="1400"/>
              <a:buNone/>
              <a:defRPr sz="1400">
                <a:solidFill>
                  <a:schemeClr val="lt1"/>
                </a:solidFill>
              </a:defRPr>
            </a:lvl9pPr>
          </a:lstStyle>
          <a:p>
            <a:endParaRPr/>
          </a:p>
        </p:txBody>
      </p:sp>
      <p:sp>
        <p:nvSpPr>
          <p:cNvPr id="90" name="Google Shape;90;p27"/>
          <p:cNvSpPr txBox="1">
            <a:spLocks noGrp="1"/>
          </p:cNvSpPr>
          <p:nvPr>
            <p:ph type="body" idx="2"/>
          </p:nvPr>
        </p:nvSpPr>
        <p:spPr>
          <a:xfrm>
            <a:off x="7574642" y="1081456"/>
            <a:ext cx="3810001" cy="407546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1800"/>
              <a:buFont typeface="Century Gothic"/>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91" name="Google Shape;91;p27"/>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27"/>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rte de nom">
  <p:cSld name="Carte de nom">
    <p:spTree>
      <p:nvGrpSpPr>
        <p:cNvPr id="1" name="Shape 94"/>
        <p:cNvGrpSpPr/>
        <p:nvPr/>
      </p:nvGrpSpPr>
      <p:grpSpPr>
        <a:xfrm>
          <a:off x="0" y="0"/>
          <a:ext cx="0" cy="0"/>
          <a:chOff x="0" y="0"/>
          <a:chExt cx="0" cy="0"/>
        </a:xfrm>
      </p:grpSpPr>
      <p:sp>
        <p:nvSpPr>
          <p:cNvPr id="95" name="Google Shape;95;p28"/>
          <p:cNvSpPr/>
          <p:nvPr/>
        </p:nvSpPr>
        <p:spPr>
          <a:xfrm>
            <a:off x="1140884" y="2286585"/>
            <a:ext cx="4895115" cy="2503972"/>
          </a:xfrm>
          <a:custGeom>
            <a:avLst/>
            <a:gdLst/>
            <a:ahLst/>
            <a:cxnLst/>
            <a:rect l="l" t="t" r="r" b="b"/>
            <a:pathLst>
              <a:path w="3384" h="2308" extrusionOk="0">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96" name="Google Shape;96;p28"/>
          <p:cNvSpPr txBox="1">
            <a:spLocks noGrp="1"/>
          </p:cNvSpPr>
          <p:nvPr>
            <p:ph type="title"/>
          </p:nvPr>
        </p:nvSpPr>
        <p:spPr>
          <a:xfrm>
            <a:off x="1357089" y="2435957"/>
            <a:ext cx="4382521" cy="2007789"/>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28"/>
          <p:cNvSpPr txBox="1">
            <a:spLocks noGrp="1"/>
          </p:cNvSpPr>
          <p:nvPr>
            <p:ph type="body" idx="1"/>
          </p:nvPr>
        </p:nvSpPr>
        <p:spPr>
          <a:xfrm>
            <a:off x="6156000" y="2286000"/>
            <a:ext cx="4880300" cy="229552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1800"/>
              <a:buFont typeface="Century Gothic"/>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98" name="Google Shape;98;p28"/>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28"/>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re et texte vertical" type="vertTx">
  <p:cSld name="VERTICAL_TEXT">
    <p:spTree>
      <p:nvGrpSpPr>
        <p:cNvPr id="1" name="Shape 101"/>
        <p:cNvGrpSpPr/>
        <p:nvPr/>
      </p:nvGrpSpPr>
      <p:grpSpPr>
        <a:xfrm>
          <a:off x="0" y="0"/>
          <a:ext cx="0" cy="0"/>
          <a:chOff x="0" y="0"/>
          <a:chExt cx="0" cy="0"/>
        </a:xfrm>
      </p:grpSpPr>
      <p:sp>
        <p:nvSpPr>
          <p:cNvPr id="102" name="Google Shape;102;p29"/>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103" name="Google Shape;103;p29"/>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rot="5400000">
            <a:off x="4254444" y="-1260043"/>
            <a:ext cx="3674397" cy="1056328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105" name="Google Shape;105;p29"/>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p29"/>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7" name="Google Shape;107;p29"/>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re vertical et texte" type="vertTitleAndTx">
  <p:cSld name="VERTICAL_TITLE_AND_VERTICAL_TEXT">
    <p:spTree>
      <p:nvGrpSpPr>
        <p:cNvPr id="1" name="Shape 108"/>
        <p:cNvGrpSpPr/>
        <p:nvPr/>
      </p:nvGrpSpPr>
      <p:grpSpPr>
        <a:xfrm>
          <a:off x="0" y="0"/>
          <a:ext cx="0" cy="0"/>
          <a:chOff x="0" y="0"/>
          <a:chExt cx="0" cy="0"/>
        </a:xfrm>
      </p:grpSpPr>
      <p:sp>
        <p:nvSpPr>
          <p:cNvPr id="109" name="Google Shape;109;p30"/>
          <p:cNvSpPr/>
          <p:nvPr/>
        </p:nvSpPr>
        <p:spPr>
          <a:xfrm>
            <a:off x="7669651" y="446089"/>
            <a:ext cx="4522349" cy="5414962"/>
          </a:xfrm>
          <a:custGeom>
            <a:avLst/>
            <a:gdLst/>
            <a:ahLst/>
            <a:cxnLst/>
            <a:rect l="l" t="t" r="r" b="b"/>
            <a:pathLst>
              <a:path w="2879" h="4320" extrusionOk="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110" name="Google Shape;110;p30"/>
          <p:cNvSpPr txBox="1">
            <a:spLocks noGrp="1"/>
          </p:cNvSpPr>
          <p:nvPr>
            <p:ph type="title"/>
          </p:nvPr>
        </p:nvSpPr>
        <p:spPr>
          <a:xfrm rot="5400000">
            <a:off x="6863536" y="1906175"/>
            <a:ext cx="5134798" cy="2494791"/>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lnSpc>
                <a:spcPct val="100000"/>
              </a:lnSpc>
              <a:spcBef>
                <a:spcPts val="0"/>
              </a:spcBef>
              <a:spcAft>
                <a:spcPts val="0"/>
              </a:spcAft>
              <a:buClr>
                <a:srgbClr val="FEFEFE"/>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30"/>
          <p:cNvSpPr txBox="1">
            <a:spLocks noGrp="1"/>
          </p:cNvSpPr>
          <p:nvPr>
            <p:ph type="body" idx="1"/>
          </p:nvPr>
        </p:nvSpPr>
        <p:spPr>
          <a:xfrm rot="5400000">
            <a:off x="1408290" y="-152200"/>
            <a:ext cx="5414962" cy="6611540"/>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112" name="Google Shape;112;p30"/>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3" name="Google Shape;113;p30"/>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p30"/>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FEFEFE"/>
              </a:buClr>
              <a:buSzPts val="4000"/>
              <a:buFont typeface="Century Gothic"/>
              <a:buNone/>
              <a:defRPr sz="4000" b="1" i="0" u="none" strike="noStrike" cap="none">
                <a:solidFill>
                  <a:srgbClr val="FEFEFE"/>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9pPr>
          </a:lstStyle>
          <a:p>
            <a:endParaRPr/>
          </a:p>
        </p:txBody>
      </p:sp>
      <p:sp>
        <p:nvSpPr>
          <p:cNvPr id="11" name="Google Shape;11;p16"/>
          <p:cNvSpPr txBox="1">
            <a:spLocks noGrp="1"/>
          </p:cNvSpPr>
          <p:nvPr>
            <p:ph type="body" idx="1"/>
          </p:nvPr>
        </p:nvSpPr>
        <p:spPr>
          <a:xfrm>
            <a:off x="810000" y="2184401"/>
            <a:ext cx="10563285" cy="3674397"/>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marR="0" lvl="0" indent="-342900" algn="l" rtl="0">
              <a:lnSpc>
                <a:spcPct val="100000"/>
              </a:lnSpc>
              <a:spcBef>
                <a:spcPts val="360"/>
              </a:spcBef>
              <a:spcAft>
                <a:spcPts val="0"/>
              </a:spcAft>
              <a:buClr>
                <a:schemeClr val="accent1"/>
              </a:buClr>
              <a:buSzPts val="1800"/>
              <a:buFont typeface="Noto Sans Symbols"/>
              <a:buChar char="🞆"/>
              <a:defRPr sz="1800" b="0" i="0" u="none" strike="noStrike" cap="none">
                <a:solidFill>
                  <a:schemeClr val="lt1"/>
                </a:solidFill>
                <a:latin typeface="Century Gothic"/>
                <a:ea typeface="Century Gothic"/>
                <a:cs typeface="Century Gothic"/>
                <a:sym typeface="Century Gothic"/>
              </a:defRPr>
            </a:lvl1pPr>
            <a:lvl2pPr marL="914400" marR="0" lvl="1" indent="-330200" algn="l" rtl="0">
              <a:lnSpc>
                <a:spcPct val="100000"/>
              </a:lnSpc>
              <a:spcBef>
                <a:spcPts val="600"/>
              </a:spcBef>
              <a:spcAft>
                <a:spcPts val="0"/>
              </a:spcAft>
              <a:buClr>
                <a:schemeClr val="accent1"/>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2pPr>
            <a:lvl3pPr marL="1371600" marR="0" lvl="2" indent="-317500" algn="l" rtl="0">
              <a:lnSpc>
                <a:spcPct val="100000"/>
              </a:lnSpc>
              <a:spcBef>
                <a:spcPts val="600"/>
              </a:spcBef>
              <a:spcAft>
                <a:spcPts val="0"/>
              </a:spcAft>
              <a:buClr>
                <a:schemeClr val="accent1"/>
              </a:buClr>
              <a:buSzPts val="1400"/>
              <a:buFont typeface="Noto Sans Symbols"/>
              <a:buChar char="🞆"/>
              <a:defRPr sz="1400" b="0" i="0" u="none" strike="noStrike" cap="none">
                <a:solidFill>
                  <a:schemeClr val="lt1"/>
                </a:solidFill>
                <a:latin typeface="Century Gothic"/>
                <a:ea typeface="Century Gothic"/>
                <a:cs typeface="Century Gothic"/>
                <a:sym typeface="Century Gothic"/>
              </a:defRPr>
            </a:lvl3pPr>
            <a:lvl4pPr marL="1828800" marR="0" lvl="3" indent="-304800" algn="l" rtl="0">
              <a:lnSpc>
                <a:spcPct val="100000"/>
              </a:lnSpc>
              <a:spcBef>
                <a:spcPts val="600"/>
              </a:spcBef>
              <a:spcAft>
                <a:spcPts val="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4pPr>
            <a:lvl5pPr marL="2286000" marR="0" lvl="4" indent="-304800" algn="l" rtl="0">
              <a:lnSpc>
                <a:spcPct val="100000"/>
              </a:lnSpc>
              <a:spcBef>
                <a:spcPts val="600"/>
              </a:spcBef>
              <a:spcAft>
                <a:spcPts val="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5pPr>
            <a:lvl6pPr marL="2743200" marR="0" lvl="5" indent="-304800" algn="l" rtl="0">
              <a:lnSpc>
                <a:spcPct val="100000"/>
              </a:lnSpc>
              <a:spcBef>
                <a:spcPts val="600"/>
              </a:spcBef>
              <a:spcAft>
                <a:spcPts val="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6pPr>
            <a:lvl7pPr marL="3200400" marR="0" lvl="6" indent="-304800" algn="l" rtl="0">
              <a:lnSpc>
                <a:spcPct val="100000"/>
              </a:lnSpc>
              <a:spcBef>
                <a:spcPts val="600"/>
              </a:spcBef>
              <a:spcAft>
                <a:spcPts val="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7pPr>
            <a:lvl8pPr marL="3657600" marR="0" lvl="7" indent="-304800" algn="l" rtl="0">
              <a:lnSpc>
                <a:spcPct val="100000"/>
              </a:lnSpc>
              <a:spcBef>
                <a:spcPts val="600"/>
              </a:spcBef>
              <a:spcAft>
                <a:spcPts val="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8pPr>
            <a:lvl9pPr marL="4114800" marR="0" lvl="8" indent="-304800" algn="l" rtl="0">
              <a:lnSpc>
                <a:spcPct val="100000"/>
              </a:lnSpc>
              <a:spcBef>
                <a:spcPts val="600"/>
              </a:spcBef>
              <a:spcAft>
                <a:spcPts val="60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9pPr>
          </a:lstStyle>
          <a:p>
            <a:endParaRPr/>
          </a:p>
        </p:txBody>
      </p:sp>
      <p:sp>
        <p:nvSpPr>
          <p:cNvPr id="12" name="Google Shape;12;p16"/>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3" name="Google Shape;13;p16"/>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marR="0" lvl="0" algn="r" rtl="0">
              <a:lnSpc>
                <a:spcPct val="100000"/>
              </a:lnSpc>
              <a:spcBef>
                <a:spcPts val="0"/>
              </a:spcBef>
              <a:spcAft>
                <a:spcPts val="0"/>
              </a:spcAft>
              <a:buClr>
                <a:srgbClr val="000000"/>
              </a:buClr>
              <a:buSzPts val="1400"/>
              <a:buFont typeface="Arial"/>
              <a:buNone/>
              <a:defRPr sz="9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4" name="Google Shape;14;p16"/>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2000"/>
              <a:buFont typeface="Arial"/>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fr-FR"/>
              <a:t>‹N°›</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119"/>
        <p:cNvGrpSpPr/>
        <p:nvPr/>
      </p:nvGrpSpPr>
      <p:grpSpPr>
        <a:xfrm>
          <a:off x="0" y="0"/>
          <a:ext cx="0" cy="0"/>
          <a:chOff x="0" y="0"/>
          <a:chExt cx="0" cy="0"/>
        </a:xfrm>
      </p:grpSpPr>
      <p:sp>
        <p:nvSpPr>
          <p:cNvPr id="120" name="Google Shape;120;p1"/>
          <p:cNvSpPr/>
          <p:nvPr/>
        </p:nvSpPr>
        <p:spPr>
          <a:xfrm>
            <a:off x="0" y="0"/>
            <a:ext cx="12192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entury Gothic"/>
              <a:ea typeface="Century Gothic"/>
              <a:cs typeface="Century Gothic"/>
              <a:sym typeface="Century Gothic"/>
            </a:endParaRPr>
          </a:p>
        </p:txBody>
      </p:sp>
      <p:sp>
        <p:nvSpPr>
          <p:cNvPr id="121" name="Google Shape;121;p1"/>
          <p:cNvSpPr/>
          <p:nvPr/>
        </p:nvSpPr>
        <p:spPr>
          <a:xfrm rot="-5400000">
            <a:off x="-650724" y="650724"/>
            <a:ext cx="6858000" cy="5556552"/>
          </a:xfrm>
          <a:custGeom>
            <a:avLst/>
            <a:gdLst/>
            <a:ahLst/>
            <a:cxnLst/>
            <a:rect l="l" t="t" r="r" b="b"/>
            <a:pathLst>
              <a:path w="6858000" h="5556552" extrusionOk="0">
                <a:moveTo>
                  <a:pt x="6858000" y="3445704"/>
                </a:moveTo>
                <a:lnTo>
                  <a:pt x="3829242" y="5433322"/>
                </a:lnTo>
                <a:lnTo>
                  <a:pt x="3827369" y="5434867"/>
                </a:lnTo>
                <a:lnTo>
                  <a:pt x="3824583" y="5436378"/>
                </a:lnTo>
                <a:lnTo>
                  <a:pt x="3798693" y="5453370"/>
                </a:lnTo>
                <a:lnTo>
                  <a:pt x="3785011" y="5457858"/>
                </a:lnTo>
                <a:lnTo>
                  <a:pt x="3706339" y="5500559"/>
                </a:lnTo>
                <a:cubicBezTo>
                  <a:pt x="3621096" y="5536614"/>
                  <a:pt x="3527375" y="5556552"/>
                  <a:pt x="3428998" y="5556552"/>
                </a:cubicBezTo>
                <a:cubicBezTo>
                  <a:pt x="3330621" y="5556552"/>
                  <a:pt x="3236901" y="5536614"/>
                  <a:pt x="3151658" y="5500559"/>
                </a:cubicBezTo>
                <a:lnTo>
                  <a:pt x="3072996" y="5457863"/>
                </a:lnTo>
                <a:lnTo>
                  <a:pt x="3059298" y="5453370"/>
                </a:lnTo>
                <a:lnTo>
                  <a:pt x="3033383" y="5436362"/>
                </a:lnTo>
                <a:lnTo>
                  <a:pt x="3030627" y="5434867"/>
                </a:lnTo>
                <a:lnTo>
                  <a:pt x="3028775" y="5433338"/>
                </a:lnTo>
                <a:lnTo>
                  <a:pt x="0" y="3445704"/>
                </a:lnTo>
                <a:close/>
                <a:moveTo>
                  <a:pt x="6858000" y="0"/>
                </a:moveTo>
                <a:lnTo>
                  <a:pt x="6858000" y="349336"/>
                </a:lnTo>
                <a:lnTo>
                  <a:pt x="6858000" y="3445703"/>
                </a:lnTo>
                <a:lnTo>
                  <a:pt x="0" y="3445703"/>
                </a:lnTo>
                <a:lnTo>
                  <a:pt x="0"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p1"/>
          <p:cNvSpPr txBox="1">
            <a:spLocks noGrp="1"/>
          </p:cNvSpPr>
          <p:nvPr>
            <p:ph type="subTitle" idx="1"/>
          </p:nvPr>
        </p:nvSpPr>
        <p:spPr>
          <a:xfrm>
            <a:off x="643466" y="2281574"/>
            <a:ext cx="3994015" cy="2294852"/>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800"/>
              <a:buNone/>
            </a:pPr>
            <a:r>
              <a:rPr lang="fr-FR" sz="2800"/>
              <a:t>Julien Laole</a:t>
            </a:r>
            <a:endParaRPr sz="2800"/>
          </a:p>
          <a:p>
            <a:pPr marL="0" lvl="0" indent="0" algn="ctr" rtl="0">
              <a:lnSpc>
                <a:spcPct val="100000"/>
              </a:lnSpc>
              <a:spcBef>
                <a:spcPts val="1160"/>
              </a:spcBef>
              <a:spcAft>
                <a:spcPts val="0"/>
              </a:spcAft>
              <a:buSzPts val="2800"/>
              <a:buNone/>
            </a:pPr>
            <a:r>
              <a:rPr lang="fr-FR" sz="2800"/>
              <a:t>FAO</a:t>
            </a:r>
            <a:endParaRPr/>
          </a:p>
        </p:txBody>
      </p:sp>
      <p:sp>
        <p:nvSpPr>
          <p:cNvPr id="123" name="Google Shape;123;p1"/>
          <p:cNvSpPr txBox="1">
            <a:spLocks noGrp="1"/>
          </p:cNvSpPr>
          <p:nvPr>
            <p:ph type="ctrTitle"/>
          </p:nvPr>
        </p:nvSpPr>
        <p:spPr>
          <a:xfrm>
            <a:off x="5803899" y="122751"/>
            <a:ext cx="5452533" cy="3306249"/>
          </a:xfrm>
          <a:prstGeom prst="rect">
            <a:avLst/>
          </a:prstGeom>
          <a:noFill/>
          <a:ln>
            <a:noFill/>
          </a:ln>
          <a:effectLst>
            <a:outerShdw blurRad="50800">
              <a:srgbClr val="000000">
                <a:alpha val="60000"/>
              </a:srgbClr>
            </a:outerShdw>
          </a:effectLst>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FEFEFE"/>
              </a:buClr>
              <a:buSzPts val="4400"/>
              <a:buFont typeface="Century Gothic"/>
              <a:buNone/>
            </a:pPr>
            <a:r>
              <a:rPr lang="fr-FR" sz="4400"/>
              <a:t>Étude sur l’alimentation dans le monde</a:t>
            </a:r>
            <a:endParaRPr/>
          </a:p>
        </p:txBody>
      </p:sp>
      <p:pic>
        <p:nvPicPr>
          <p:cNvPr id="3" name="Image 2">
            <a:extLst>
              <a:ext uri="{FF2B5EF4-FFF2-40B4-BE49-F238E27FC236}">
                <a16:creationId xmlns:a16="http://schemas.microsoft.com/office/drawing/2014/main" id="{3BAD5808-0F5C-20AB-4345-48C903E84D44}"/>
              </a:ext>
            </a:extLst>
          </p:cNvPr>
          <p:cNvPicPr>
            <a:picLocks noChangeAspect="1"/>
          </p:cNvPicPr>
          <p:nvPr/>
        </p:nvPicPr>
        <p:blipFill>
          <a:blip r:embed="rId3"/>
          <a:srcRect t="9424"/>
          <a:stretch/>
        </p:blipFill>
        <p:spPr>
          <a:xfrm>
            <a:off x="5858501" y="2871019"/>
            <a:ext cx="5920544" cy="386423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
          <p:cNvSpPr txBox="1">
            <a:spLocks noGrp="1"/>
          </p:cNvSpPr>
          <p:nvPr>
            <p:ph type="title"/>
          </p:nvPr>
        </p:nvSpPr>
        <p:spPr>
          <a:xfrm>
            <a:off x="1806815" y="116522"/>
            <a:ext cx="8054940" cy="508573"/>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4000"/>
              <a:buFont typeface="Century Gothic"/>
              <a:buNone/>
            </a:pPr>
            <a:r>
              <a:rPr lang="fr-FR" sz="3200" dirty="0"/>
              <a:t>Contexte et spécification des données</a:t>
            </a:r>
            <a:endParaRPr sz="3200" dirty="0"/>
          </a:p>
        </p:txBody>
      </p:sp>
      <p:sp>
        <p:nvSpPr>
          <p:cNvPr id="131" name="Google Shape;131;p2"/>
          <p:cNvSpPr txBox="1">
            <a:spLocks noGrp="1"/>
          </p:cNvSpPr>
          <p:nvPr>
            <p:ph type="body" idx="1"/>
          </p:nvPr>
        </p:nvSpPr>
        <p:spPr>
          <a:xfrm>
            <a:off x="186813" y="1935728"/>
            <a:ext cx="12368981" cy="970450"/>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marL="342900" lvl="0" indent="-228600" rtl="1">
              <a:lnSpc>
                <a:spcPct val="100000"/>
              </a:lnSpc>
              <a:spcBef>
                <a:spcPts val="0"/>
              </a:spcBef>
              <a:spcAft>
                <a:spcPts val="0"/>
              </a:spcAft>
              <a:buSzPts val="1800"/>
              <a:buNone/>
            </a:pPr>
            <a:r>
              <a:rPr lang="fr-FR" sz="1400" dirty="0">
                <a:solidFill>
                  <a:schemeClr val="bg1"/>
                </a:solidFill>
                <a:latin typeface="+mn-lt"/>
              </a:rPr>
              <a:t>L'objectif principal de cette étude est d'analyser les </a:t>
            </a:r>
            <a:r>
              <a:rPr lang="fr-FR" sz="1400" b="1" dirty="0">
                <a:solidFill>
                  <a:schemeClr val="bg1"/>
                </a:solidFill>
                <a:latin typeface="+mn-lt"/>
              </a:rPr>
              <a:t>données sur l'alimentation mondiale</a:t>
            </a:r>
            <a:r>
              <a:rPr lang="fr-FR" sz="1400" dirty="0">
                <a:solidFill>
                  <a:schemeClr val="bg1"/>
                </a:solidFill>
                <a:latin typeface="+mn-lt"/>
              </a:rPr>
              <a:t> afin de mieux comprendre les tendances en matière de </a:t>
            </a:r>
            <a:r>
              <a:rPr lang="fr-FR" sz="1400" b="1" dirty="0">
                <a:solidFill>
                  <a:schemeClr val="bg1"/>
                </a:solidFill>
                <a:latin typeface="+mn-lt"/>
              </a:rPr>
              <a:t>disponibilité alimentaire</a:t>
            </a:r>
            <a:r>
              <a:rPr lang="fr-FR" sz="1400" dirty="0">
                <a:solidFill>
                  <a:schemeClr val="bg1"/>
                </a:solidFill>
                <a:latin typeface="+mn-lt"/>
              </a:rPr>
              <a:t>, de </a:t>
            </a:r>
            <a:r>
              <a:rPr lang="fr-FR" sz="1400" b="1" dirty="0">
                <a:solidFill>
                  <a:schemeClr val="bg1"/>
                </a:solidFill>
                <a:latin typeface="+mn-lt"/>
              </a:rPr>
              <a:t>sous-nutrition</a:t>
            </a:r>
            <a:r>
              <a:rPr lang="fr-FR" sz="1400" dirty="0">
                <a:solidFill>
                  <a:schemeClr val="bg1"/>
                </a:solidFill>
                <a:latin typeface="+mn-lt"/>
              </a:rPr>
              <a:t> et d’</a:t>
            </a:r>
            <a:r>
              <a:rPr lang="fr-FR" sz="1400" b="1" dirty="0">
                <a:solidFill>
                  <a:schemeClr val="bg1"/>
                </a:solidFill>
                <a:latin typeface="+mn-lt"/>
              </a:rPr>
              <a:t>aide alimentaire.</a:t>
            </a:r>
          </a:p>
        </p:txBody>
      </p:sp>
      <p:sp>
        <p:nvSpPr>
          <p:cNvPr id="2" name="Rectangle 1">
            <a:extLst>
              <a:ext uri="{FF2B5EF4-FFF2-40B4-BE49-F238E27FC236}">
                <a16:creationId xmlns:a16="http://schemas.microsoft.com/office/drawing/2014/main" id="{3358DE55-310D-BE96-BA64-2F4B9705CB0D}"/>
              </a:ext>
            </a:extLst>
          </p:cNvPr>
          <p:cNvSpPr>
            <a:spLocks noChangeArrowheads="1"/>
          </p:cNvSpPr>
          <p:nvPr/>
        </p:nvSpPr>
        <p:spPr bwMode="auto">
          <a:xfrm>
            <a:off x="186813" y="3121621"/>
            <a:ext cx="8445910"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eaLnBrk="0" fontAlgn="base" latinLnBrk="0" hangingPunct="0">
              <a:lnSpc>
                <a:spcPct val="100000"/>
              </a:lnSpc>
              <a:spcBef>
                <a:spcPct val="0"/>
              </a:spcBef>
              <a:spcAft>
                <a:spcPct val="0"/>
              </a:spcAft>
              <a:buClrTx/>
              <a:buSzTx/>
              <a:buFontTx/>
              <a:buChar char="•"/>
              <a:tabLst/>
            </a:pPr>
            <a:r>
              <a:rPr kumimoji="0" lang="fr-FR" altLang="fr-FR" b="0" i="0" u="none" strike="noStrike" cap="none" normalizeH="0" baseline="0" dirty="0">
                <a:ln>
                  <a:noFill/>
                </a:ln>
                <a:solidFill>
                  <a:schemeClr val="bg1"/>
                </a:solidFill>
                <a:effectLst/>
                <a:latin typeface="Arial" panose="020B0604020202020204" pitchFamily="34" charset="0"/>
              </a:rPr>
              <a:t>la proportion de la population souffrant de sous-nutrition entre 2013 et 2017. </a:t>
            </a:r>
          </a:p>
          <a:p>
            <a:pPr marL="0" marR="0" lvl="0" indent="0" algn="l" defTabSz="914400" eaLnBrk="0" fontAlgn="base" latinLnBrk="0" hangingPunct="0">
              <a:lnSpc>
                <a:spcPct val="100000"/>
              </a:lnSpc>
              <a:spcBef>
                <a:spcPct val="0"/>
              </a:spcBef>
              <a:spcAft>
                <a:spcPct val="0"/>
              </a:spcAft>
              <a:buClrTx/>
              <a:buSzTx/>
              <a:buFontTx/>
              <a:buChar char="•"/>
              <a:tabLst/>
            </a:pPr>
            <a:r>
              <a:rPr kumimoji="0" lang="fr-FR" altLang="fr-FR" b="0" i="0" u="none" strike="noStrike" cap="none" normalizeH="0" baseline="0" dirty="0">
                <a:ln>
                  <a:noFill/>
                </a:ln>
                <a:solidFill>
                  <a:schemeClr val="bg1"/>
                </a:solidFill>
                <a:effectLst/>
                <a:latin typeface="Arial" panose="020B0604020202020204" pitchFamily="34" charset="0"/>
              </a:rPr>
              <a:t>Localiser les pays les plus touchés par l’insécurité alimentaire. </a:t>
            </a:r>
          </a:p>
          <a:p>
            <a:pPr marL="0" marR="0" lvl="0" indent="0" algn="l" defTabSz="914400" eaLnBrk="0" fontAlgn="base" latinLnBrk="0" hangingPunct="0">
              <a:lnSpc>
                <a:spcPct val="100000"/>
              </a:lnSpc>
              <a:spcBef>
                <a:spcPct val="0"/>
              </a:spcBef>
              <a:spcAft>
                <a:spcPct val="0"/>
              </a:spcAft>
              <a:buClrTx/>
              <a:buSzTx/>
              <a:buFontTx/>
              <a:buChar char="•"/>
              <a:tabLst/>
            </a:pPr>
            <a:r>
              <a:rPr kumimoji="0" lang="fr-FR" altLang="fr-FR" b="1" i="0" u="none" strike="noStrike" cap="none" normalizeH="0" baseline="0" dirty="0">
                <a:ln>
                  <a:noFill/>
                </a:ln>
                <a:solidFill>
                  <a:schemeClr val="bg1"/>
                </a:solidFill>
                <a:effectLst/>
                <a:latin typeface="Arial" panose="020B0604020202020204" pitchFamily="34" charset="0"/>
              </a:rPr>
              <a:t>Évaluer la disponibilité alimentaire</a:t>
            </a:r>
            <a:endParaRPr kumimoji="0" lang="fr-FR" altLang="fr-FR" b="0" i="0" u="none" strike="noStrike" cap="none" normalizeH="0" baseline="0" dirty="0">
              <a:ln>
                <a:noFill/>
              </a:ln>
              <a:solidFill>
                <a:schemeClr val="bg1"/>
              </a:solidFill>
              <a:effectLst/>
              <a:latin typeface="Arial" panose="020B0604020202020204" pitchFamily="34" charset="0"/>
            </a:endParaRPr>
          </a:p>
          <a:p>
            <a:pPr marL="0" marR="0" lvl="0" indent="0" algn="l" defTabSz="914400" eaLnBrk="0" fontAlgn="base" latinLnBrk="0" hangingPunct="0">
              <a:lnSpc>
                <a:spcPct val="100000"/>
              </a:lnSpc>
              <a:spcBef>
                <a:spcPct val="0"/>
              </a:spcBef>
              <a:spcAft>
                <a:spcPct val="0"/>
              </a:spcAft>
              <a:buClrTx/>
              <a:buSzTx/>
              <a:buFontTx/>
              <a:buChar char="•"/>
              <a:tabLst/>
            </a:pPr>
            <a:r>
              <a:rPr kumimoji="0" lang="fr-FR" altLang="fr-FR" b="0" i="0" u="none" strike="noStrike" cap="none" normalizeH="0" baseline="0" dirty="0">
                <a:ln>
                  <a:noFill/>
                </a:ln>
                <a:solidFill>
                  <a:schemeClr val="bg1"/>
                </a:solidFill>
                <a:effectLst/>
                <a:latin typeface="Arial" panose="020B0604020202020204" pitchFamily="34" charset="0"/>
              </a:rPr>
              <a:t>Étudier les quantités de nourriture disponibles par pays et par habitant. </a:t>
            </a:r>
          </a:p>
          <a:p>
            <a:pPr marL="0" marR="0" lvl="0" indent="0" algn="l" defTabSz="914400" eaLnBrk="0" fontAlgn="base" latinLnBrk="0" hangingPunct="0">
              <a:lnSpc>
                <a:spcPct val="100000"/>
              </a:lnSpc>
              <a:spcBef>
                <a:spcPct val="0"/>
              </a:spcBef>
              <a:spcAft>
                <a:spcPct val="0"/>
              </a:spcAft>
              <a:buClrTx/>
              <a:buSzTx/>
              <a:buFontTx/>
              <a:buChar char="•"/>
              <a:tabLst/>
            </a:pPr>
            <a:r>
              <a:rPr kumimoji="0" lang="fr-FR" altLang="fr-FR" b="1" i="0" u="none" strike="noStrike" cap="none" normalizeH="0" baseline="0" dirty="0">
                <a:ln>
                  <a:noFill/>
                </a:ln>
                <a:solidFill>
                  <a:schemeClr val="bg1"/>
                </a:solidFill>
                <a:effectLst/>
                <a:latin typeface="Arial" panose="020B0604020202020204" pitchFamily="34" charset="0"/>
              </a:rPr>
              <a:t>Analyser les données de sous-nutrition</a:t>
            </a:r>
            <a:endParaRPr kumimoji="0" lang="fr-FR" altLang="fr-FR" b="0" i="0" u="none" strike="noStrike" cap="none" normalizeH="0" baseline="0" dirty="0">
              <a:ln>
                <a:noFill/>
              </a:ln>
              <a:solidFill>
                <a:schemeClr val="bg1"/>
              </a:solidFill>
              <a:effectLst/>
              <a:latin typeface="Arial" panose="020B0604020202020204" pitchFamily="34" charset="0"/>
            </a:endParaRPr>
          </a:p>
          <a:p>
            <a:pPr marL="0" marR="0" lvl="0" indent="0" algn="l" defTabSz="914400" eaLnBrk="0" fontAlgn="base" latinLnBrk="0" hangingPunct="0">
              <a:lnSpc>
                <a:spcPct val="100000"/>
              </a:lnSpc>
              <a:spcBef>
                <a:spcPct val="0"/>
              </a:spcBef>
              <a:spcAft>
                <a:spcPct val="0"/>
              </a:spcAft>
              <a:buClrTx/>
              <a:buSzTx/>
              <a:buFontTx/>
              <a:buChar char="•"/>
              <a:tabLst/>
            </a:pPr>
            <a:r>
              <a:rPr kumimoji="0" lang="fr-FR" altLang="fr-FR" b="0" i="0" u="none" strike="noStrike" cap="none" normalizeH="0" baseline="0" dirty="0">
                <a:ln>
                  <a:noFill/>
                </a:ln>
                <a:solidFill>
                  <a:schemeClr val="bg1"/>
                </a:solidFill>
                <a:effectLst/>
                <a:latin typeface="Arial" panose="020B0604020202020204" pitchFamily="34" charset="0"/>
              </a:rPr>
              <a:t>Analyser la répartition des denrées alimentaires entre la consommation humaine et animale. </a:t>
            </a:r>
          </a:p>
          <a:p>
            <a:pPr marL="0" marR="0" lvl="0" indent="0" algn="l" defTabSz="914400" eaLnBrk="0" fontAlgn="base" latinLnBrk="0" hangingPunct="0">
              <a:lnSpc>
                <a:spcPct val="100000"/>
              </a:lnSpc>
              <a:spcBef>
                <a:spcPct val="0"/>
              </a:spcBef>
              <a:spcAft>
                <a:spcPct val="0"/>
              </a:spcAft>
              <a:buClrTx/>
              <a:buSzTx/>
              <a:buFontTx/>
              <a:buChar char="•"/>
              <a:tabLst/>
            </a:pPr>
            <a:r>
              <a:rPr kumimoji="0" lang="fr-FR" altLang="fr-FR" b="1" i="0" u="none" strike="noStrike" cap="none" normalizeH="0" baseline="0" dirty="0">
                <a:ln>
                  <a:noFill/>
                </a:ln>
                <a:solidFill>
                  <a:schemeClr val="bg1"/>
                </a:solidFill>
                <a:effectLst/>
                <a:latin typeface="Arial" panose="020B0604020202020204" pitchFamily="34" charset="0"/>
              </a:rPr>
              <a:t>Examiner l’aide alimentaire internationale</a:t>
            </a:r>
            <a:endParaRPr kumimoji="0" lang="fr-FR" altLang="fr-FR" b="0" i="0" u="none" strike="noStrike" cap="none" normalizeH="0" baseline="0" dirty="0">
              <a:ln>
                <a:noFill/>
              </a:ln>
              <a:solidFill>
                <a:schemeClr val="bg1"/>
              </a:solidFill>
              <a:effectLst/>
              <a:latin typeface="Arial" panose="020B0604020202020204" pitchFamily="34" charset="0"/>
            </a:endParaRPr>
          </a:p>
          <a:p>
            <a:pPr marL="0" marR="0" lvl="0" indent="0" algn="l" defTabSz="914400" eaLnBrk="0" fontAlgn="base" latinLnBrk="0" hangingPunct="0">
              <a:lnSpc>
                <a:spcPct val="100000"/>
              </a:lnSpc>
              <a:spcBef>
                <a:spcPct val="0"/>
              </a:spcBef>
              <a:spcAft>
                <a:spcPct val="0"/>
              </a:spcAft>
              <a:buClrTx/>
              <a:buSzTx/>
              <a:buFontTx/>
              <a:buChar char="•"/>
              <a:tabLst/>
            </a:pPr>
            <a:r>
              <a:rPr kumimoji="0" lang="fr-FR" altLang="fr-FR" b="0" i="0" u="none" strike="noStrike" cap="none" normalizeH="0" baseline="0" dirty="0">
                <a:ln>
                  <a:noFill/>
                </a:ln>
                <a:solidFill>
                  <a:schemeClr val="bg1"/>
                </a:solidFill>
                <a:effectLst/>
                <a:latin typeface="Arial" panose="020B0604020202020204" pitchFamily="34" charset="0"/>
              </a:rPr>
              <a:t>Identifier les pays ayant le plus bénéficié de l’aide alimentaire entre 2013 et 2016. </a:t>
            </a:r>
          </a:p>
          <a:p>
            <a:pPr marL="0" marR="0" lvl="0" indent="0" algn="l" defTabSz="914400" eaLnBrk="0" fontAlgn="base" latinLnBrk="0" hangingPunct="0">
              <a:lnSpc>
                <a:spcPct val="100000"/>
              </a:lnSpc>
              <a:spcBef>
                <a:spcPct val="0"/>
              </a:spcBef>
              <a:spcAft>
                <a:spcPct val="0"/>
              </a:spcAft>
              <a:buClrTx/>
              <a:buSzTx/>
              <a:buFontTx/>
              <a:buChar char="•"/>
              <a:tabLst/>
            </a:pPr>
            <a:r>
              <a:rPr kumimoji="0" lang="fr-FR" altLang="fr-FR" b="0" i="0" u="none" strike="noStrike" cap="none" normalizeH="0" baseline="0" dirty="0">
                <a:ln>
                  <a:noFill/>
                </a:ln>
                <a:solidFill>
                  <a:schemeClr val="bg1"/>
                </a:solidFill>
                <a:effectLst/>
                <a:latin typeface="Arial" panose="020B0604020202020204" pitchFamily="34" charset="0"/>
              </a:rPr>
              <a:t>Suivre l’évolution de cette aide pour les principaux bénéficiaires. </a:t>
            </a:r>
          </a:p>
          <a:p>
            <a:pPr marL="0" marR="0" lvl="0" indent="0" algn="l" defTabSz="914400" eaLnBrk="0" fontAlgn="base" latinLnBrk="0" hangingPunct="0">
              <a:lnSpc>
                <a:spcPct val="100000"/>
              </a:lnSpc>
              <a:spcBef>
                <a:spcPct val="0"/>
              </a:spcBef>
              <a:spcAft>
                <a:spcPct val="0"/>
              </a:spcAft>
              <a:buClrTx/>
              <a:buSzTx/>
              <a:buFontTx/>
              <a:buChar char="•"/>
              <a:tabLst/>
            </a:pPr>
            <a:r>
              <a:rPr kumimoji="0" lang="fr-FR" altLang="fr-FR" b="1" i="0" u="none" strike="noStrike" cap="none" normalizeH="0" baseline="0" dirty="0">
                <a:ln>
                  <a:noFill/>
                </a:ln>
                <a:solidFill>
                  <a:schemeClr val="bg1"/>
                </a:solidFill>
                <a:effectLst/>
                <a:latin typeface="Arial" panose="020B0604020202020204" pitchFamily="34" charset="0"/>
              </a:rPr>
              <a:t>Comprendre la répartition des ressources agricoles</a:t>
            </a:r>
            <a:endParaRPr kumimoji="0" lang="fr-FR" altLang="fr-FR" b="0" i="0" u="none" strike="noStrike" cap="none" normalizeH="0" baseline="0" dirty="0">
              <a:ln>
                <a:noFill/>
              </a:ln>
              <a:solidFill>
                <a:schemeClr val="bg1"/>
              </a:solidFill>
              <a:effectLst/>
              <a:latin typeface="Arial" panose="020B0604020202020204" pitchFamily="34" charset="0"/>
            </a:endParaRPr>
          </a:p>
          <a:p>
            <a:pPr marL="0" marR="0" lvl="0" indent="0" algn="l" defTabSz="914400" eaLnBrk="0" fontAlgn="base" latinLnBrk="0" hangingPunct="0">
              <a:lnSpc>
                <a:spcPct val="100000"/>
              </a:lnSpc>
              <a:spcBef>
                <a:spcPct val="0"/>
              </a:spcBef>
              <a:spcAft>
                <a:spcPct val="0"/>
              </a:spcAft>
              <a:buClrTx/>
              <a:buSzTx/>
              <a:buFontTx/>
              <a:buChar char="•"/>
              <a:tabLst/>
            </a:pPr>
            <a:r>
              <a:rPr kumimoji="0" lang="fr-FR" altLang="fr-FR" b="0" i="0" u="none" strike="noStrike" cap="none" normalizeH="0" baseline="0" dirty="0">
                <a:ln>
                  <a:noFill/>
                </a:ln>
                <a:solidFill>
                  <a:schemeClr val="bg1"/>
                </a:solidFill>
                <a:effectLst/>
                <a:latin typeface="Arial" panose="020B0604020202020204" pitchFamily="34" charset="0"/>
              </a:rPr>
              <a:t>Étudier comment les principales céréales sont réparties entre l’alimentation humaine et animale. </a:t>
            </a:r>
          </a:p>
          <a:p>
            <a:pPr marL="0" marR="0" lvl="0" indent="0" algn="l" defTabSz="914400" eaLnBrk="0" fontAlgn="base" latinLnBrk="0" hangingPunct="0">
              <a:lnSpc>
                <a:spcPct val="100000"/>
              </a:lnSpc>
              <a:spcBef>
                <a:spcPct val="0"/>
              </a:spcBef>
              <a:spcAft>
                <a:spcPct val="0"/>
              </a:spcAft>
              <a:buClrTx/>
              <a:buSzTx/>
              <a:buFontTx/>
              <a:buChar char="•"/>
              <a:tabLst/>
            </a:pPr>
            <a:r>
              <a:rPr kumimoji="0" lang="fr-FR" altLang="fr-FR" b="0" i="0" u="none" strike="noStrike" cap="none" normalizeH="0" baseline="0" dirty="0">
                <a:ln>
                  <a:noFill/>
                </a:ln>
                <a:solidFill>
                  <a:schemeClr val="bg1"/>
                </a:solidFill>
                <a:effectLst/>
                <a:latin typeface="Arial" panose="020B0604020202020204" pitchFamily="34" charset="0"/>
              </a:rPr>
              <a:t>Calculer le nombre de personnes qui pourraient être nourries uniquement avec des végétaux. </a:t>
            </a:r>
          </a:p>
          <a:p>
            <a:pPr marL="0" marR="0" lvl="0" indent="0" algn="l" defTabSz="914400" eaLnBrk="0" fontAlgn="base" latinLnBrk="0" hangingPunct="0">
              <a:lnSpc>
                <a:spcPct val="100000"/>
              </a:lnSpc>
              <a:spcBef>
                <a:spcPct val="0"/>
              </a:spcBef>
              <a:spcAft>
                <a:spcPct val="0"/>
              </a:spcAft>
              <a:buClrTx/>
              <a:buSzTx/>
              <a:buFontTx/>
              <a:buChar char="•"/>
              <a:tabLst/>
            </a:pPr>
            <a:r>
              <a:rPr kumimoji="0" lang="fr-FR" altLang="fr-FR" b="1" i="0" u="none" strike="noStrike" cap="none" normalizeH="0" baseline="0" dirty="0">
                <a:ln>
                  <a:noFill/>
                </a:ln>
                <a:solidFill>
                  <a:schemeClr val="bg1"/>
                </a:solidFill>
                <a:effectLst/>
                <a:latin typeface="Arial" panose="020B0604020202020204" pitchFamily="34" charset="0"/>
              </a:rPr>
              <a:t>Réaliser des analyses complémentaires</a:t>
            </a:r>
            <a:endParaRPr kumimoji="0" lang="fr-FR" altLang="fr-FR" b="0" i="0" u="none" strike="noStrike" cap="none" normalizeH="0" baseline="0" dirty="0">
              <a:ln>
                <a:noFill/>
              </a:ln>
              <a:solidFill>
                <a:schemeClr val="bg1"/>
              </a:solidFill>
              <a:effectLst/>
              <a:latin typeface="Arial" panose="020B0604020202020204" pitchFamily="34" charset="0"/>
            </a:endParaRPr>
          </a:p>
          <a:p>
            <a:pPr marL="0" marR="0" lvl="0" indent="0" algn="l" defTabSz="914400" eaLnBrk="0" fontAlgn="base" latinLnBrk="0" hangingPunct="0">
              <a:lnSpc>
                <a:spcPct val="100000"/>
              </a:lnSpc>
              <a:spcBef>
                <a:spcPct val="0"/>
              </a:spcBef>
              <a:spcAft>
                <a:spcPct val="0"/>
              </a:spcAft>
              <a:buClrTx/>
              <a:buSzTx/>
              <a:buFontTx/>
              <a:buChar char="•"/>
              <a:tabLst/>
            </a:pPr>
            <a:r>
              <a:rPr kumimoji="0" lang="fr-FR" altLang="fr-FR" b="0" i="0" u="none" strike="noStrike" cap="none" normalizeH="0" baseline="0" dirty="0">
                <a:ln>
                  <a:noFill/>
                </a:ln>
                <a:solidFill>
                  <a:schemeClr val="bg1"/>
                </a:solidFill>
                <a:effectLst/>
                <a:latin typeface="Arial" panose="020B0604020202020204" pitchFamily="34" charset="0"/>
              </a:rPr>
              <a:t>Explorer les tendances spécifiques pour certains pays (exemple : étude du manioc en Thaïlande). </a:t>
            </a:r>
          </a:p>
          <a:p>
            <a:pPr marL="0" marR="0" lvl="0" indent="0" algn="l" defTabSz="914400" eaLnBrk="0" fontAlgn="base" latinLnBrk="0" hangingPunct="0">
              <a:lnSpc>
                <a:spcPct val="100000"/>
              </a:lnSpc>
              <a:spcBef>
                <a:spcPct val="0"/>
              </a:spcBef>
              <a:spcAft>
                <a:spcPct val="0"/>
              </a:spcAft>
              <a:buClrTx/>
              <a:buSzTx/>
              <a:buFontTx/>
              <a:buChar char="•"/>
              <a:tabLst/>
            </a:pPr>
            <a:r>
              <a:rPr kumimoji="0" lang="fr-FR" altLang="fr-FR" b="0" i="0" u="none" strike="noStrike" cap="none" normalizeH="0" baseline="0" dirty="0">
                <a:ln>
                  <a:noFill/>
                </a:ln>
                <a:solidFill>
                  <a:schemeClr val="bg1"/>
                </a:solidFill>
                <a:effectLst/>
                <a:latin typeface="Arial" panose="020B0604020202020204" pitchFamily="34" charset="0"/>
              </a:rPr>
              <a:t>Identifier d’autres facteurs influençant la sécurité alimentaire mondiale.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A63669-F899-4D42-33F9-A7F26EECF6A7}"/>
              </a:ext>
            </a:extLst>
          </p:cNvPr>
          <p:cNvSpPr>
            <a:spLocks noGrp="1"/>
          </p:cNvSpPr>
          <p:nvPr>
            <p:ph type="title"/>
          </p:nvPr>
        </p:nvSpPr>
        <p:spPr>
          <a:xfrm>
            <a:off x="265471" y="928969"/>
            <a:ext cx="11661058" cy="970450"/>
          </a:xfrm>
        </p:spPr>
        <p:txBody>
          <a:bodyPr/>
          <a:lstStyle/>
          <a:p>
            <a:r>
              <a:rPr kumimoji="0" lang="fr-FR" altLang="fr-FR" sz="1600" b="0" i="0" u="none" strike="noStrike" cap="none" normalizeH="0" baseline="0" dirty="0">
                <a:ln>
                  <a:noFill/>
                </a:ln>
                <a:solidFill>
                  <a:schemeClr val="tx1"/>
                </a:solidFill>
                <a:effectLst/>
                <a:latin typeface="+mn-lt"/>
              </a:rPr>
              <a:t>Pour mener notre analyse sur l’alimentation mondiale, nous allons exploiter plusieurs sources de données regroupées dans des fichiers CSV. Ces données nous permettront de comprendre la répartition des ressources alimentaires, les tendances de la sous-nutrition et l’impact de l’aide alimentaire.</a:t>
            </a:r>
            <a:br>
              <a:rPr kumimoji="0" lang="fr-FR" altLang="fr-FR" sz="1600" b="1" i="0" u="none" strike="noStrike" cap="none" normalizeH="0" baseline="0" dirty="0">
                <a:ln>
                  <a:noFill/>
                </a:ln>
                <a:solidFill>
                  <a:schemeClr val="tx1"/>
                </a:solidFill>
                <a:effectLst/>
                <a:latin typeface="+mn-lt"/>
              </a:rPr>
            </a:br>
            <a:endParaRPr lang="fr-FR" sz="1600" dirty="0">
              <a:solidFill>
                <a:schemeClr val="tx1"/>
              </a:solidFill>
            </a:endParaRPr>
          </a:p>
        </p:txBody>
      </p:sp>
      <p:sp>
        <p:nvSpPr>
          <p:cNvPr id="3" name="Rectangle 2">
            <a:extLst>
              <a:ext uri="{FF2B5EF4-FFF2-40B4-BE49-F238E27FC236}">
                <a16:creationId xmlns:a16="http://schemas.microsoft.com/office/drawing/2014/main" id="{9E6F2172-5E5C-EEB6-ACA1-C7DB3D3376D3}"/>
              </a:ext>
            </a:extLst>
          </p:cNvPr>
          <p:cNvSpPr>
            <a:spLocks noChangeArrowheads="1"/>
          </p:cNvSpPr>
          <p:nvPr/>
        </p:nvSpPr>
        <p:spPr bwMode="auto">
          <a:xfrm>
            <a:off x="144206" y="2179796"/>
            <a:ext cx="11516852" cy="4678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b="1" i="0" u="none" strike="noStrike" cap="none" normalizeH="0" baseline="0" dirty="0">
                <a:ln>
                  <a:noFill/>
                </a:ln>
                <a:solidFill>
                  <a:schemeClr val="bg1"/>
                </a:solidFill>
                <a:effectLst/>
                <a:latin typeface="+mn-lt"/>
              </a:rPr>
              <a:t>📊 Types de données à analyser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b="0" i="0" u="none" strike="noStrike" cap="none" normalizeH="0" baseline="0" dirty="0">
                <a:ln>
                  <a:noFill/>
                </a:ln>
                <a:solidFill>
                  <a:schemeClr val="bg1"/>
                </a:solidFill>
                <a:effectLst/>
                <a:latin typeface="+mn-lt"/>
              </a:rPr>
              <a:t>1️⃣ </a:t>
            </a:r>
            <a:r>
              <a:rPr kumimoji="0" lang="fr-FR" altLang="fr-FR" b="1" i="0" u="none" strike="noStrike" cap="none" normalizeH="0" baseline="0" dirty="0">
                <a:ln>
                  <a:noFill/>
                </a:ln>
                <a:solidFill>
                  <a:schemeClr val="bg1"/>
                </a:solidFill>
                <a:effectLst/>
                <a:latin typeface="+mn-lt"/>
              </a:rPr>
              <a:t>Données sur la population</a:t>
            </a:r>
            <a:br>
              <a:rPr kumimoji="0" lang="fr-FR" altLang="fr-FR" b="0" i="0" u="none" strike="noStrike" cap="none" normalizeH="0" baseline="0" dirty="0">
                <a:ln>
                  <a:noFill/>
                </a:ln>
                <a:solidFill>
                  <a:schemeClr val="bg1"/>
                </a:solidFill>
                <a:effectLst/>
                <a:latin typeface="+mn-lt"/>
              </a:rPr>
            </a:br>
            <a:r>
              <a:rPr kumimoji="0" lang="fr-FR" altLang="fr-FR" b="0" i="0" u="none" strike="noStrike" cap="none" normalizeH="0" baseline="0" dirty="0">
                <a:ln>
                  <a:noFill/>
                </a:ln>
                <a:solidFill>
                  <a:schemeClr val="bg1"/>
                </a:solidFill>
                <a:effectLst/>
                <a:latin typeface="+mn-lt"/>
              </a:rPr>
              <a:t>📁 </a:t>
            </a:r>
            <a:r>
              <a:rPr kumimoji="0" lang="fr-FR" altLang="fr-FR" b="1" i="0" u="none" strike="noStrike" cap="none" normalizeH="0" baseline="0" dirty="0">
                <a:ln>
                  <a:noFill/>
                </a:ln>
                <a:solidFill>
                  <a:schemeClr val="bg1"/>
                </a:solidFill>
                <a:effectLst/>
                <a:latin typeface="+mn-lt"/>
              </a:rPr>
              <a:t>Fichier :</a:t>
            </a:r>
            <a:r>
              <a:rPr kumimoji="0" lang="fr-FR" altLang="fr-FR" b="0" i="0" u="none" strike="noStrike" cap="none" normalizeH="0" baseline="0" dirty="0">
                <a:ln>
                  <a:noFill/>
                </a:ln>
                <a:solidFill>
                  <a:schemeClr val="bg1"/>
                </a:solidFill>
                <a:effectLst/>
                <a:latin typeface="+mn-lt"/>
              </a:rPr>
              <a:t> population.csv</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b="0" i="0" u="none" strike="noStrike" cap="none" normalizeH="0" baseline="0" dirty="0">
                <a:ln>
                  <a:noFill/>
                </a:ln>
                <a:solidFill>
                  <a:schemeClr val="bg1"/>
                </a:solidFill>
                <a:effectLst/>
                <a:latin typeface="+mn-lt"/>
              </a:rPr>
              <a:t>Nombre d’habitants par pays et par année (2013-2017).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b="0" i="0" u="none" strike="noStrike" cap="none" normalizeH="0" baseline="0" dirty="0">
                <a:ln>
                  <a:noFill/>
                </a:ln>
                <a:solidFill>
                  <a:schemeClr val="bg1"/>
                </a:solidFill>
                <a:effectLst/>
                <a:latin typeface="+mn-lt"/>
              </a:rPr>
              <a:t>Base pour calculer la disponibilité alimentaire par habitant.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b="0" i="0" u="none" strike="noStrike" cap="none" normalizeH="0" baseline="0" dirty="0">
                <a:ln>
                  <a:noFill/>
                </a:ln>
                <a:solidFill>
                  <a:schemeClr val="bg1"/>
                </a:solidFill>
                <a:effectLst/>
                <a:latin typeface="+mn-lt"/>
              </a:rPr>
              <a:t>2️⃣ </a:t>
            </a:r>
            <a:r>
              <a:rPr kumimoji="0" lang="fr-FR" altLang="fr-FR" b="1" i="0" u="none" strike="noStrike" cap="none" normalizeH="0" baseline="0" dirty="0">
                <a:ln>
                  <a:noFill/>
                </a:ln>
                <a:solidFill>
                  <a:schemeClr val="bg1"/>
                </a:solidFill>
                <a:effectLst/>
                <a:latin typeface="+mn-lt"/>
              </a:rPr>
              <a:t>Données sur la disponibilité alimentaire</a:t>
            </a:r>
            <a:br>
              <a:rPr kumimoji="0" lang="fr-FR" altLang="fr-FR" b="0" i="0" u="none" strike="noStrike" cap="none" normalizeH="0" baseline="0" dirty="0">
                <a:ln>
                  <a:noFill/>
                </a:ln>
                <a:solidFill>
                  <a:schemeClr val="bg1"/>
                </a:solidFill>
                <a:effectLst/>
                <a:latin typeface="+mn-lt"/>
              </a:rPr>
            </a:br>
            <a:r>
              <a:rPr kumimoji="0" lang="fr-FR" altLang="fr-FR" b="0" i="0" u="none" strike="noStrike" cap="none" normalizeH="0" baseline="0" dirty="0">
                <a:ln>
                  <a:noFill/>
                </a:ln>
                <a:solidFill>
                  <a:schemeClr val="bg1"/>
                </a:solidFill>
                <a:effectLst/>
                <a:latin typeface="+mn-lt"/>
              </a:rPr>
              <a:t>📁 </a:t>
            </a:r>
            <a:r>
              <a:rPr kumimoji="0" lang="fr-FR" altLang="fr-FR" b="1" i="0" u="none" strike="noStrike" cap="none" normalizeH="0" baseline="0" dirty="0">
                <a:ln>
                  <a:noFill/>
                </a:ln>
                <a:solidFill>
                  <a:schemeClr val="bg1"/>
                </a:solidFill>
                <a:effectLst/>
                <a:latin typeface="+mn-lt"/>
              </a:rPr>
              <a:t>Fichier :</a:t>
            </a:r>
            <a:r>
              <a:rPr kumimoji="0" lang="fr-FR" altLang="fr-FR" b="0" i="0" u="none" strike="noStrike" cap="none" normalizeH="0" baseline="0" dirty="0">
                <a:ln>
                  <a:noFill/>
                </a:ln>
                <a:solidFill>
                  <a:schemeClr val="bg1"/>
                </a:solidFill>
                <a:effectLst/>
                <a:latin typeface="+mn-lt"/>
              </a:rPr>
              <a:t> dispo_alimentaire.csv</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b="0" i="0" u="none" strike="noStrike" cap="none" normalizeH="0" baseline="0" dirty="0">
                <a:ln>
                  <a:noFill/>
                </a:ln>
                <a:solidFill>
                  <a:schemeClr val="bg1"/>
                </a:solidFill>
                <a:effectLst/>
                <a:latin typeface="+mn-lt"/>
              </a:rPr>
              <a:t>Quantité d’aliments disponibles dans chaque pays.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b="0" i="0" u="none" strike="noStrike" cap="none" normalizeH="0" baseline="0" dirty="0">
                <a:ln>
                  <a:noFill/>
                </a:ln>
                <a:solidFill>
                  <a:schemeClr val="bg1"/>
                </a:solidFill>
                <a:effectLst/>
                <a:latin typeface="+mn-lt"/>
              </a:rPr>
              <a:t>Répartition entre consommation humaine, animale, pertes, etc.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b="0" i="0" u="none" strike="noStrike" cap="none" normalizeH="0" baseline="0" dirty="0">
                <a:ln>
                  <a:noFill/>
                </a:ln>
                <a:solidFill>
                  <a:schemeClr val="bg1"/>
                </a:solidFill>
                <a:effectLst/>
                <a:latin typeface="+mn-lt"/>
              </a:rPr>
              <a:t>Catégories alimentaires analysées (céréales, fruits, légumes, viandes…).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b="0" i="0" u="none" strike="noStrike" cap="none" normalizeH="0" baseline="0" dirty="0">
                <a:ln>
                  <a:noFill/>
                </a:ln>
                <a:solidFill>
                  <a:schemeClr val="bg1"/>
                </a:solidFill>
                <a:effectLst/>
                <a:latin typeface="+mn-lt"/>
              </a:rPr>
              <a:t>3️⃣ </a:t>
            </a:r>
            <a:r>
              <a:rPr kumimoji="0" lang="fr-FR" altLang="fr-FR" b="1" i="0" u="none" strike="noStrike" cap="none" normalizeH="0" baseline="0" dirty="0">
                <a:ln>
                  <a:noFill/>
                </a:ln>
                <a:solidFill>
                  <a:schemeClr val="bg1"/>
                </a:solidFill>
                <a:effectLst/>
                <a:latin typeface="+mn-lt"/>
              </a:rPr>
              <a:t>Données sur la sous-nutrition</a:t>
            </a:r>
            <a:br>
              <a:rPr kumimoji="0" lang="fr-FR" altLang="fr-FR" b="0" i="0" u="none" strike="noStrike" cap="none" normalizeH="0" baseline="0" dirty="0">
                <a:ln>
                  <a:noFill/>
                </a:ln>
                <a:solidFill>
                  <a:schemeClr val="bg1"/>
                </a:solidFill>
                <a:effectLst/>
                <a:latin typeface="+mn-lt"/>
              </a:rPr>
            </a:br>
            <a:r>
              <a:rPr kumimoji="0" lang="fr-FR" altLang="fr-FR" b="0" i="0" u="none" strike="noStrike" cap="none" normalizeH="0" baseline="0" dirty="0">
                <a:ln>
                  <a:noFill/>
                </a:ln>
                <a:solidFill>
                  <a:schemeClr val="bg1"/>
                </a:solidFill>
                <a:effectLst/>
                <a:latin typeface="+mn-lt"/>
              </a:rPr>
              <a:t>📁 </a:t>
            </a:r>
            <a:r>
              <a:rPr kumimoji="0" lang="fr-FR" altLang="fr-FR" b="1" i="0" u="none" strike="noStrike" cap="none" normalizeH="0" baseline="0" dirty="0">
                <a:ln>
                  <a:noFill/>
                </a:ln>
                <a:solidFill>
                  <a:schemeClr val="bg1"/>
                </a:solidFill>
                <a:effectLst/>
                <a:latin typeface="+mn-lt"/>
              </a:rPr>
              <a:t>Fichier :</a:t>
            </a:r>
            <a:r>
              <a:rPr kumimoji="0" lang="fr-FR" altLang="fr-FR" b="0" i="0" u="none" strike="noStrike" cap="none" normalizeH="0" baseline="0" dirty="0">
                <a:ln>
                  <a:noFill/>
                </a:ln>
                <a:solidFill>
                  <a:schemeClr val="bg1"/>
                </a:solidFill>
                <a:effectLst/>
                <a:latin typeface="+mn-lt"/>
              </a:rPr>
              <a:t> sous_nutrition.csv</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b="0" i="0" u="none" strike="noStrike" cap="none" normalizeH="0" baseline="0" dirty="0">
                <a:ln>
                  <a:noFill/>
                </a:ln>
                <a:solidFill>
                  <a:schemeClr val="bg1"/>
                </a:solidFill>
                <a:effectLst/>
                <a:latin typeface="+mn-lt"/>
              </a:rPr>
              <a:t>Nombre de personnes sous-alimentées par pays.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b="0" i="0" u="none" strike="noStrike" cap="none" normalizeH="0" baseline="0" dirty="0">
                <a:ln>
                  <a:noFill/>
                </a:ln>
                <a:solidFill>
                  <a:schemeClr val="bg1"/>
                </a:solidFill>
                <a:effectLst/>
                <a:latin typeface="+mn-lt"/>
              </a:rPr>
              <a:t>Pourcentage de la population concernée.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b="0" i="0" u="none" strike="noStrike" cap="none" normalizeH="0" baseline="0" dirty="0">
                <a:ln>
                  <a:noFill/>
                </a:ln>
                <a:solidFill>
                  <a:schemeClr val="bg1"/>
                </a:solidFill>
                <a:effectLst/>
                <a:latin typeface="+mn-lt"/>
              </a:rPr>
              <a:t>Comparaison avec la disponibilité alimentaire.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b="0" i="0" u="none" strike="noStrike" cap="none" normalizeH="0" baseline="0" dirty="0">
                <a:ln>
                  <a:noFill/>
                </a:ln>
                <a:solidFill>
                  <a:schemeClr val="bg1"/>
                </a:solidFill>
                <a:effectLst/>
                <a:latin typeface="+mn-lt"/>
              </a:rPr>
              <a:t>4️⃣ </a:t>
            </a:r>
            <a:r>
              <a:rPr kumimoji="0" lang="fr-FR" altLang="fr-FR" b="1" i="0" u="none" strike="noStrike" cap="none" normalizeH="0" baseline="0" dirty="0">
                <a:ln>
                  <a:noFill/>
                </a:ln>
                <a:solidFill>
                  <a:schemeClr val="bg1"/>
                </a:solidFill>
                <a:effectLst/>
                <a:latin typeface="+mn-lt"/>
              </a:rPr>
              <a:t>Données sur l’aide alimentaire</a:t>
            </a:r>
            <a:br>
              <a:rPr kumimoji="0" lang="fr-FR" altLang="fr-FR" b="0" i="0" u="none" strike="noStrike" cap="none" normalizeH="0" baseline="0" dirty="0">
                <a:ln>
                  <a:noFill/>
                </a:ln>
                <a:solidFill>
                  <a:schemeClr val="bg1"/>
                </a:solidFill>
                <a:effectLst/>
                <a:latin typeface="+mn-lt"/>
              </a:rPr>
            </a:br>
            <a:r>
              <a:rPr kumimoji="0" lang="fr-FR" altLang="fr-FR" b="0" i="0" u="none" strike="noStrike" cap="none" normalizeH="0" baseline="0" dirty="0">
                <a:ln>
                  <a:noFill/>
                </a:ln>
                <a:solidFill>
                  <a:schemeClr val="bg1"/>
                </a:solidFill>
                <a:effectLst/>
                <a:latin typeface="+mn-lt"/>
              </a:rPr>
              <a:t>📁 </a:t>
            </a:r>
            <a:r>
              <a:rPr kumimoji="0" lang="fr-FR" altLang="fr-FR" b="1" i="0" u="none" strike="noStrike" cap="none" normalizeH="0" baseline="0" dirty="0">
                <a:ln>
                  <a:noFill/>
                </a:ln>
                <a:solidFill>
                  <a:schemeClr val="bg1"/>
                </a:solidFill>
                <a:effectLst/>
                <a:latin typeface="+mn-lt"/>
              </a:rPr>
              <a:t>Fichier :</a:t>
            </a:r>
            <a:r>
              <a:rPr kumimoji="0" lang="fr-FR" altLang="fr-FR" b="0" i="0" u="none" strike="noStrike" cap="none" normalizeH="0" baseline="0" dirty="0">
                <a:ln>
                  <a:noFill/>
                </a:ln>
                <a:solidFill>
                  <a:schemeClr val="bg1"/>
                </a:solidFill>
                <a:effectLst/>
                <a:latin typeface="+mn-lt"/>
              </a:rPr>
              <a:t> aide_alimentaire.csv</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b="0" i="0" u="none" strike="noStrike" cap="none" normalizeH="0" baseline="0" dirty="0">
                <a:ln>
                  <a:noFill/>
                </a:ln>
                <a:solidFill>
                  <a:schemeClr val="bg1"/>
                </a:solidFill>
                <a:effectLst/>
                <a:latin typeface="+mn-lt"/>
              </a:rPr>
              <a:t>Quantité d’aide alimentaire reçue par pays.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b="0" i="0" u="none" strike="noStrike" cap="none" normalizeH="0" baseline="0" dirty="0">
                <a:ln>
                  <a:noFill/>
                </a:ln>
                <a:solidFill>
                  <a:schemeClr val="bg1"/>
                </a:solidFill>
                <a:effectLst/>
                <a:latin typeface="+mn-lt"/>
              </a:rPr>
              <a:t>Évolution de l’aide entre 2013 et 2016.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b="0" i="0" u="none" strike="noStrike" cap="none" normalizeH="0" baseline="0" dirty="0">
                <a:ln>
                  <a:noFill/>
                </a:ln>
                <a:solidFill>
                  <a:schemeClr val="bg1"/>
                </a:solidFill>
                <a:effectLst/>
                <a:latin typeface="+mn-lt"/>
              </a:rPr>
              <a:t>Identification des principaux bénéficiaires.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4" name="ZoneTexte 3">
            <a:extLst>
              <a:ext uri="{FF2B5EF4-FFF2-40B4-BE49-F238E27FC236}">
                <a16:creationId xmlns:a16="http://schemas.microsoft.com/office/drawing/2014/main" id="{DB9AED05-4E92-44C6-07C8-7491A15177DF}"/>
              </a:ext>
            </a:extLst>
          </p:cNvPr>
          <p:cNvSpPr txBox="1"/>
          <p:nvPr/>
        </p:nvSpPr>
        <p:spPr>
          <a:xfrm>
            <a:off x="1478115" y="0"/>
            <a:ext cx="9848646" cy="800219"/>
          </a:xfrm>
          <a:prstGeom prst="rect">
            <a:avLst/>
          </a:prstGeom>
          <a:noFill/>
        </p:spPr>
        <p:txBody>
          <a:bodyPr wrap="square" rtlCol="0">
            <a:spAutoFit/>
          </a:bodyPr>
          <a:lstStyle/>
          <a:p>
            <a:r>
              <a:rPr lang="fr-FR" sz="3200" b="1" dirty="0">
                <a:solidFill>
                  <a:schemeClr val="bg1"/>
                </a:solidFill>
                <a:latin typeface="Century Gothic"/>
                <a:ea typeface="Century Gothic"/>
                <a:cs typeface="Century Gothic"/>
                <a:sym typeface="Century Gothic"/>
              </a:rPr>
              <a:t>Présentation des types de données à analyser</a:t>
            </a:r>
          </a:p>
          <a:p>
            <a:endParaRPr lang="fr-FR" dirty="0"/>
          </a:p>
        </p:txBody>
      </p:sp>
    </p:spTree>
    <p:extLst>
      <p:ext uri="{BB962C8B-B14F-4D97-AF65-F5344CB8AC3E}">
        <p14:creationId xmlns:p14="http://schemas.microsoft.com/office/powerpoint/2010/main" val="639183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3"/>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4000"/>
              <a:buFont typeface="Century Gothic"/>
              <a:buNone/>
            </a:pPr>
            <a:r>
              <a:rPr lang="fr-FR" sz="3200" dirty="0"/>
              <a:t>Méthodologie de l’analyse</a:t>
            </a:r>
            <a:endParaRPr sz="3200" dirty="0"/>
          </a:p>
        </p:txBody>
      </p:sp>
      <p:sp>
        <p:nvSpPr>
          <p:cNvPr id="138" name="Google Shape;138;p3"/>
          <p:cNvSpPr txBox="1">
            <a:spLocks noGrp="1"/>
          </p:cNvSpPr>
          <p:nvPr>
            <p:ph type="body" idx="1"/>
          </p:nvPr>
        </p:nvSpPr>
        <p:spPr>
          <a:xfrm>
            <a:off x="317267" y="2063260"/>
            <a:ext cx="10554574" cy="3636511"/>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a:buNone/>
            </a:pPr>
            <a:r>
              <a:rPr lang="fr-FR" sz="1600" b="1" dirty="0"/>
              <a:t>1️⃣ </a:t>
            </a:r>
            <a:r>
              <a:rPr lang="fr-FR" sz="1600" b="1" dirty="0">
                <a:latin typeface="+mn-lt"/>
              </a:rPr>
              <a:t>Est-ce que le RGPD s’applique dans notre projet ?</a:t>
            </a:r>
          </a:p>
          <a:p>
            <a:pPr marL="114300" indent="0">
              <a:buNone/>
            </a:pPr>
            <a:r>
              <a:rPr lang="fr-FR" sz="1600" dirty="0">
                <a:latin typeface="+mn-lt"/>
              </a:rPr>
              <a:t>Le </a:t>
            </a:r>
            <a:r>
              <a:rPr lang="fr-FR" sz="1600" b="1" dirty="0">
                <a:latin typeface="+mn-lt"/>
              </a:rPr>
              <a:t>Règlement Général sur la Protection des Données (RGPD)</a:t>
            </a:r>
            <a:r>
              <a:rPr lang="fr-FR" sz="1600" dirty="0">
                <a:latin typeface="+mn-lt"/>
              </a:rPr>
              <a:t> s'applique lorsque des </a:t>
            </a:r>
            <a:r>
              <a:rPr lang="fr-FR" sz="1600" b="1" dirty="0">
                <a:latin typeface="+mn-lt"/>
              </a:rPr>
              <a:t>données personnelles</a:t>
            </a:r>
            <a:r>
              <a:rPr lang="fr-FR" sz="1600" dirty="0">
                <a:latin typeface="+mn-lt"/>
              </a:rPr>
              <a:t> sont utilisées.</a:t>
            </a:r>
            <a:br>
              <a:rPr lang="fr-FR" sz="1600" dirty="0">
                <a:latin typeface="+mn-lt"/>
              </a:rPr>
            </a:br>
            <a:r>
              <a:rPr lang="fr-FR" sz="1600" dirty="0">
                <a:latin typeface="+mn-lt"/>
              </a:rPr>
              <a:t>Dans notre cas, nous analysons </a:t>
            </a:r>
            <a:r>
              <a:rPr lang="fr-FR" sz="1600" b="1" dirty="0">
                <a:latin typeface="+mn-lt"/>
              </a:rPr>
              <a:t>des données agrégées sur la nutrition et l’alimentation mondiale</a:t>
            </a:r>
            <a:r>
              <a:rPr lang="fr-FR" sz="1600" dirty="0">
                <a:latin typeface="+mn-lt"/>
              </a:rPr>
              <a:t>, qui ne concernent pas des individus nommés mais des statistiques par pays.</a:t>
            </a:r>
          </a:p>
          <a:p>
            <a:pPr marL="114300" indent="0">
              <a:buNone/>
            </a:pPr>
            <a:endParaRPr lang="fr-FR" sz="1600" dirty="0">
              <a:latin typeface="+mn-lt"/>
            </a:endParaRPr>
          </a:p>
          <a:p>
            <a:pPr marL="114300" indent="0">
              <a:buNone/>
            </a:pPr>
            <a:br>
              <a:rPr lang="fr-FR" sz="1600" dirty="0">
                <a:latin typeface="+mn-lt"/>
              </a:rPr>
            </a:br>
            <a:r>
              <a:rPr lang="fr-FR" sz="1600" dirty="0">
                <a:latin typeface="+mn-lt"/>
              </a:rPr>
              <a:t>➡ </a:t>
            </a:r>
            <a:r>
              <a:rPr lang="fr-FR" sz="1600" b="1" dirty="0">
                <a:latin typeface="+mn-lt"/>
              </a:rPr>
              <a:t>Conclusion : Le RGPD ne s’applique pas directement</a:t>
            </a:r>
            <a:r>
              <a:rPr lang="fr-FR" sz="1600" dirty="0">
                <a:latin typeface="+mn-lt"/>
              </a:rPr>
              <a:t>, sauf si nous utilisions des </a:t>
            </a:r>
            <a:r>
              <a:rPr lang="fr-FR" sz="1600" b="1" dirty="0">
                <a:latin typeface="+mn-lt"/>
              </a:rPr>
              <a:t>données individuelles</a:t>
            </a:r>
            <a:r>
              <a:rPr lang="fr-FR" sz="1600" dirty="0">
                <a:latin typeface="+mn-lt"/>
              </a:rPr>
              <a:t> (ex. : enquêtes nominatives).</a:t>
            </a:r>
          </a:p>
          <a:p>
            <a:pPr marL="342900" lvl="0" indent="-228600" algn="l" rtl="0">
              <a:lnSpc>
                <a:spcPct val="100000"/>
              </a:lnSpc>
              <a:spcBef>
                <a:spcPts val="0"/>
              </a:spcBef>
              <a:spcAft>
                <a:spcPts val="0"/>
              </a:spcAft>
              <a:buSzPts val="1800"/>
              <a:buNone/>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712D4C-FB6F-424B-AA36-1FD12AE5FB68}"/>
              </a:ext>
            </a:extLst>
          </p:cNvPr>
          <p:cNvSpPr>
            <a:spLocks noGrp="1"/>
          </p:cNvSpPr>
          <p:nvPr>
            <p:ph type="title"/>
          </p:nvPr>
        </p:nvSpPr>
        <p:spPr/>
        <p:txBody>
          <a:bodyPr/>
          <a:lstStyle/>
          <a:p>
            <a:r>
              <a:rPr lang="fr-FR" sz="3200" dirty="0"/>
              <a:t>Méthodologie de l’analyse</a:t>
            </a:r>
          </a:p>
        </p:txBody>
      </p:sp>
      <p:sp>
        <p:nvSpPr>
          <p:cNvPr id="3" name="Espace réservé du texte 2">
            <a:extLst>
              <a:ext uri="{FF2B5EF4-FFF2-40B4-BE49-F238E27FC236}">
                <a16:creationId xmlns:a16="http://schemas.microsoft.com/office/drawing/2014/main" id="{A1D35BDE-98AB-F498-B88F-A75CC7323C8E}"/>
              </a:ext>
            </a:extLst>
          </p:cNvPr>
          <p:cNvSpPr>
            <a:spLocks noGrp="1"/>
          </p:cNvSpPr>
          <p:nvPr>
            <p:ph type="body" idx="1"/>
          </p:nvPr>
        </p:nvSpPr>
        <p:spPr>
          <a:xfrm>
            <a:off x="0" y="1956817"/>
            <a:ext cx="12192000" cy="776552"/>
          </a:xfrm>
        </p:spPr>
        <p:txBody>
          <a:bodyPr>
            <a:normAutofit/>
          </a:bodyPr>
          <a:lstStyle/>
          <a:p>
            <a:pPr marL="114300" indent="0">
              <a:buNone/>
            </a:pPr>
            <a:r>
              <a:rPr lang="fr-FR" sz="1600" dirty="0">
                <a:latin typeface="+mn-lt"/>
              </a:rPr>
              <a:t>Nous avons regroupé les données alimentaires par année afin de voir comment la disponibilité alimentaire évolue dans le temps.</a:t>
            </a:r>
          </a:p>
        </p:txBody>
      </p:sp>
      <p:sp>
        <p:nvSpPr>
          <p:cNvPr id="5" name="Rectangle 1">
            <a:extLst>
              <a:ext uri="{FF2B5EF4-FFF2-40B4-BE49-F238E27FC236}">
                <a16:creationId xmlns:a16="http://schemas.microsoft.com/office/drawing/2014/main" id="{13D397A1-50DE-74EA-E3FA-5FBE04414F0E}"/>
              </a:ext>
            </a:extLst>
          </p:cNvPr>
          <p:cNvSpPr>
            <a:spLocks noChangeArrowheads="1"/>
          </p:cNvSpPr>
          <p:nvPr/>
        </p:nvSpPr>
        <p:spPr bwMode="auto">
          <a:xfrm>
            <a:off x="157316" y="2549128"/>
            <a:ext cx="11877368" cy="4308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eaLnBrk="0" fontAlgn="base" latinLnBrk="0" hangingPunct="0">
              <a:lnSpc>
                <a:spcPct val="100000"/>
              </a:lnSpc>
              <a:spcBef>
                <a:spcPct val="0"/>
              </a:spcBef>
              <a:spcAft>
                <a:spcPct val="0"/>
              </a:spcAft>
              <a:buClrTx/>
              <a:buSzTx/>
              <a:tabLst/>
            </a:pPr>
            <a:r>
              <a:rPr kumimoji="0" lang="fr-FR" altLang="fr-FR" sz="1600" b="1" i="0" u="none" strike="noStrike" cap="none" normalizeH="0" baseline="0" dirty="0">
                <a:ln>
                  <a:noFill/>
                </a:ln>
                <a:solidFill>
                  <a:schemeClr val="bg1"/>
                </a:solidFill>
                <a:effectLst/>
                <a:latin typeface="+mn-lt"/>
              </a:rPr>
              <a:t> Comment j’ai fait mon analyse ?</a:t>
            </a:r>
          </a:p>
          <a:p>
            <a:pPr marR="0" lvl="0" algn="l" defTabSz="914400" eaLnBrk="0" fontAlgn="base" latinLnBrk="0" hangingPunct="0">
              <a:lnSpc>
                <a:spcPct val="100000"/>
              </a:lnSpc>
              <a:spcBef>
                <a:spcPct val="0"/>
              </a:spcBef>
              <a:spcAft>
                <a:spcPct val="0"/>
              </a:spcAft>
              <a:buClrTx/>
              <a:buSzTx/>
              <a:tabLst/>
            </a:pPr>
            <a:r>
              <a:rPr kumimoji="0" lang="fr-FR" altLang="fr-FR" sz="1600" b="0" i="0" u="none" strike="noStrike" cap="none" normalizeH="0" baseline="0" dirty="0">
                <a:ln>
                  <a:noFill/>
                </a:ln>
                <a:solidFill>
                  <a:schemeClr val="bg1"/>
                </a:solidFill>
                <a:effectLst/>
                <a:latin typeface="+mn-lt"/>
              </a:rPr>
              <a:t>L’analyse s’est déroulée en plusieurs étapes :</a:t>
            </a:r>
          </a:p>
          <a:p>
            <a:pPr marR="0" lvl="0" algn="l" defTabSz="914400" eaLnBrk="0" fontAlgn="base" latinLnBrk="0" hangingPunct="0">
              <a:lnSpc>
                <a:spcPct val="100000"/>
              </a:lnSpc>
              <a:spcBef>
                <a:spcPct val="0"/>
              </a:spcBef>
              <a:spcAft>
                <a:spcPct val="0"/>
              </a:spcAft>
              <a:buClrTx/>
              <a:buSzTx/>
              <a:tabLst/>
            </a:pPr>
            <a:r>
              <a:rPr kumimoji="0" lang="fr-FR" altLang="fr-FR" sz="1600" b="0" i="0" u="none" strike="noStrike" cap="none" normalizeH="0" baseline="0" dirty="0">
                <a:ln>
                  <a:noFill/>
                </a:ln>
                <a:solidFill>
                  <a:schemeClr val="bg1"/>
                </a:solidFill>
                <a:effectLst/>
                <a:latin typeface="+mn-lt"/>
              </a:rPr>
              <a:t>1️⃣ </a:t>
            </a:r>
            <a:r>
              <a:rPr kumimoji="0" lang="fr-FR" altLang="fr-FR" sz="1600" b="1" i="0" u="none" strike="noStrike" cap="none" normalizeH="0" baseline="0" dirty="0">
                <a:ln>
                  <a:noFill/>
                </a:ln>
                <a:solidFill>
                  <a:schemeClr val="bg1"/>
                </a:solidFill>
                <a:effectLst/>
                <a:latin typeface="+mn-lt"/>
              </a:rPr>
              <a:t>Importation et nettoyage des données</a:t>
            </a:r>
            <a:endParaRPr kumimoji="0" lang="fr-FR" altLang="fr-FR" sz="1600" b="0" i="0" u="none" strike="noStrike" cap="none" normalizeH="0" baseline="0" dirty="0">
              <a:ln>
                <a:noFill/>
              </a:ln>
              <a:solidFill>
                <a:schemeClr val="bg1"/>
              </a:solidFill>
              <a:effectLst/>
              <a:latin typeface="+mn-lt"/>
            </a:endParaRPr>
          </a:p>
          <a:p>
            <a:pPr marL="0" marR="0" lvl="0" indent="0" algn="l" defTabSz="914400" eaLnBrk="0" fontAlgn="base" latinLnBrk="0" hangingPunct="0">
              <a:lnSpc>
                <a:spcPct val="100000"/>
              </a:lnSpc>
              <a:spcBef>
                <a:spcPct val="0"/>
              </a:spcBef>
              <a:spcAft>
                <a:spcPct val="0"/>
              </a:spcAft>
              <a:buClrTx/>
              <a:buSzTx/>
              <a:tabLst/>
            </a:pPr>
            <a:r>
              <a:rPr kumimoji="0" lang="fr-FR" altLang="fr-FR" sz="1600" b="0" i="0" u="none" strike="noStrike" cap="none" normalizeH="0" baseline="0" dirty="0">
                <a:ln>
                  <a:noFill/>
                </a:ln>
                <a:solidFill>
                  <a:schemeClr val="bg1"/>
                </a:solidFill>
                <a:effectLst/>
                <a:latin typeface="+mn-lt"/>
              </a:rPr>
              <a:t>Chargement des fichiers CSV (population, disponibilité alimentaire, sous-nutrition, aide alimentaire). </a:t>
            </a:r>
          </a:p>
          <a:p>
            <a:pPr marL="0" marR="0" lvl="0" indent="0" algn="l" defTabSz="914400" eaLnBrk="0" fontAlgn="base" latinLnBrk="0" hangingPunct="0">
              <a:lnSpc>
                <a:spcPct val="100000"/>
              </a:lnSpc>
              <a:spcBef>
                <a:spcPct val="0"/>
              </a:spcBef>
              <a:spcAft>
                <a:spcPct val="0"/>
              </a:spcAft>
              <a:buClrTx/>
              <a:buSzTx/>
              <a:tabLst/>
            </a:pPr>
            <a:r>
              <a:rPr kumimoji="0" lang="fr-FR" altLang="fr-FR" sz="1600" b="0" i="0" u="none" strike="noStrike" cap="none" normalizeH="0" baseline="0" dirty="0">
                <a:ln>
                  <a:noFill/>
                </a:ln>
                <a:solidFill>
                  <a:schemeClr val="bg1"/>
                </a:solidFill>
                <a:effectLst/>
                <a:latin typeface="+mn-lt"/>
              </a:rPr>
              <a:t>Vérification des valeurs manquantes et des incohérences. </a:t>
            </a:r>
          </a:p>
          <a:p>
            <a:pPr marR="0" lvl="0" algn="l" defTabSz="914400" eaLnBrk="0" fontAlgn="base" latinLnBrk="0" hangingPunct="0">
              <a:lnSpc>
                <a:spcPct val="100000"/>
              </a:lnSpc>
              <a:spcBef>
                <a:spcPct val="0"/>
              </a:spcBef>
              <a:spcAft>
                <a:spcPct val="0"/>
              </a:spcAft>
              <a:buClrTx/>
              <a:buSzTx/>
              <a:tabLst/>
            </a:pPr>
            <a:r>
              <a:rPr kumimoji="0" lang="fr-FR" altLang="fr-FR" sz="1600" b="0" i="0" u="none" strike="noStrike" cap="none" normalizeH="0" baseline="0" dirty="0">
                <a:ln>
                  <a:noFill/>
                </a:ln>
                <a:solidFill>
                  <a:schemeClr val="bg1"/>
                </a:solidFill>
                <a:effectLst/>
                <a:latin typeface="+mn-lt"/>
              </a:rPr>
              <a:t>2️⃣ </a:t>
            </a:r>
            <a:r>
              <a:rPr kumimoji="0" lang="fr-FR" altLang="fr-FR" sz="1600" b="1" i="0" u="none" strike="noStrike" cap="none" normalizeH="0" baseline="0" dirty="0">
                <a:ln>
                  <a:noFill/>
                </a:ln>
                <a:solidFill>
                  <a:schemeClr val="bg1"/>
                </a:solidFill>
                <a:effectLst/>
                <a:latin typeface="+mn-lt"/>
              </a:rPr>
              <a:t>Préparation et transformation des données</a:t>
            </a:r>
            <a:endParaRPr kumimoji="0" lang="fr-FR" altLang="fr-FR" sz="1600" b="0" i="0" u="none" strike="noStrike" cap="none" normalizeH="0" baseline="0" dirty="0">
              <a:ln>
                <a:noFill/>
              </a:ln>
              <a:solidFill>
                <a:schemeClr val="bg1"/>
              </a:solidFill>
              <a:effectLst/>
              <a:latin typeface="+mn-lt"/>
            </a:endParaRPr>
          </a:p>
          <a:p>
            <a:pPr marL="0" marR="0" lvl="0" indent="0" algn="l" defTabSz="914400" eaLnBrk="0" fontAlgn="base" latinLnBrk="0" hangingPunct="0">
              <a:lnSpc>
                <a:spcPct val="100000"/>
              </a:lnSpc>
              <a:spcBef>
                <a:spcPct val="0"/>
              </a:spcBef>
              <a:spcAft>
                <a:spcPct val="0"/>
              </a:spcAft>
              <a:buClrTx/>
              <a:buSzTx/>
              <a:tabLst/>
            </a:pPr>
            <a:r>
              <a:rPr kumimoji="0" lang="fr-FR" altLang="fr-FR" sz="1600" b="0" i="0" u="none" strike="noStrike" cap="none" normalizeH="0" baseline="0" dirty="0">
                <a:ln>
                  <a:noFill/>
                </a:ln>
                <a:solidFill>
                  <a:schemeClr val="bg1"/>
                </a:solidFill>
                <a:effectLst/>
                <a:latin typeface="+mn-lt"/>
              </a:rPr>
              <a:t>Harmonisation des unités (ex. : conversion des populations en nombre d’habitants réels). </a:t>
            </a:r>
          </a:p>
          <a:p>
            <a:pPr marL="0" marR="0" lvl="0" indent="0" algn="l" defTabSz="914400" eaLnBrk="0" fontAlgn="base" latinLnBrk="0" hangingPunct="0">
              <a:lnSpc>
                <a:spcPct val="100000"/>
              </a:lnSpc>
              <a:spcBef>
                <a:spcPct val="0"/>
              </a:spcBef>
              <a:spcAft>
                <a:spcPct val="0"/>
              </a:spcAft>
              <a:buClrTx/>
              <a:buSzTx/>
              <a:tabLst/>
            </a:pPr>
            <a:r>
              <a:rPr kumimoji="0" lang="fr-FR" altLang="fr-FR" sz="1600" b="0" i="0" u="none" strike="noStrike" cap="none" normalizeH="0" baseline="0" dirty="0">
                <a:ln>
                  <a:noFill/>
                </a:ln>
                <a:solidFill>
                  <a:schemeClr val="bg1"/>
                </a:solidFill>
                <a:effectLst/>
                <a:latin typeface="+mn-lt"/>
              </a:rPr>
              <a:t>Sélection des variables pertinentes pour l’analyse. </a:t>
            </a:r>
          </a:p>
          <a:p>
            <a:pPr marR="0" lvl="0" algn="l" defTabSz="914400" eaLnBrk="0" fontAlgn="base" latinLnBrk="0" hangingPunct="0">
              <a:lnSpc>
                <a:spcPct val="100000"/>
              </a:lnSpc>
              <a:spcBef>
                <a:spcPct val="0"/>
              </a:spcBef>
              <a:spcAft>
                <a:spcPct val="0"/>
              </a:spcAft>
              <a:buClrTx/>
              <a:buSzTx/>
              <a:tabLst/>
            </a:pPr>
            <a:r>
              <a:rPr kumimoji="0" lang="fr-FR" altLang="fr-FR" sz="1600" b="0" i="0" u="none" strike="noStrike" cap="none" normalizeH="0" baseline="0" dirty="0">
                <a:ln>
                  <a:noFill/>
                </a:ln>
                <a:solidFill>
                  <a:schemeClr val="bg1"/>
                </a:solidFill>
                <a:effectLst/>
                <a:latin typeface="+mn-lt"/>
              </a:rPr>
              <a:t>3️⃣ </a:t>
            </a:r>
            <a:r>
              <a:rPr kumimoji="0" lang="fr-FR" altLang="fr-FR" sz="1600" b="1" i="0" u="none" strike="noStrike" cap="none" normalizeH="0" baseline="0" dirty="0">
                <a:ln>
                  <a:noFill/>
                </a:ln>
                <a:solidFill>
                  <a:schemeClr val="bg1"/>
                </a:solidFill>
                <a:effectLst/>
                <a:latin typeface="+mn-lt"/>
              </a:rPr>
              <a:t>Exploration et visualisation des données</a:t>
            </a:r>
            <a:endParaRPr kumimoji="0" lang="fr-FR" altLang="fr-FR" sz="1600" b="0" i="0" u="none" strike="noStrike" cap="none" normalizeH="0" baseline="0" dirty="0">
              <a:ln>
                <a:noFill/>
              </a:ln>
              <a:solidFill>
                <a:schemeClr val="bg1"/>
              </a:solidFill>
              <a:effectLst/>
              <a:latin typeface="+mn-lt"/>
            </a:endParaRPr>
          </a:p>
          <a:p>
            <a:pPr marL="0" marR="0" lvl="0" indent="0" algn="l" defTabSz="914400" eaLnBrk="0" fontAlgn="base" latinLnBrk="0" hangingPunct="0">
              <a:lnSpc>
                <a:spcPct val="100000"/>
              </a:lnSpc>
              <a:spcBef>
                <a:spcPct val="0"/>
              </a:spcBef>
              <a:spcAft>
                <a:spcPct val="0"/>
              </a:spcAft>
              <a:buClrTx/>
              <a:buSzTx/>
              <a:tabLst/>
            </a:pPr>
            <a:r>
              <a:rPr kumimoji="0" lang="fr-FR" altLang="fr-FR" sz="1600" b="0" i="0" u="none" strike="noStrike" cap="none" normalizeH="0" baseline="0" dirty="0">
                <a:ln>
                  <a:noFill/>
                </a:ln>
                <a:solidFill>
                  <a:schemeClr val="bg1"/>
                </a:solidFill>
                <a:effectLst/>
                <a:latin typeface="+mn-lt"/>
              </a:rPr>
              <a:t>Création de graphiques pour visualiser la répartition de la sous-nutrition par pays. </a:t>
            </a:r>
          </a:p>
          <a:p>
            <a:pPr marL="0" marR="0" lvl="0" indent="0" algn="l" defTabSz="914400" eaLnBrk="0" fontAlgn="base" latinLnBrk="0" hangingPunct="0">
              <a:lnSpc>
                <a:spcPct val="100000"/>
              </a:lnSpc>
              <a:spcBef>
                <a:spcPct val="0"/>
              </a:spcBef>
              <a:spcAft>
                <a:spcPct val="0"/>
              </a:spcAft>
              <a:buClrTx/>
              <a:buSzTx/>
              <a:tabLst/>
            </a:pPr>
            <a:r>
              <a:rPr kumimoji="0" lang="fr-FR" altLang="fr-FR" sz="1600" b="0" i="0" u="none" strike="noStrike" cap="none" normalizeH="0" baseline="0" dirty="0">
                <a:ln>
                  <a:noFill/>
                </a:ln>
                <a:solidFill>
                  <a:schemeClr val="bg1"/>
                </a:solidFill>
                <a:effectLst/>
                <a:latin typeface="+mn-lt"/>
              </a:rPr>
              <a:t>Analyse de la disponibilité alimentaire par habitant et par type d’aliment. </a:t>
            </a:r>
          </a:p>
          <a:p>
            <a:pPr marL="0" marR="0" lvl="0" indent="0" algn="l" defTabSz="914400" eaLnBrk="0" fontAlgn="base" latinLnBrk="0" hangingPunct="0">
              <a:lnSpc>
                <a:spcPct val="100000"/>
              </a:lnSpc>
              <a:spcBef>
                <a:spcPct val="0"/>
              </a:spcBef>
              <a:spcAft>
                <a:spcPct val="0"/>
              </a:spcAft>
              <a:buClrTx/>
              <a:buSzTx/>
              <a:tabLst/>
            </a:pPr>
            <a:r>
              <a:rPr kumimoji="0" lang="fr-FR" altLang="fr-FR" sz="1600" b="0" i="0" u="none" strike="noStrike" cap="none" normalizeH="0" baseline="0" dirty="0">
                <a:ln>
                  <a:noFill/>
                </a:ln>
                <a:solidFill>
                  <a:schemeClr val="bg1"/>
                </a:solidFill>
                <a:effectLst/>
                <a:latin typeface="+mn-lt"/>
              </a:rPr>
              <a:t>Comparaison entre aide alimentaire et besoins nutritionnels. </a:t>
            </a:r>
          </a:p>
          <a:p>
            <a:pPr marR="0" lvl="0" algn="l" defTabSz="914400" eaLnBrk="0" fontAlgn="base" latinLnBrk="0" hangingPunct="0">
              <a:lnSpc>
                <a:spcPct val="100000"/>
              </a:lnSpc>
              <a:spcBef>
                <a:spcPct val="0"/>
              </a:spcBef>
              <a:spcAft>
                <a:spcPct val="0"/>
              </a:spcAft>
              <a:buClrTx/>
              <a:buSzTx/>
              <a:tabLst/>
            </a:pPr>
            <a:r>
              <a:rPr kumimoji="0" lang="fr-FR" altLang="fr-FR" sz="1600" b="0" i="0" u="none" strike="noStrike" cap="none" normalizeH="0" baseline="0" dirty="0">
                <a:ln>
                  <a:noFill/>
                </a:ln>
                <a:solidFill>
                  <a:schemeClr val="bg1"/>
                </a:solidFill>
                <a:effectLst/>
                <a:latin typeface="+mn-lt"/>
              </a:rPr>
              <a:t>4️⃣ </a:t>
            </a:r>
            <a:r>
              <a:rPr kumimoji="0" lang="fr-FR" altLang="fr-FR" sz="1600" b="1" i="0" u="none" strike="noStrike" cap="none" normalizeH="0" baseline="0" dirty="0">
                <a:ln>
                  <a:noFill/>
                </a:ln>
                <a:solidFill>
                  <a:schemeClr val="bg1"/>
                </a:solidFill>
                <a:effectLst/>
                <a:latin typeface="+mn-lt"/>
              </a:rPr>
              <a:t>Interprétation des résultats</a:t>
            </a:r>
            <a:endParaRPr kumimoji="0" lang="fr-FR" altLang="fr-FR" sz="1600" b="0" i="0" u="none" strike="noStrike" cap="none" normalizeH="0" baseline="0" dirty="0">
              <a:ln>
                <a:noFill/>
              </a:ln>
              <a:solidFill>
                <a:schemeClr val="bg1"/>
              </a:solidFill>
              <a:effectLst/>
              <a:latin typeface="+mn-lt"/>
            </a:endParaRPr>
          </a:p>
          <a:p>
            <a:pPr marL="0" marR="0" lvl="0" indent="0" algn="l" defTabSz="914400" eaLnBrk="0" fontAlgn="base" latinLnBrk="0" hangingPunct="0">
              <a:lnSpc>
                <a:spcPct val="100000"/>
              </a:lnSpc>
              <a:spcBef>
                <a:spcPct val="0"/>
              </a:spcBef>
              <a:spcAft>
                <a:spcPct val="0"/>
              </a:spcAft>
              <a:buClrTx/>
              <a:buSzTx/>
              <a:tabLst/>
            </a:pPr>
            <a:r>
              <a:rPr kumimoji="0" lang="fr-FR" altLang="fr-FR" sz="1600" b="0" i="0" u="none" strike="noStrike" cap="none" normalizeH="0" baseline="0" dirty="0">
                <a:ln>
                  <a:noFill/>
                </a:ln>
                <a:solidFill>
                  <a:schemeClr val="bg1"/>
                </a:solidFill>
                <a:effectLst/>
                <a:latin typeface="+mn-lt"/>
              </a:rPr>
              <a:t>Identifier les </a:t>
            </a:r>
            <a:r>
              <a:rPr kumimoji="0" lang="fr-FR" altLang="fr-FR" sz="1600" b="1" i="0" u="none" strike="noStrike" cap="none" normalizeH="0" baseline="0" dirty="0">
                <a:ln>
                  <a:noFill/>
                </a:ln>
                <a:solidFill>
                  <a:schemeClr val="bg1"/>
                </a:solidFill>
                <a:effectLst/>
                <a:latin typeface="+mn-lt"/>
              </a:rPr>
              <a:t>pays les plus touchés par la sous-nutrition</a:t>
            </a:r>
            <a:r>
              <a:rPr kumimoji="0" lang="fr-FR" altLang="fr-FR" sz="1600" b="0" i="0" u="none" strike="noStrike" cap="none" normalizeH="0" baseline="0" dirty="0">
                <a:ln>
                  <a:noFill/>
                </a:ln>
                <a:solidFill>
                  <a:schemeClr val="bg1"/>
                </a:solidFill>
                <a:effectLst/>
                <a:latin typeface="+mn-lt"/>
              </a:rPr>
              <a:t>. </a:t>
            </a:r>
          </a:p>
          <a:p>
            <a:pPr marL="0" marR="0" lvl="0" indent="0" algn="l" defTabSz="914400" eaLnBrk="0" fontAlgn="base" latinLnBrk="0" hangingPunct="0">
              <a:lnSpc>
                <a:spcPct val="100000"/>
              </a:lnSpc>
              <a:spcBef>
                <a:spcPct val="0"/>
              </a:spcBef>
              <a:spcAft>
                <a:spcPct val="0"/>
              </a:spcAft>
              <a:buClrTx/>
              <a:buSzTx/>
              <a:tabLst/>
            </a:pPr>
            <a:r>
              <a:rPr kumimoji="0" lang="fr-FR" altLang="fr-FR" sz="1600" b="0" i="0" u="none" strike="noStrike" cap="none" normalizeH="0" baseline="0" dirty="0">
                <a:ln>
                  <a:noFill/>
                </a:ln>
                <a:solidFill>
                  <a:schemeClr val="bg1"/>
                </a:solidFill>
                <a:effectLst/>
                <a:latin typeface="+mn-lt"/>
              </a:rPr>
              <a:t>Vérifier si la </a:t>
            </a:r>
            <a:r>
              <a:rPr kumimoji="0" lang="fr-FR" altLang="fr-FR" sz="1600" b="1" i="0" u="none" strike="noStrike" cap="none" normalizeH="0" baseline="0" dirty="0">
                <a:ln>
                  <a:noFill/>
                </a:ln>
                <a:solidFill>
                  <a:schemeClr val="bg1"/>
                </a:solidFill>
                <a:effectLst/>
                <a:latin typeface="+mn-lt"/>
              </a:rPr>
              <a:t>disponibilité alimentaire</a:t>
            </a:r>
            <a:r>
              <a:rPr kumimoji="0" lang="fr-FR" altLang="fr-FR" sz="1600" b="0" i="0" u="none" strike="noStrike" cap="none" normalizeH="0" baseline="0" dirty="0">
                <a:ln>
                  <a:noFill/>
                </a:ln>
                <a:solidFill>
                  <a:schemeClr val="bg1"/>
                </a:solidFill>
                <a:effectLst/>
                <a:latin typeface="+mn-lt"/>
              </a:rPr>
              <a:t> est suffisante pour nourrir la population. </a:t>
            </a:r>
          </a:p>
          <a:p>
            <a:pPr marL="0" marR="0" lvl="0" indent="0" algn="l" defTabSz="914400" eaLnBrk="0" fontAlgn="base" latinLnBrk="0" hangingPunct="0">
              <a:lnSpc>
                <a:spcPct val="100000"/>
              </a:lnSpc>
              <a:spcBef>
                <a:spcPct val="0"/>
              </a:spcBef>
              <a:spcAft>
                <a:spcPct val="0"/>
              </a:spcAft>
              <a:buClrTx/>
              <a:buSzTx/>
              <a:tabLst/>
            </a:pPr>
            <a:r>
              <a:rPr kumimoji="0" lang="fr-FR" altLang="fr-FR" sz="1600" b="0" i="0" u="none" strike="noStrike" cap="none" normalizeH="0" baseline="0" dirty="0">
                <a:ln>
                  <a:noFill/>
                </a:ln>
                <a:solidFill>
                  <a:schemeClr val="bg1"/>
                </a:solidFill>
                <a:effectLst/>
                <a:latin typeface="+mn-lt"/>
              </a:rPr>
              <a:t>Voir comment </a:t>
            </a:r>
            <a:r>
              <a:rPr kumimoji="0" lang="fr-FR" altLang="fr-FR" sz="1600" b="1" i="0" u="none" strike="noStrike" cap="none" normalizeH="0" baseline="0" dirty="0">
                <a:ln>
                  <a:noFill/>
                </a:ln>
                <a:solidFill>
                  <a:schemeClr val="bg1"/>
                </a:solidFill>
                <a:effectLst/>
                <a:latin typeface="+mn-lt"/>
              </a:rPr>
              <a:t>l’aide alimentaire est distribuée</a:t>
            </a:r>
            <a:r>
              <a:rPr kumimoji="0" lang="fr-FR" altLang="fr-FR" sz="1600" b="0" i="0" u="none" strike="noStrike" cap="none" normalizeH="0" baseline="0" dirty="0">
                <a:ln>
                  <a:noFill/>
                </a:ln>
                <a:solidFill>
                  <a:schemeClr val="bg1"/>
                </a:solidFill>
                <a:effectLst/>
                <a:latin typeface="+mn-lt"/>
              </a:rPr>
              <a:t> dans le monde.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856189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4"/>
          <p:cNvSpPr txBox="1">
            <a:spLocks noGrp="1"/>
          </p:cNvSpPr>
          <p:nvPr>
            <p:ph type="title"/>
          </p:nvPr>
        </p:nvSpPr>
        <p:spPr>
          <a:xfrm>
            <a:off x="810000" y="447188"/>
            <a:ext cx="10572000" cy="97050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1) Proportion de personnes en état de sous-nutrition en 2017</a:t>
            </a:r>
            <a:endParaRPr sz="3200"/>
          </a:p>
        </p:txBody>
      </p:sp>
      <p:sp>
        <p:nvSpPr>
          <p:cNvPr id="2" name="Espace réservé du texte 1">
            <a:extLst>
              <a:ext uri="{FF2B5EF4-FFF2-40B4-BE49-F238E27FC236}">
                <a16:creationId xmlns:a16="http://schemas.microsoft.com/office/drawing/2014/main" id="{4A4CE19F-3FC6-ADFF-97DD-C75FF8571991}"/>
              </a:ext>
            </a:extLst>
          </p:cNvPr>
          <p:cNvSpPr>
            <a:spLocks noGrp="1" noChangeArrowheads="1"/>
          </p:cNvSpPr>
          <p:nvPr>
            <p:ph type="body" idx="1"/>
          </p:nvPr>
        </p:nvSpPr>
        <p:spPr bwMode="auto">
          <a:xfrm>
            <a:off x="45781" y="2254620"/>
            <a:ext cx="1210043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fr-FR" sz="1600" b="1" dirty="0">
                <a:latin typeface="+mn-lt"/>
              </a:rPr>
              <a:t>En 2017, environ 7,10 % de la population mondiale était en état de sous-nutrition.</a:t>
            </a:r>
            <a:br>
              <a:rPr lang="fr-FR" sz="1600" dirty="0">
                <a:latin typeface="+mn-lt"/>
              </a:rPr>
            </a:br>
            <a:r>
              <a:rPr lang="fr-FR" sz="1600" dirty="0">
                <a:latin typeface="+mn-lt"/>
              </a:rPr>
              <a:t>Cela signifie que près de </a:t>
            </a:r>
            <a:r>
              <a:rPr lang="fr-FR" sz="1600" b="1" dirty="0">
                <a:latin typeface="+mn-lt"/>
              </a:rPr>
              <a:t>520 millions de personnes</a:t>
            </a:r>
            <a:r>
              <a:rPr lang="fr-FR" sz="1600" dirty="0">
                <a:latin typeface="+mn-lt"/>
              </a:rPr>
              <a:t> n'avaient pas accès à une alimentation suffisante pour répondre à leurs besoins énergétiques quotidiens.</a:t>
            </a:r>
            <a:endParaRPr kumimoji="0" lang="fr-FR" altLang="fr-FR" sz="1600" b="0" i="0" u="none" strike="noStrike" cap="none" normalizeH="0" baseline="0" dirty="0">
              <a:ln>
                <a:noFill/>
              </a:ln>
              <a:solidFill>
                <a:schemeClr val="tx1"/>
              </a:solidFill>
              <a:effectLst/>
              <a:latin typeface="+mn-lt"/>
            </a:endParaRPr>
          </a:p>
        </p:txBody>
      </p:sp>
      <p:sp>
        <p:nvSpPr>
          <p:cNvPr id="10" name="ZoneTexte 9">
            <a:extLst>
              <a:ext uri="{FF2B5EF4-FFF2-40B4-BE49-F238E27FC236}">
                <a16:creationId xmlns:a16="http://schemas.microsoft.com/office/drawing/2014/main" id="{8B4F94F6-533B-0F87-95B5-60A96A1B727D}"/>
              </a:ext>
            </a:extLst>
          </p:cNvPr>
          <p:cNvSpPr txBox="1"/>
          <p:nvPr/>
        </p:nvSpPr>
        <p:spPr>
          <a:xfrm>
            <a:off x="45781" y="3617623"/>
            <a:ext cx="7025148" cy="1077218"/>
          </a:xfrm>
          <a:prstGeom prst="rect">
            <a:avLst/>
          </a:prstGeom>
          <a:noFill/>
        </p:spPr>
        <p:txBody>
          <a:bodyPr wrap="square">
            <a:spAutoFit/>
          </a:bodyPr>
          <a:lstStyle/>
          <a:p>
            <a:pPr>
              <a:buNone/>
            </a:pPr>
            <a:r>
              <a:rPr lang="fr-FR" sz="1600" b="1" dirty="0">
                <a:solidFill>
                  <a:schemeClr val="bg1"/>
                </a:solidFill>
              </a:rPr>
              <a:t>Disparités importantes par pays :</a:t>
            </a:r>
          </a:p>
          <a:p>
            <a:r>
              <a:rPr lang="fr-FR" sz="1600" dirty="0">
                <a:solidFill>
                  <a:schemeClr val="bg1"/>
                </a:solidFill>
              </a:rPr>
              <a:t>-Haïti : </a:t>
            </a:r>
            <a:r>
              <a:rPr lang="fr-FR" sz="1600" b="1" dirty="0">
                <a:solidFill>
                  <a:schemeClr val="bg1"/>
                </a:solidFill>
              </a:rPr>
              <a:t>48,26 %</a:t>
            </a:r>
            <a:r>
              <a:rPr lang="fr-FR" sz="1600" dirty="0">
                <a:solidFill>
                  <a:schemeClr val="bg1"/>
                </a:solidFill>
              </a:rPr>
              <a:t> de la population en sous-nutrition.</a:t>
            </a:r>
          </a:p>
          <a:p>
            <a:r>
              <a:rPr lang="fr-FR" sz="1600" dirty="0">
                <a:solidFill>
                  <a:schemeClr val="bg1"/>
                </a:solidFill>
              </a:rPr>
              <a:t>-Corée du Nord (RPDC) : </a:t>
            </a:r>
            <a:r>
              <a:rPr lang="fr-FR" sz="1600" b="1" dirty="0">
                <a:solidFill>
                  <a:schemeClr val="bg1"/>
                </a:solidFill>
              </a:rPr>
              <a:t>47,18 %</a:t>
            </a:r>
            <a:r>
              <a:rPr lang="fr-FR" sz="1600" dirty="0">
                <a:solidFill>
                  <a:schemeClr val="bg1"/>
                </a:solidFill>
              </a:rPr>
              <a:t> de la population en sous-nutrition.</a:t>
            </a:r>
          </a:p>
          <a:p>
            <a:r>
              <a:rPr lang="fr-FR" sz="1600" dirty="0">
                <a:solidFill>
                  <a:schemeClr val="bg1"/>
                </a:solidFill>
              </a:rPr>
              <a:t>-Madagascar : </a:t>
            </a:r>
            <a:r>
              <a:rPr lang="fr-FR" sz="1600" b="1" dirty="0">
                <a:solidFill>
                  <a:schemeClr val="bg1"/>
                </a:solidFill>
              </a:rPr>
              <a:t>41,06 %</a:t>
            </a:r>
            <a:r>
              <a:rPr lang="fr-FR" sz="1600" dirty="0">
                <a:solidFill>
                  <a:schemeClr val="bg1"/>
                </a:solidFill>
              </a:rPr>
              <a:t> de la population en sous-nutrition.</a:t>
            </a:r>
          </a:p>
        </p:txBody>
      </p:sp>
      <p:sp>
        <p:nvSpPr>
          <p:cNvPr id="12" name="ZoneTexte 11">
            <a:extLst>
              <a:ext uri="{FF2B5EF4-FFF2-40B4-BE49-F238E27FC236}">
                <a16:creationId xmlns:a16="http://schemas.microsoft.com/office/drawing/2014/main" id="{79AB6C1B-6EF0-1AA2-4B91-DB099A395E1C}"/>
              </a:ext>
            </a:extLst>
          </p:cNvPr>
          <p:cNvSpPr txBox="1"/>
          <p:nvPr/>
        </p:nvSpPr>
        <p:spPr>
          <a:xfrm>
            <a:off x="45781" y="5226848"/>
            <a:ext cx="7025148" cy="1323439"/>
          </a:xfrm>
          <a:prstGeom prst="rect">
            <a:avLst/>
          </a:prstGeom>
          <a:noFill/>
        </p:spPr>
        <p:txBody>
          <a:bodyPr wrap="square">
            <a:spAutoFit/>
          </a:bodyPr>
          <a:lstStyle/>
          <a:p>
            <a:pPr>
              <a:buNone/>
            </a:pPr>
            <a:r>
              <a:rPr lang="fr-FR" sz="1600" b="1" dirty="0">
                <a:solidFill>
                  <a:schemeClr val="bg1"/>
                </a:solidFill>
              </a:rPr>
              <a:t>Facteurs contribuant à ces taux élevés de sous-nutrition :</a:t>
            </a:r>
            <a:endParaRPr lang="fr-FR" sz="1600" dirty="0">
              <a:solidFill>
                <a:schemeClr val="bg1"/>
              </a:solidFill>
            </a:endParaRPr>
          </a:p>
          <a:p>
            <a:r>
              <a:rPr lang="fr-FR" sz="1600" dirty="0">
                <a:solidFill>
                  <a:schemeClr val="bg1"/>
                </a:solidFill>
              </a:rPr>
              <a:t>-Conflits armés ou crises politiques.</a:t>
            </a:r>
          </a:p>
          <a:p>
            <a:r>
              <a:rPr lang="fr-FR" sz="1600" dirty="0">
                <a:solidFill>
                  <a:schemeClr val="bg1"/>
                </a:solidFill>
              </a:rPr>
              <a:t>-Catastrophes naturelles (sécheresses, inondations).</a:t>
            </a:r>
          </a:p>
          <a:p>
            <a:r>
              <a:rPr lang="fr-FR" sz="1600" dirty="0">
                <a:solidFill>
                  <a:schemeClr val="bg1"/>
                </a:solidFill>
              </a:rPr>
              <a:t>-Faibles ressources agricoles locales.</a:t>
            </a:r>
          </a:p>
          <a:p>
            <a:r>
              <a:rPr lang="fr-FR" sz="1600" dirty="0">
                <a:solidFill>
                  <a:schemeClr val="bg1"/>
                </a:solidFill>
              </a:rPr>
              <a:t>-Dépendance aux importations alimentaires.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DE42C964-CC90-EE8D-DE54-E702E0DA9A74}"/>
              </a:ext>
            </a:extLst>
          </p:cNvPr>
          <p:cNvPicPr>
            <a:picLocks noChangeAspect="1"/>
          </p:cNvPicPr>
          <p:nvPr/>
        </p:nvPicPr>
        <p:blipFill>
          <a:blip r:embed="rId2"/>
          <a:stretch>
            <a:fillRect/>
          </a:stretch>
        </p:blipFill>
        <p:spPr>
          <a:xfrm>
            <a:off x="2127160" y="1703240"/>
            <a:ext cx="7937680" cy="4572396"/>
          </a:xfrm>
          <a:prstGeom prst="rect">
            <a:avLst/>
          </a:prstGeom>
        </p:spPr>
      </p:pic>
      <p:sp>
        <p:nvSpPr>
          <p:cNvPr id="6" name="Rectangle 5">
            <a:extLst>
              <a:ext uri="{FF2B5EF4-FFF2-40B4-BE49-F238E27FC236}">
                <a16:creationId xmlns:a16="http://schemas.microsoft.com/office/drawing/2014/main" id="{07FF6EB6-A120-E854-2610-43A1FF321C13}"/>
              </a:ext>
            </a:extLst>
          </p:cNvPr>
          <p:cNvSpPr>
            <a:spLocks noChangeArrowheads="1"/>
          </p:cNvSpPr>
          <p:nvPr/>
        </p:nvSpPr>
        <p:spPr bwMode="auto">
          <a:xfrm>
            <a:off x="1248697" y="82651"/>
            <a:ext cx="10815484"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600" b="0" i="0" u="none" strike="noStrike" cap="none" normalizeH="0" baseline="0" dirty="0">
                <a:ln>
                  <a:noFill/>
                </a:ln>
                <a:solidFill>
                  <a:schemeClr val="bg1"/>
                </a:solidFill>
                <a:effectLst/>
                <a:latin typeface="+mn-lt"/>
              </a:rPr>
              <a:t>Un </a:t>
            </a:r>
            <a:r>
              <a:rPr kumimoji="0" lang="fr-FR" altLang="fr-FR" sz="1600" b="1" i="0" u="none" strike="noStrike" cap="none" normalizeH="0" baseline="0" dirty="0">
                <a:ln>
                  <a:noFill/>
                </a:ln>
                <a:solidFill>
                  <a:schemeClr val="bg1"/>
                </a:solidFill>
                <a:effectLst/>
                <a:latin typeface="+mn-lt"/>
              </a:rPr>
              <a:t>graphique en barres</a:t>
            </a:r>
            <a:r>
              <a:rPr kumimoji="0" lang="fr-FR" altLang="fr-FR" sz="1600" b="0" i="0" u="none" strike="noStrike" cap="none" normalizeH="0" baseline="0" dirty="0">
                <a:ln>
                  <a:noFill/>
                </a:ln>
                <a:solidFill>
                  <a:schemeClr val="bg1"/>
                </a:solidFill>
                <a:effectLst/>
                <a:latin typeface="+mn-lt"/>
              </a:rPr>
              <a:t> classe les </a:t>
            </a:r>
            <a:r>
              <a:rPr kumimoji="0" lang="fr-FR" altLang="fr-FR" sz="1600" b="1" i="0" u="none" strike="noStrike" cap="none" normalizeH="0" baseline="0" dirty="0">
                <a:ln>
                  <a:noFill/>
                </a:ln>
                <a:solidFill>
                  <a:schemeClr val="bg1"/>
                </a:solidFill>
                <a:effectLst/>
                <a:latin typeface="+mn-lt"/>
              </a:rPr>
              <a:t>10 pays les plus touchés</a:t>
            </a:r>
            <a:r>
              <a:rPr kumimoji="0" lang="fr-FR" altLang="fr-FR" sz="1600" b="0" i="0" u="none" strike="noStrike" cap="none" normalizeH="0" baseline="0" dirty="0">
                <a:ln>
                  <a:noFill/>
                </a:ln>
                <a:solidFill>
                  <a:schemeClr val="bg1"/>
                </a:solidFill>
                <a:effectLst/>
                <a:latin typeface="+mn-lt"/>
              </a:rPr>
              <a:t> en 2017.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600" b="0" i="0" u="none" strike="noStrike" cap="none" normalizeH="0" baseline="0" dirty="0">
                <a:ln>
                  <a:noFill/>
                </a:ln>
                <a:solidFill>
                  <a:schemeClr val="bg1"/>
                </a:solidFill>
                <a:effectLst/>
                <a:latin typeface="+mn-lt"/>
              </a:rPr>
              <a:t>Il montre clairement que </a:t>
            </a:r>
            <a:r>
              <a:rPr kumimoji="0" lang="fr-FR" altLang="fr-FR" sz="1600" b="1" i="0" u="none" strike="noStrike" cap="none" normalizeH="0" baseline="0" dirty="0">
                <a:ln>
                  <a:noFill/>
                </a:ln>
                <a:solidFill>
                  <a:schemeClr val="bg1"/>
                </a:solidFill>
                <a:effectLst/>
                <a:latin typeface="+mn-lt"/>
              </a:rPr>
              <a:t>près d’une personne sur deux souffrait de sous-nutrition</a:t>
            </a:r>
            <a:r>
              <a:rPr kumimoji="0" lang="fr-FR" altLang="fr-FR" sz="1600" b="0" i="0" u="none" strike="noStrike" cap="none" normalizeH="0" baseline="0" dirty="0">
                <a:ln>
                  <a:noFill/>
                </a:ln>
                <a:solidFill>
                  <a:schemeClr val="bg1"/>
                </a:solidFill>
                <a:effectLst/>
                <a:latin typeface="+mn-lt"/>
              </a:rPr>
              <a:t> dans certains pays. </a:t>
            </a:r>
          </a:p>
        </p:txBody>
      </p:sp>
    </p:spTree>
    <p:extLst>
      <p:ext uri="{BB962C8B-B14F-4D97-AF65-F5344CB8AC3E}">
        <p14:creationId xmlns:p14="http://schemas.microsoft.com/office/powerpoint/2010/main" val="554806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5"/>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2) Nombre théorique de personnes qui pourraient être nourries en 2017</a:t>
            </a:r>
            <a:endParaRPr sz="3200"/>
          </a:p>
        </p:txBody>
      </p:sp>
      <p:sp>
        <p:nvSpPr>
          <p:cNvPr id="153" name="Google Shape;153;p5"/>
          <p:cNvSpPr txBox="1">
            <a:spLocks noGrp="1"/>
          </p:cNvSpPr>
          <p:nvPr>
            <p:ph type="body" idx="1"/>
          </p:nvPr>
        </p:nvSpPr>
        <p:spPr>
          <a:xfrm>
            <a:off x="149807" y="2312801"/>
            <a:ext cx="10706029" cy="2171468"/>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lnSpcReduction="10000"/>
          </a:bodyPr>
          <a:lstStyle/>
          <a:p>
            <a:pPr>
              <a:buNone/>
            </a:pPr>
            <a:r>
              <a:rPr lang="fr-FR" sz="1600" dirty="0">
                <a:latin typeface="+mn-lt"/>
              </a:rPr>
              <a:t>👉 En </a:t>
            </a:r>
            <a:r>
              <a:rPr lang="fr-FR" sz="1600" b="1" dirty="0">
                <a:latin typeface="+mn-lt"/>
              </a:rPr>
              <a:t>2017</a:t>
            </a:r>
            <a:r>
              <a:rPr lang="fr-FR" sz="1600" dirty="0">
                <a:latin typeface="+mn-lt"/>
              </a:rPr>
              <a:t>, la </a:t>
            </a:r>
            <a:r>
              <a:rPr lang="fr-FR" sz="1600" b="1" dirty="0">
                <a:latin typeface="+mn-lt"/>
              </a:rPr>
              <a:t>disponibilité alimentaire mondiale</a:t>
            </a:r>
            <a:r>
              <a:rPr lang="fr-FR" sz="1600" dirty="0">
                <a:latin typeface="+mn-lt"/>
              </a:rPr>
              <a:t> était d’environ </a:t>
            </a:r>
            <a:r>
              <a:rPr lang="fr-FR" sz="1600" b="1" dirty="0">
                <a:latin typeface="+mn-lt"/>
              </a:rPr>
              <a:t>7 635 429 388 975 kcal</a:t>
            </a:r>
            <a:r>
              <a:rPr lang="fr-FR" sz="1600" dirty="0">
                <a:latin typeface="+mn-lt"/>
              </a:rPr>
              <a:t>.</a:t>
            </a:r>
          </a:p>
          <a:p>
            <a:pPr>
              <a:buNone/>
            </a:pPr>
            <a:r>
              <a:rPr lang="fr-FR" sz="1600" dirty="0">
                <a:latin typeface="+mn-lt"/>
              </a:rPr>
              <a:t>👉 Un être humain a </a:t>
            </a:r>
            <a:r>
              <a:rPr lang="fr-FR" sz="1600" b="1" dirty="0">
                <a:latin typeface="+mn-lt"/>
              </a:rPr>
              <a:t>besoin en moyenne de 2500 kcal/jour</a:t>
            </a:r>
            <a:r>
              <a:rPr lang="fr-FR" sz="1600" dirty="0">
                <a:latin typeface="+mn-lt"/>
              </a:rPr>
              <a:t>.</a:t>
            </a:r>
          </a:p>
          <a:p>
            <a:pPr>
              <a:buNone/>
            </a:pPr>
            <a:r>
              <a:rPr lang="fr-FR" sz="1600" dirty="0">
                <a:latin typeface="+mn-lt"/>
              </a:rPr>
              <a:t>👉 En divisant la disponibilité alimentaire totale par ces besoins, on obtient :</a:t>
            </a:r>
          </a:p>
          <a:p>
            <a:pPr marL="114300" indent="0">
              <a:buNone/>
            </a:pPr>
            <a:r>
              <a:rPr lang="fr-FR" sz="1600" dirty="0">
                <a:latin typeface="+mn-lt"/>
              </a:rPr>
              <a:t>💡 </a:t>
            </a:r>
            <a:r>
              <a:rPr lang="fr-FR" sz="1600" b="1" dirty="0">
                <a:latin typeface="+mn-lt"/>
              </a:rPr>
              <a:t>≈ 8,36 milliards de personnes pourraient être nourries.</a:t>
            </a:r>
            <a:br>
              <a:rPr lang="fr-FR" sz="1600" dirty="0">
                <a:latin typeface="+mn-lt"/>
              </a:rPr>
            </a:br>
            <a:r>
              <a:rPr lang="fr-FR" sz="1600" dirty="0">
                <a:latin typeface="+mn-lt"/>
              </a:rPr>
              <a:t>🚨 </a:t>
            </a:r>
            <a:r>
              <a:rPr lang="fr-FR" sz="1600" b="1" dirty="0">
                <a:latin typeface="+mn-lt"/>
              </a:rPr>
              <a:t>Mais la population mondiale en 2017 était d’environ 7,5 milliards</a:t>
            </a:r>
            <a:r>
              <a:rPr lang="fr-FR" sz="1600" dirty="0">
                <a:latin typeface="+mn-lt"/>
              </a:rPr>
              <a:t>.</a:t>
            </a:r>
          </a:p>
          <a:p>
            <a:pPr marL="114300" indent="0">
              <a:buNone/>
            </a:pPr>
            <a:br>
              <a:rPr lang="fr-FR" sz="1600" dirty="0">
                <a:latin typeface="+mn-lt"/>
              </a:rPr>
            </a:br>
            <a:r>
              <a:rPr lang="fr-FR" sz="1600" dirty="0">
                <a:latin typeface="+mn-lt"/>
              </a:rPr>
              <a:t> ➡ </a:t>
            </a:r>
            <a:r>
              <a:rPr lang="fr-FR" sz="1600" b="1" dirty="0">
                <a:latin typeface="+mn-lt"/>
              </a:rPr>
              <a:t>Cela signifie que la production alimentaire mondiale était suffisante </a:t>
            </a:r>
          </a:p>
          <a:p>
            <a:pPr marL="114300" indent="0">
              <a:buNone/>
            </a:pPr>
            <a:r>
              <a:rPr lang="fr-FR" sz="1600" b="1" dirty="0">
                <a:latin typeface="+mn-lt"/>
              </a:rPr>
              <a:t>      pour nourrir 110,86% de la population.</a:t>
            </a:r>
            <a:endParaRPr lang="fr-FR" sz="1600" dirty="0">
              <a:latin typeface="+mn-lt"/>
            </a:endParaRPr>
          </a:p>
          <a:p>
            <a:pPr marL="0" lvl="0" indent="0" algn="l" rtl="0">
              <a:lnSpc>
                <a:spcPct val="100000"/>
              </a:lnSpc>
              <a:spcBef>
                <a:spcPts val="0"/>
              </a:spcBef>
              <a:spcAft>
                <a:spcPts val="0"/>
              </a:spcAft>
              <a:buSzPts val="1800"/>
              <a:buNone/>
            </a:pPr>
            <a:endParaRPr dirty="0"/>
          </a:p>
        </p:txBody>
      </p:sp>
      <p:sp>
        <p:nvSpPr>
          <p:cNvPr id="3" name="ZoneTexte 2">
            <a:extLst>
              <a:ext uri="{FF2B5EF4-FFF2-40B4-BE49-F238E27FC236}">
                <a16:creationId xmlns:a16="http://schemas.microsoft.com/office/drawing/2014/main" id="{75CBE0C6-2FAD-2F25-7809-4A65E75B4CD6}"/>
              </a:ext>
            </a:extLst>
          </p:cNvPr>
          <p:cNvSpPr txBox="1"/>
          <p:nvPr/>
        </p:nvSpPr>
        <p:spPr>
          <a:xfrm>
            <a:off x="149807" y="4594602"/>
            <a:ext cx="7719552" cy="1569660"/>
          </a:xfrm>
          <a:prstGeom prst="rect">
            <a:avLst/>
          </a:prstGeom>
          <a:noFill/>
        </p:spPr>
        <p:txBody>
          <a:bodyPr wrap="square">
            <a:spAutoFit/>
          </a:bodyPr>
          <a:lstStyle/>
          <a:p>
            <a:r>
              <a:rPr lang="fr-FR" sz="1600" dirty="0">
                <a:solidFill>
                  <a:schemeClr val="bg1"/>
                </a:solidFill>
                <a:latin typeface="+mn-lt"/>
              </a:rPr>
              <a:t>📌 Malgré cette surproduction, </a:t>
            </a:r>
            <a:r>
              <a:rPr lang="fr-FR" sz="1600" b="1" dirty="0">
                <a:solidFill>
                  <a:schemeClr val="bg1"/>
                </a:solidFill>
                <a:latin typeface="+mn-lt"/>
              </a:rPr>
              <a:t>la faim dans le monde persiste</a:t>
            </a:r>
            <a:r>
              <a:rPr lang="fr-FR" sz="1600" dirty="0">
                <a:solidFill>
                  <a:schemeClr val="bg1"/>
                </a:solidFill>
                <a:latin typeface="+mn-lt"/>
              </a:rPr>
              <a:t> en raison de :</a:t>
            </a:r>
            <a:br>
              <a:rPr lang="fr-FR" sz="1600" dirty="0">
                <a:solidFill>
                  <a:schemeClr val="bg1"/>
                </a:solidFill>
                <a:latin typeface="+mn-lt"/>
              </a:rPr>
            </a:br>
            <a:r>
              <a:rPr lang="fr-FR" sz="1600" dirty="0">
                <a:solidFill>
                  <a:schemeClr val="bg1"/>
                </a:solidFill>
                <a:latin typeface="+mn-lt"/>
              </a:rPr>
              <a:t>✔ </a:t>
            </a:r>
            <a:r>
              <a:rPr lang="fr-FR" sz="1600" b="1" dirty="0">
                <a:solidFill>
                  <a:schemeClr val="bg1"/>
                </a:solidFill>
                <a:latin typeface="+mn-lt"/>
              </a:rPr>
              <a:t>Inégalités de répartition des ressources</a:t>
            </a:r>
            <a:br>
              <a:rPr lang="fr-FR" sz="1600" dirty="0">
                <a:solidFill>
                  <a:schemeClr val="bg1"/>
                </a:solidFill>
                <a:latin typeface="+mn-lt"/>
              </a:rPr>
            </a:br>
            <a:r>
              <a:rPr lang="fr-FR" sz="1600" dirty="0">
                <a:solidFill>
                  <a:schemeClr val="bg1"/>
                </a:solidFill>
                <a:latin typeface="+mn-lt"/>
              </a:rPr>
              <a:t>✔ </a:t>
            </a:r>
            <a:r>
              <a:rPr lang="fr-FR" sz="1600" b="1" dirty="0">
                <a:solidFill>
                  <a:schemeClr val="bg1"/>
                </a:solidFill>
                <a:latin typeface="+mn-lt"/>
              </a:rPr>
              <a:t>Perte et gaspillage alimentaire</a:t>
            </a:r>
            <a:br>
              <a:rPr lang="fr-FR" sz="1600" dirty="0">
                <a:solidFill>
                  <a:schemeClr val="bg1"/>
                </a:solidFill>
                <a:latin typeface="+mn-lt"/>
              </a:rPr>
            </a:br>
            <a:r>
              <a:rPr lang="fr-FR" sz="1600" dirty="0">
                <a:solidFill>
                  <a:schemeClr val="bg1"/>
                </a:solidFill>
                <a:latin typeface="+mn-lt"/>
              </a:rPr>
              <a:t>✔ </a:t>
            </a:r>
            <a:r>
              <a:rPr lang="fr-FR" sz="1600" b="1" dirty="0">
                <a:solidFill>
                  <a:schemeClr val="bg1"/>
                </a:solidFill>
                <a:latin typeface="+mn-lt"/>
              </a:rPr>
              <a:t>Utilisation d’une grande partie des ressources pour l’élevage au lieu de la consommation humaine</a:t>
            </a:r>
            <a:br>
              <a:rPr lang="fr-FR" sz="1600" dirty="0">
                <a:solidFill>
                  <a:schemeClr val="bg1"/>
                </a:solidFill>
                <a:latin typeface="+mn-lt"/>
              </a:rPr>
            </a:br>
            <a:r>
              <a:rPr lang="fr-FR" sz="1600" dirty="0">
                <a:solidFill>
                  <a:schemeClr val="bg1"/>
                </a:solidFill>
                <a:latin typeface="+mn-lt"/>
              </a:rPr>
              <a:t>✔ </a:t>
            </a:r>
            <a:r>
              <a:rPr lang="fr-FR" sz="1600" b="1" dirty="0">
                <a:solidFill>
                  <a:schemeClr val="bg1"/>
                </a:solidFill>
                <a:latin typeface="+mn-lt"/>
              </a:rPr>
              <a:t>Barrières économiques et logistiques à l’accès aux denrées alimentaires</a:t>
            </a:r>
            <a:endParaRPr lang="fr-FR" sz="1600" dirty="0">
              <a:solidFill>
                <a:schemeClr val="bg1"/>
              </a:solidFill>
              <a:latin typeface="+mn-lt"/>
            </a:endParaRPr>
          </a:p>
        </p:txBody>
      </p:sp>
      <p:pic>
        <p:nvPicPr>
          <p:cNvPr id="7" name="Image 6" descr="Une image contenant texte, capture d’écran, ligne, Rectangle&#10;&#10;Le contenu généré par l’IA peut être incorrect.">
            <a:extLst>
              <a:ext uri="{FF2B5EF4-FFF2-40B4-BE49-F238E27FC236}">
                <a16:creationId xmlns:a16="http://schemas.microsoft.com/office/drawing/2014/main" id="{630832C2-56E4-840C-9F60-978D44D85C9E}"/>
              </a:ext>
            </a:extLst>
          </p:cNvPr>
          <p:cNvPicPr>
            <a:picLocks noChangeAspect="1"/>
          </p:cNvPicPr>
          <p:nvPr/>
        </p:nvPicPr>
        <p:blipFill>
          <a:blip r:embed="rId3"/>
          <a:stretch>
            <a:fillRect/>
          </a:stretch>
        </p:blipFill>
        <p:spPr>
          <a:xfrm>
            <a:off x="8032959" y="3573575"/>
            <a:ext cx="3795252" cy="322293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6"/>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3) Nombre théorique de personnes qui pourraient être nourries uniquement avec les végétaux en 2017</a:t>
            </a:r>
            <a:endParaRPr/>
          </a:p>
        </p:txBody>
      </p:sp>
      <p:sp>
        <p:nvSpPr>
          <p:cNvPr id="160" name="Google Shape;160;p6"/>
          <p:cNvSpPr txBox="1">
            <a:spLocks noGrp="1"/>
          </p:cNvSpPr>
          <p:nvPr>
            <p:ph type="body" idx="1"/>
          </p:nvPr>
        </p:nvSpPr>
        <p:spPr>
          <a:xfrm>
            <a:off x="222259" y="2339367"/>
            <a:ext cx="11747480" cy="2410745"/>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a:buNone/>
            </a:pPr>
            <a:r>
              <a:rPr lang="fr-FR" sz="1600" dirty="0">
                <a:latin typeface="+mn-lt"/>
              </a:rPr>
              <a:t>📌 </a:t>
            </a:r>
            <a:r>
              <a:rPr lang="fr-FR" sz="1600" b="1" dirty="0">
                <a:latin typeface="+mn-lt"/>
              </a:rPr>
              <a:t>Calcul basé sur la disponibilité alimentaire végétale :</a:t>
            </a:r>
            <a:endParaRPr lang="fr-FR" sz="1600" dirty="0">
              <a:latin typeface="+mn-lt"/>
            </a:endParaRPr>
          </a:p>
          <a:p>
            <a:pPr>
              <a:buNone/>
            </a:pPr>
            <a:r>
              <a:rPr lang="fr-FR" sz="1600" dirty="0">
                <a:latin typeface="+mn-lt"/>
              </a:rPr>
              <a:t>👉 En </a:t>
            </a:r>
            <a:r>
              <a:rPr lang="fr-FR" sz="1600" b="1" dirty="0">
                <a:latin typeface="+mn-lt"/>
              </a:rPr>
              <a:t>2017</a:t>
            </a:r>
            <a:r>
              <a:rPr lang="fr-FR" sz="1600" dirty="0">
                <a:latin typeface="+mn-lt"/>
              </a:rPr>
              <a:t>, la </a:t>
            </a:r>
            <a:r>
              <a:rPr lang="fr-FR" sz="1600" b="1" dirty="0">
                <a:latin typeface="+mn-lt"/>
              </a:rPr>
              <a:t>disponibilité alimentaire totale issue des végétaux</a:t>
            </a:r>
            <a:r>
              <a:rPr lang="fr-FR" sz="1600" dirty="0">
                <a:latin typeface="+mn-lt"/>
              </a:rPr>
              <a:t> était d’environ </a:t>
            </a:r>
            <a:r>
              <a:rPr lang="fr-FR" sz="1600" b="1" dirty="0">
                <a:latin typeface="+mn-lt"/>
              </a:rPr>
              <a:t>6 030 178 931 791 785 kcal</a:t>
            </a:r>
            <a:r>
              <a:rPr lang="fr-FR" sz="1600" dirty="0">
                <a:latin typeface="+mn-lt"/>
              </a:rPr>
              <a:t>.</a:t>
            </a:r>
          </a:p>
          <a:p>
            <a:pPr>
              <a:buNone/>
            </a:pPr>
            <a:r>
              <a:rPr lang="fr-FR" sz="1600" dirty="0">
                <a:latin typeface="+mn-lt"/>
              </a:rPr>
              <a:t>👉 Un être humain a </a:t>
            </a:r>
            <a:r>
              <a:rPr lang="fr-FR" sz="1600" b="1" dirty="0">
                <a:latin typeface="+mn-lt"/>
              </a:rPr>
              <a:t>besoin en moyenne de 2500 kcal/jour</a:t>
            </a:r>
            <a:r>
              <a:rPr lang="fr-FR" sz="1600" dirty="0">
                <a:latin typeface="+mn-lt"/>
              </a:rPr>
              <a:t>.</a:t>
            </a:r>
          </a:p>
          <a:p>
            <a:pPr>
              <a:buNone/>
            </a:pPr>
            <a:r>
              <a:rPr lang="fr-FR" sz="1600" dirty="0">
                <a:latin typeface="+mn-lt"/>
              </a:rPr>
              <a:t>👉 En divisant cette disponibilité par ces besoins, on obtient :</a:t>
            </a:r>
          </a:p>
          <a:p>
            <a:pPr marL="114300" indent="0">
              <a:buNone/>
            </a:pPr>
            <a:r>
              <a:rPr lang="fr-FR" sz="1600" dirty="0">
                <a:latin typeface="+mn-lt"/>
              </a:rPr>
              <a:t>💡 </a:t>
            </a:r>
            <a:r>
              <a:rPr lang="fr-FR" sz="1600" b="1" dirty="0">
                <a:latin typeface="+mn-lt"/>
              </a:rPr>
              <a:t>≈ 7,67 milliards de personnes pourraient être nourries uniquement avec des végétaux.</a:t>
            </a:r>
          </a:p>
          <a:p>
            <a:pPr marL="114300" indent="0">
              <a:buNone/>
            </a:pPr>
            <a:endParaRPr lang="fr-FR" sz="1600" dirty="0">
              <a:latin typeface="+mn-lt"/>
            </a:endParaRPr>
          </a:p>
          <a:p>
            <a:pPr marL="114300" indent="0">
              <a:buNone/>
            </a:pPr>
            <a:r>
              <a:rPr lang="fr-FR" sz="1600" dirty="0">
                <a:latin typeface="+mn-lt"/>
              </a:rPr>
              <a:t>🚨 </a:t>
            </a:r>
            <a:r>
              <a:rPr lang="fr-FR" sz="1600" b="1" dirty="0">
                <a:latin typeface="+mn-lt"/>
              </a:rPr>
              <a:t>La population mondiale en 2017 était d’environ 7,5 milliards</a:t>
            </a:r>
            <a:r>
              <a:rPr lang="fr-FR" sz="1600" dirty="0">
                <a:latin typeface="+mn-lt"/>
              </a:rPr>
              <a:t>.</a:t>
            </a:r>
            <a:br>
              <a:rPr lang="fr-FR" sz="1600" dirty="0">
                <a:latin typeface="+mn-lt"/>
              </a:rPr>
            </a:br>
            <a:r>
              <a:rPr lang="fr-FR" sz="1600" dirty="0">
                <a:latin typeface="+mn-lt"/>
              </a:rPr>
              <a:t>➡ </a:t>
            </a:r>
            <a:r>
              <a:rPr lang="fr-FR" sz="1600" b="1" dirty="0">
                <a:latin typeface="+mn-lt"/>
              </a:rPr>
              <a:t>Cela signifie que la production végétale seule était suffisante pour nourrir 101,63% de la population mondiale.</a:t>
            </a:r>
            <a:endParaRPr lang="fr-FR" sz="1600" dirty="0">
              <a:latin typeface="+mn-lt"/>
            </a:endParaRPr>
          </a:p>
          <a:p>
            <a:pPr marL="0" lvl="0" indent="0" algn="l" rtl="0">
              <a:lnSpc>
                <a:spcPct val="100000"/>
              </a:lnSpc>
              <a:spcBef>
                <a:spcPts val="0"/>
              </a:spcBef>
              <a:spcAft>
                <a:spcPts val="0"/>
              </a:spcAft>
              <a:buSzPts val="1800"/>
              <a:buNone/>
            </a:pPr>
            <a:endParaRPr dirty="0"/>
          </a:p>
        </p:txBody>
      </p:sp>
      <p:sp>
        <p:nvSpPr>
          <p:cNvPr id="3" name="ZoneTexte 2">
            <a:extLst>
              <a:ext uri="{FF2B5EF4-FFF2-40B4-BE49-F238E27FC236}">
                <a16:creationId xmlns:a16="http://schemas.microsoft.com/office/drawing/2014/main" id="{8D20CDB7-5114-AE6F-D590-8F4410B0413B}"/>
              </a:ext>
            </a:extLst>
          </p:cNvPr>
          <p:cNvSpPr txBox="1"/>
          <p:nvPr/>
        </p:nvSpPr>
        <p:spPr>
          <a:xfrm>
            <a:off x="371683" y="4865851"/>
            <a:ext cx="11448631" cy="1815882"/>
          </a:xfrm>
          <a:prstGeom prst="rect">
            <a:avLst/>
          </a:prstGeom>
          <a:noFill/>
        </p:spPr>
        <p:txBody>
          <a:bodyPr wrap="square">
            <a:spAutoFit/>
          </a:bodyPr>
          <a:lstStyle/>
          <a:p>
            <a:r>
              <a:rPr lang="fr-FR" sz="1600" dirty="0">
                <a:solidFill>
                  <a:schemeClr val="bg1"/>
                </a:solidFill>
                <a:latin typeface="+mn-lt"/>
              </a:rPr>
              <a:t>📌 </a:t>
            </a:r>
            <a:r>
              <a:rPr lang="fr-FR" sz="1600" b="1" dirty="0">
                <a:solidFill>
                  <a:schemeClr val="bg1"/>
                </a:solidFill>
                <a:latin typeface="+mn-lt"/>
              </a:rPr>
              <a:t>Ces résultats montrent que</a:t>
            </a:r>
            <a:r>
              <a:rPr lang="fr-FR" sz="1600" dirty="0">
                <a:solidFill>
                  <a:schemeClr val="bg1"/>
                </a:solidFill>
                <a:latin typeface="+mn-lt"/>
              </a:rPr>
              <a:t> :</a:t>
            </a:r>
          </a:p>
          <a:p>
            <a:br>
              <a:rPr lang="fr-FR" sz="1600" dirty="0">
                <a:solidFill>
                  <a:schemeClr val="bg1"/>
                </a:solidFill>
                <a:latin typeface="+mn-lt"/>
              </a:rPr>
            </a:br>
            <a:r>
              <a:rPr lang="fr-FR" sz="1600" dirty="0">
                <a:solidFill>
                  <a:schemeClr val="bg1"/>
                </a:solidFill>
                <a:latin typeface="+mn-lt"/>
              </a:rPr>
              <a:t>✔ </a:t>
            </a:r>
            <a:r>
              <a:rPr lang="fr-FR" sz="1600" b="1" dirty="0">
                <a:solidFill>
                  <a:schemeClr val="bg1"/>
                </a:solidFill>
                <a:latin typeface="+mn-lt"/>
              </a:rPr>
              <a:t>Il n’y a pas de manque de production alimentaire mondiale</a:t>
            </a:r>
            <a:r>
              <a:rPr lang="fr-FR" sz="1600" dirty="0">
                <a:solidFill>
                  <a:schemeClr val="bg1"/>
                </a:solidFill>
                <a:latin typeface="+mn-lt"/>
              </a:rPr>
              <a:t>.</a:t>
            </a:r>
          </a:p>
          <a:p>
            <a:br>
              <a:rPr lang="fr-FR" sz="1600" dirty="0">
                <a:solidFill>
                  <a:schemeClr val="bg1"/>
                </a:solidFill>
                <a:latin typeface="+mn-lt"/>
              </a:rPr>
            </a:br>
            <a:r>
              <a:rPr lang="fr-FR" sz="1600" dirty="0">
                <a:solidFill>
                  <a:schemeClr val="bg1"/>
                </a:solidFill>
                <a:latin typeface="+mn-lt"/>
              </a:rPr>
              <a:t>✔ Le problème vient principalement de la </a:t>
            </a:r>
            <a:r>
              <a:rPr lang="fr-FR" sz="1600" b="1" dirty="0">
                <a:solidFill>
                  <a:schemeClr val="bg1"/>
                </a:solidFill>
                <a:latin typeface="+mn-lt"/>
              </a:rPr>
              <a:t>répartition des ressources, du gaspillage et des pertes alimentaires</a:t>
            </a:r>
            <a:r>
              <a:rPr lang="fr-FR" sz="1600" dirty="0">
                <a:solidFill>
                  <a:schemeClr val="bg1"/>
                </a:solidFill>
                <a:latin typeface="+mn-lt"/>
              </a:rPr>
              <a:t>.</a:t>
            </a:r>
          </a:p>
          <a:p>
            <a:br>
              <a:rPr lang="fr-FR" sz="1600" dirty="0">
                <a:solidFill>
                  <a:schemeClr val="bg1"/>
                </a:solidFill>
                <a:latin typeface="+mn-lt"/>
              </a:rPr>
            </a:br>
            <a:r>
              <a:rPr lang="fr-FR" sz="1600" dirty="0">
                <a:solidFill>
                  <a:schemeClr val="bg1"/>
                </a:solidFill>
                <a:latin typeface="+mn-lt"/>
              </a:rPr>
              <a:t>✔ </a:t>
            </a:r>
            <a:r>
              <a:rPr lang="fr-FR" sz="1600" b="1" dirty="0">
                <a:solidFill>
                  <a:schemeClr val="bg1"/>
                </a:solidFill>
                <a:latin typeface="+mn-lt"/>
              </a:rPr>
              <a:t>Les aliments d’origine végétale sont largement suffisants</a:t>
            </a:r>
            <a:r>
              <a:rPr lang="fr-FR" sz="1600" dirty="0">
                <a:solidFill>
                  <a:schemeClr val="bg1"/>
                </a:solidFill>
                <a:latin typeface="+mn-lt"/>
              </a:rPr>
              <a:t> pour couvrir les besoins nutritionnels de la planète.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7"/>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4) Répartition de la disponibilité intérieure</a:t>
            </a:r>
            <a:endParaRPr/>
          </a:p>
        </p:txBody>
      </p:sp>
      <p:sp>
        <p:nvSpPr>
          <p:cNvPr id="2" name="Google Shape;167;p7"/>
          <p:cNvSpPr txBox="1">
            <a:spLocks noGrp="1"/>
          </p:cNvSpPr>
          <p:nvPr>
            <p:ph type="body" idx="1"/>
          </p:nvPr>
        </p:nvSpPr>
        <p:spPr>
          <a:xfrm>
            <a:off x="-1" y="3077678"/>
            <a:ext cx="6779975" cy="2674194"/>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a:buNone/>
            </a:pPr>
            <a:r>
              <a:rPr lang="fr-FR" sz="1600" dirty="0">
                <a:latin typeface="+mn-lt"/>
              </a:rPr>
              <a:t>📌 </a:t>
            </a:r>
            <a:r>
              <a:rPr lang="fr-FR" sz="1600" b="1" dirty="0">
                <a:latin typeface="+mn-lt"/>
              </a:rPr>
              <a:t>Comment cette nourriture a été utilisée ?</a:t>
            </a:r>
            <a:endParaRPr lang="fr-FR" sz="1600" dirty="0">
              <a:latin typeface="+mn-lt"/>
            </a:endParaRPr>
          </a:p>
          <a:p>
            <a:pPr>
              <a:buFont typeface="Arial" panose="020B0604020202020204" pitchFamily="34" charset="0"/>
              <a:buChar char="•"/>
            </a:pPr>
            <a:r>
              <a:rPr lang="fr-FR" sz="1600" b="1" dirty="0">
                <a:latin typeface="+mn-lt"/>
              </a:rPr>
              <a:t>49,37%</a:t>
            </a:r>
            <a:r>
              <a:rPr lang="fr-FR" sz="1600" dirty="0">
                <a:latin typeface="+mn-lt"/>
              </a:rPr>
              <a:t> destinée à la </a:t>
            </a:r>
            <a:r>
              <a:rPr lang="fr-FR" sz="1600" b="1" dirty="0">
                <a:latin typeface="+mn-lt"/>
              </a:rPr>
              <a:t>consommation humaine</a:t>
            </a:r>
            <a:r>
              <a:rPr lang="fr-FR" sz="1600" dirty="0">
                <a:latin typeface="+mn-lt"/>
              </a:rPr>
              <a:t> (nourriture).</a:t>
            </a:r>
          </a:p>
          <a:p>
            <a:pPr>
              <a:buFont typeface="Arial" panose="020B0604020202020204" pitchFamily="34" charset="0"/>
              <a:buChar char="•"/>
            </a:pPr>
            <a:r>
              <a:rPr lang="fr-FR" sz="1600" b="1" dirty="0">
                <a:latin typeface="+mn-lt"/>
              </a:rPr>
              <a:t>13,23%</a:t>
            </a:r>
            <a:r>
              <a:rPr lang="fr-FR" sz="1600" dirty="0">
                <a:latin typeface="+mn-lt"/>
              </a:rPr>
              <a:t> utilisée pour </a:t>
            </a:r>
            <a:r>
              <a:rPr lang="fr-FR" sz="1600" b="1" dirty="0">
                <a:latin typeface="+mn-lt"/>
              </a:rPr>
              <a:t>l’alimentation animale</a:t>
            </a:r>
            <a:r>
              <a:rPr lang="fr-FR" sz="1600" dirty="0">
                <a:latin typeface="+mn-lt"/>
              </a:rPr>
              <a:t> (élevage).</a:t>
            </a:r>
          </a:p>
          <a:p>
            <a:pPr>
              <a:buFont typeface="Arial" panose="020B0604020202020204" pitchFamily="34" charset="0"/>
              <a:buChar char="•"/>
            </a:pPr>
            <a:r>
              <a:rPr lang="fr-FR" sz="1600" b="1" dirty="0">
                <a:latin typeface="+mn-lt"/>
              </a:rPr>
              <a:t>22,45%</a:t>
            </a:r>
            <a:r>
              <a:rPr lang="fr-FR" sz="1600" dirty="0">
                <a:latin typeface="+mn-lt"/>
              </a:rPr>
              <a:t> transformée en </a:t>
            </a:r>
            <a:r>
              <a:rPr lang="fr-FR" sz="1600" b="1" dirty="0">
                <a:latin typeface="+mn-lt"/>
              </a:rPr>
              <a:t>biocarburants, produits industriels ou autres usages non alimentaires</a:t>
            </a:r>
            <a:r>
              <a:rPr lang="fr-FR" sz="1600" dirty="0">
                <a:latin typeface="+mn-lt"/>
              </a:rPr>
              <a:t>.</a:t>
            </a:r>
          </a:p>
          <a:p>
            <a:pPr>
              <a:buFont typeface="Arial" panose="020B0604020202020204" pitchFamily="34" charset="0"/>
              <a:buChar char="•"/>
            </a:pPr>
            <a:r>
              <a:rPr lang="fr-FR" sz="1600" b="1" dirty="0">
                <a:latin typeface="+mn-lt"/>
              </a:rPr>
              <a:t>5,83%</a:t>
            </a:r>
            <a:r>
              <a:rPr lang="fr-FR" sz="1600" dirty="0">
                <a:latin typeface="+mn-lt"/>
              </a:rPr>
              <a:t> utilisée pour </a:t>
            </a:r>
            <a:r>
              <a:rPr lang="fr-FR" sz="1600" b="1" dirty="0">
                <a:latin typeface="+mn-lt"/>
              </a:rPr>
              <a:t>replanter les cultures</a:t>
            </a:r>
            <a:r>
              <a:rPr lang="fr-FR" sz="1600" dirty="0">
                <a:latin typeface="+mn-lt"/>
              </a:rPr>
              <a:t> (semences).</a:t>
            </a:r>
          </a:p>
          <a:p>
            <a:pPr>
              <a:buFont typeface="Arial" panose="020B0604020202020204" pitchFamily="34" charset="0"/>
              <a:buChar char="•"/>
            </a:pPr>
            <a:r>
              <a:rPr lang="fr-FR" sz="1600" b="1" dirty="0">
                <a:latin typeface="+mn-lt"/>
              </a:rPr>
              <a:t>4,65%</a:t>
            </a:r>
            <a:r>
              <a:rPr lang="fr-FR" sz="1600" dirty="0">
                <a:latin typeface="+mn-lt"/>
              </a:rPr>
              <a:t> de pertes dues au </a:t>
            </a:r>
            <a:r>
              <a:rPr lang="fr-FR" sz="1600" b="1" dirty="0">
                <a:latin typeface="+mn-lt"/>
              </a:rPr>
              <a:t>gaspillage et stockage</a:t>
            </a:r>
            <a:r>
              <a:rPr lang="fr-FR" sz="1600" dirty="0">
                <a:latin typeface="+mn-lt"/>
              </a:rPr>
              <a:t>.</a:t>
            </a:r>
          </a:p>
          <a:p>
            <a:pPr marL="114300" indent="0">
              <a:buNone/>
            </a:pPr>
            <a:r>
              <a:rPr lang="fr-FR" sz="1600" dirty="0">
                <a:latin typeface="+mn-lt"/>
              </a:rPr>
              <a:t>➡ </a:t>
            </a:r>
            <a:r>
              <a:rPr lang="fr-FR" sz="1600" b="1" dirty="0">
                <a:latin typeface="+mn-lt"/>
              </a:rPr>
              <a:t>Cela signifie que moins de la moitié de la production alimentaire mondiale est réellement consommée par les humains.</a:t>
            </a:r>
            <a:endParaRPr lang="fr-FR" sz="1600" dirty="0">
              <a:latin typeface="+mn-lt"/>
            </a:endParaRPr>
          </a:p>
          <a:p>
            <a:pPr marL="0" lvl="0" indent="0" algn="l" rtl="0">
              <a:lnSpc>
                <a:spcPct val="100000"/>
              </a:lnSpc>
              <a:spcBef>
                <a:spcPts val="0"/>
              </a:spcBef>
              <a:spcAft>
                <a:spcPts val="0"/>
              </a:spcAft>
              <a:buClr>
                <a:srgbClr val="000000"/>
              </a:buClr>
              <a:buSzPts val="1800"/>
              <a:buFont typeface="Arial"/>
              <a:buNone/>
            </a:pPr>
            <a:endParaRPr dirty="0"/>
          </a:p>
        </p:txBody>
      </p:sp>
      <p:pic>
        <p:nvPicPr>
          <p:cNvPr id="4" name="Image 3" descr="Une image contenant texte, capture d’écran, diagramme, cercle&#10;&#10;Le contenu généré par l’IA peut être incorrect.">
            <a:extLst>
              <a:ext uri="{FF2B5EF4-FFF2-40B4-BE49-F238E27FC236}">
                <a16:creationId xmlns:a16="http://schemas.microsoft.com/office/drawing/2014/main" id="{96B8CA48-6A1E-4E84-E871-59CA7D4E9B8F}"/>
              </a:ext>
            </a:extLst>
          </p:cNvPr>
          <p:cNvPicPr>
            <a:picLocks noChangeAspect="1"/>
          </p:cNvPicPr>
          <p:nvPr/>
        </p:nvPicPr>
        <p:blipFill>
          <a:blip r:embed="rId3"/>
          <a:stretch>
            <a:fillRect/>
          </a:stretch>
        </p:blipFill>
        <p:spPr>
          <a:xfrm>
            <a:off x="7294905" y="3864796"/>
            <a:ext cx="4759088" cy="2914546"/>
          </a:xfrm>
          <a:prstGeom prst="rect">
            <a:avLst/>
          </a:prstGeom>
        </p:spPr>
      </p:pic>
      <p:sp>
        <p:nvSpPr>
          <p:cNvPr id="6" name="ZoneTexte 5">
            <a:extLst>
              <a:ext uri="{FF2B5EF4-FFF2-40B4-BE49-F238E27FC236}">
                <a16:creationId xmlns:a16="http://schemas.microsoft.com/office/drawing/2014/main" id="{5BE4DF2A-250B-3626-F8CE-284F4B19F6F5}"/>
              </a:ext>
            </a:extLst>
          </p:cNvPr>
          <p:cNvSpPr txBox="1"/>
          <p:nvPr/>
        </p:nvSpPr>
        <p:spPr>
          <a:xfrm>
            <a:off x="0" y="2162208"/>
            <a:ext cx="12192000" cy="830997"/>
          </a:xfrm>
          <a:prstGeom prst="rect">
            <a:avLst/>
          </a:prstGeom>
          <a:noFill/>
        </p:spPr>
        <p:txBody>
          <a:bodyPr wrap="square">
            <a:spAutoFit/>
          </a:bodyPr>
          <a:lstStyle/>
          <a:p>
            <a:r>
              <a:rPr lang="fr-FR" sz="1600" dirty="0">
                <a:solidFill>
                  <a:schemeClr val="bg1"/>
                </a:solidFill>
                <a:latin typeface="+mn-lt"/>
              </a:rPr>
              <a:t>👉 </a:t>
            </a:r>
            <a:r>
              <a:rPr lang="fr-FR" sz="1600" b="1" dirty="0">
                <a:solidFill>
                  <a:schemeClr val="bg1"/>
                </a:solidFill>
                <a:latin typeface="+mn-lt"/>
              </a:rPr>
              <a:t>La disponibilité intérieure représente la quantité totale de nourriture disponible</a:t>
            </a:r>
            <a:r>
              <a:rPr lang="fr-FR" sz="1600" dirty="0">
                <a:solidFill>
                  <a:schemeClr val="bg1"/>
                </a:solidFill>
                <a:latin typeface="+mn-lt"/>
              </a:rPr>
              <a:t> après la production, les importations et   les     exportations.</a:t>
            </a:r>
          </a:p>
          <a:p>
            <a:pPr>
              <a:buNone/>
            </a:pPr>
            <a:r>
              <a:rPr lang="fr-FR" sz="1600" dirty="0">
                <a:solidFill>
                  <a:schemeClr val="bg1"/>
                </a:solidFill>
                <a:latin typeface="+mn-lt"/>
              </a:rPr>
              <a:t>👉 En </a:t>
            </a:r>
            <a:r>
              <a:rPr lang="fr-FR" sz="1600" b="1" dirty="0">
                <a:solidFill>
                  <a:schemeClr val="bg1"/>
                </a:solidFill>
                <a:latin typeface="+mn-lt"/>
              </a:rPr>
              <a:t>2017</a:t>
            </a:r>
            <a:r>
              <a:rPr lang="fr-FR" sz="1600" dirty="0">
                <a:solidFill>
                  <a:schemeClr val="bg1"/>
                </a:solidFill>
                <a:latin typeface="+mn-lt"/>
              </a:rPr>
              <a:t>, la disponibilité alimentaire mondiale était d’environ </a:t>
            </a:r>
            <a:r>
              <a:rPr lang="fr-FR" sz="1600" b="1" dirty="0">
                <a:solidFill>
                  <a:schemeClr val="bg1"/>
                </a:solidFill>
                <a:latin typeface="+mn-lt"/>
              </a:rPr>
              <a:t>973,4 millions de tonnes</a:t>
            </a:r>
            <a:r>
              <a:rPr lang="fr-FR" sz="1600" dirty="0">
                <a:solidFill>
                  <a:schemeClr val="bg1"/>
                </a:solidFill>
                <a:latin typeface="+mn-lt"/>
              </a:rPr>
              <a:t>.</a:t>
            </a:r>
          </a:p>
        </p:txBody>
      </p:sp>
      <p:sp>
        <p:nvSpPr>
          <p:cNvPr id="8" name="ZoneTexte 7">
            <a:extLst>
              <a:ext uri="{FF2B5EF4-FFF2-40B4-BE49-F238E27FC236}">
                <a16:creationId xmlns:a16="http://schemas.microsoft.com/office/drawing/2014/main" id="{AF07CA76-6531-AEF3-93B8-B06560C5F726}"/>
              </a:ext>
            </a:extLst>
          </p:cNvPr>
          <p:cNvSpPr txBox="1"/>
          <p:nvPr/>
        </p:nvSpPr>
        <p:spPr>
          <a:xfrm>
            <a:off x="138007" y="5669356"/>
            <a:ext cx="7324677" cy="954107"/>
          </a:xfrm>
          <a:prstGeom prst="rect">
            <a:avLst/>
          </a:prstGeom>
          <a:noFill/>
        </p:spPr>
        <p:txBody>
          <a:bodyPr wrap="square">
            <a:spAutoFit/>
          </a:bodyPr>
          <a:lstStyle/>
          <a:p>
            <a:r>
              <a:rPr lang="fr-FR" dirty="0">
                <a:solidFill>
                  <a:srgbClr val="FF0000"/>
                </a:solidFill>
                <a:latin typeface="+mn-lt"/>
              </a:rPr>
              <a:t> ✔</a:t>
            </a:r>
            <a:r>
              <a:rPr lang="fr-FR" dirty="0">
                <a:solidFill>
                  <a:schemeClr val="bg1"/>
                </a:solidFill>
                <a:latin typeface="+mn-lt"/>
              </a:rPr>
              <a:t> </a:t>
            </a:r>
            <a:r>
              <a:rPr lang="fr-FR" b="1" dirty="0">
                <a:solidFill>
                  <a:schemeClr val="bg1"/>
                </a:solidFill>
                <a:latin typeface="+mn-lt"/>
              </a:rPr>
              <a:t>Une grande partie de la production sert à l’élevage et aux biocarburants.</a:t>
            </a:r>
            <a:br>
              <a:rPr lang="fr-FR" dirty="0">
                <a:solidFill>
                  <a:schemeClr val="bg1"/>
                </a:solidFill>
                <a:latin typeface="+mn-lt"/>
              </a:rPr>
            </a:br>
            <a:r>
              <a:rPr lang="fr-FR" dirty="0">
                <a:solidFill>
                  <a:schemeClr val="bg1"/>
                </a:solidFill>
                <a:latin typeface="+mn-lt"/>
              </a:rPr>
              <a:t> </a:t>
            </a:r>
            <a:r>
              <a:rPr lang="fr-FR" dirty="0">
                <a:solidFill>
                  <a:srgbClr val="FF0000"/>
                </a:solidFill>
                <a:latin typeface="+mn-lt"/>
              </a:rPr>
              <a:t>✔</a:t>
            </a:r>
            <a:r>
              <a:rPr lang="fr-FR" dirty="0">
                <a:solidFill>
                  <a:schemeClr val="bg1"/>
                </a:solidFill>
                <a:latin typeface="+mn-lt"/>
              </a:rPr>
              <a:t> </a:t>
            </a:r>
            <a:r>
              <a:rPr lang="fr-FR" b="1" dirty="0">
                <a:solidFill>
                  <a:schemeClr val="bg1"/>
                </a:solidFill>
                <a:latin typeface="+mn-lt"/>
              </a:rPr>
              <a:t>Le gaspillage alimentaire représente une perte significative de ressources.</a:t>
            </a:r>
            <a:br>
              <a:rPr lang="fr-FR" dirty="0">
                <a:solidFill>
                  <a:schemeClr val="bg1"/>
                </a:solidFill>
                <a:latin typeface="+mn-lt"/>
              </a:rPr>
            </a:br>
            <a:r>
              <a:rPr lang="fr-FR" dirty="0">
                <a:solidFill>
                  <a:schemeClr val="bg1"/>
                </a:solidFill>
                <a:latin typeface="+mn-lt"/>
              </a:rPr>
              <a:t> </a:t>
            </a:r>
            <a:r>
              <a:rPr lang="fr-FR" dirty="0">
                <a:solidFill>
                  <a:srgbClr val="FF0000"/>
                </a:solidFill>
                <a:latin typeface="+mn-lt"/>
              </a:rPr>
              <a:t>✔</a:t>
            </a:r>
            <a:r>
              <a:rPr lang="fr-FR" dirty="0">
                <a:solidFill>
                  <a:schemeClr val="bg1"/>
                </a:solidFill>
                <a:latin typeface="+mn-lt"/>
              </a:rPr>
              <a:t> </a:t>
            </a:r>
            <a:r>
              <a:rPr lang="fr-FR" b="1" dirty="0">
                <a:solidFill>
                  <a:schemeClr val="bg1"/>
                </a:solidFill>
                <a:latin typeface="+mn-lt"/>
              </a:rPr>
              <a:t>L’optimisation de l’utilisation des ressources alimentaires permettrait de nourrir  plus de personnes.</a:t>
            </a:r>
            <a:endParaRPr lang="fr-FR" dirty="0">
              <a:solidFill>
                <a:schemeClr val="bg1"/>
              </a:solidFill>
              <a:latin typeface="+mn-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8"/>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5) Part de l’utilisation des principales céréales entre l’alimentation humaine et animale</a:t>
            </a:r>
            <a:endParaRPr/>
          </a:p>
        </p:txBody>
      </p:sp>
      <p:sp>
        <p:nvSpPr>
          <p:cNvPr id="175" name="Google Shape;175;p8"/>
          <p:cNvSpPr txBox="1">
            <a:spLocks noGrp="1"/>
          </p:cNvSpPr>
          <p:nvPr>
            <p:ph type="body" idx="1"/>
          </p:nvPr>
        </p:nvSpPr>
        <p:spPr>
          <a:xfrm>
            <a:off x="0" y="2097417"/>
            <a:ext cx="12155608" cy="3267063"/>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a:buNone/>
            </a:pPr>
            <a:r>
              <a:rPr lang="fr-FR" sz="1600" dirty="0">
                <a:latin typeface="+mn-lt"/>
              </a:rPr>
              <a:t>👉 </a:t>
            </a:r>
            <a:r>
              <a:rPr lang="fr-FR" sz="1600" b="1" dirty="0">
                <a:latin typeface="+mn-lt"/>
              </a:rPr>
              <a:t>Les céréales sont une ressource clé pour l’alimentation mondiale</a:t>
            </a:r>
            <a:r>
              <a:rPr lang="fr-FR" sz="1600" dirty="0">
                <a:latin typeface="+mn-lt"/>
              </a:rPr>
              <a:t>, mais elles sont utilisées de différentes manières.</a:t>
            </a:r>
          </a:p>
          <a:p>
            <a:pPr>
              <a:buNone/>
            </a:pPr>
            <a:r>
              <a:rPr lang="fr-FR" sz="1600" dirty="0">
                <a:latin typeface="+mn-lt"/>
              </a:rPr>
              <a:t>👉 En </a:t>
            </a:r>
            <a:r>
              <a:rPr lang="fr-FR" sz="1600" b="1" dirty="0">
                <a:latin typeface="+mn-lt"/>
              </a:rPr>
              <a:t>2017</a:t>
            </a:r>
            <a:r>
              <a:rPr lang="fr-FR" sz="1600" dirty="0">
                <a:latin typeface="+mn-lt"/>
              </a:rPr>
              <a:t>, leur répartition était la suivante :</a:t>
            </a:r>
          </a:p>
          <a:p>
            <a:pPr>
              <a:buNone/>
            </a:pPr>
            <a:r>
              <a:rPr lang="fr-FR" sz="1600" dirty="0">
                <a:latin typeface="+mn-lt"/>
              </a:rPr>
              <a:t>📌 </a:t>
            </a:r>
            <a:r>
              <a:rPr lang="fr-FR" sz="1600" b="1" dirty="0">
                <a:latin typeface="+mn-lt"/>
              </a:rPr>
              <a:t>Utilisation des céréales :</a:t>
            </a:r>
            <a:endParaRPr lang="fr-FR" sz="1600" dirty="0">
              <a:latin typeface="+mn-lt"/>
            </a:endParaRPr>
          </a:p>
          <a:p>
            <a:pPr>
              <a:buFont typeface="Arial" panose="020B0604020202020204" pitchFamily="34" charset="0"/>
              <a:buChar char="•"/>
            </a:pPr>
            <a:r>
              <a:rPr lang="fr-FR" sz="1600" b="1" dirty="0">
                <a:latin typeface="+mn-lt"/>
              </a:rPr>
              <a:t>42,91%</a:t>
            </a:r>
            <a:r>
              <a:rPr lang="fr-FR" sz="1600" dirty="0">
                <a:latin typeface="+mn-lt"/>
              </a:rPr>
              <a:t> ont été consommées par les </a:t>
            </a:r>
            <a:r>
              <a:rPr lang="fr-FR" sz="1600" b="1" dirty="0">
                <a:latin typeface="+mn-lt"/>
              </a:rPr>
              <a:t>humains</a:t>
            </a:r>
            <a:r>
              <a:rPr lang="fr-FR" sz="1600" dirty="0">
                <a:latin typeface="+mn-lt"/>
              </a:rPr>
              <a:t>.</a:t>
            </a:r>
          </a:p>
          <a:p>
            <a:pPr>
              <a:buFont typeface="Arial" panose="020B0604020202020204" pitchFamily="34" charset="0"/>
              <a:buChar char="•"/>
            </a:pPr>
            <a:r>
              <a:rPr lang="fr-FR" sz="1600" b="1" dirty="0">
                <a:latin typeface="+mn-lt"/>
              </a:rPr>
              <a:t>36,14%</a:t>
            </a:r>
            <a:r>
              <a:rPr lang="fr-FR" sz="1600" dirty="0">
                <a:latin typeface="+mn-lt"/>
              </a:rPr>
              <a:t> ont été utilisées pour </a:t>
            </a:r>
            <a:r>
              <a:rPr lang="fr-FR" sz="1600" b="1" dirty="0">
                <a:latin typeface="+mn-lt"/>
              </a:rPr>
              <a:t>l’alimentation animale</a:t>
            </a:r>
            <a:r>
              <a:rPr lang="fr-FR" sz="1600" dirty="0">
                <a:latin typeface="+mn-lt"/>
              </a:rPr>
              <a:t> (élevage).</a:t>
            </a:r>
          </a:p>
          <a:p>
            <a:pPr>
              <a:buFont typeface="Arial" panose="020B0604020202020204" pitchFamily="34" charset="0"/>
              <a:buChar char="•"/>
            </a:pPr>
            <a:r>
              <a:rPr lang="fr-FR" sz="1600" b="1" dirty="0">
                <a:latin typeface="+mn-lt"/>
              </a:rPr>
              <a:t>Le reste (≈ 21%)</a:t>
            </a:r>
            <a:r>
              <a:rPr lang="fr-FR" sz="1600" dirty="0">
                <a:latin typeface="+mn-lt"/>
              </a:rPr>
              <a:t> a été réparti entre : </a:t>
            </a:r>
          </a:p>
          <a:p>
            <a:pPr>
              <a:buFont typeface="Arial" panose="020B0604020202020204" pitchFamily="34" charset="0"/>
              <a:buChar char="•"/>
            </a:pPr>
            <a:r>
              <a:rPr lang="fr-FR" dirty="0">
                <a:latin typeface="+mn-lt"/>
              </a:rPr>
              <a:t>❌ </a:t>
            </a:r>
            <a:r>
              <a:rPr lang="fr-FR" b="1" dirty="0">
                <a:latin typeface="+mn-lt"/>
              </a:rPr>
              <a:t>Pertes alimentaires</a:t>
            </a:r>
          </a:p>
          <a:p>
            <a:pPr>
              <a:buFont typeface="Arial" panose="020B0604020202020204" pitchFamily="34" charset="0"/>
              <a:buChar char="•"/>
            </a:pPr>
            <a:r>
              <a:rPr lang="fr-FR" dirty="0">
                <a:latin typeface="+mn-lt"/>
              </a:rPr>
              <a:t>🌱 </a:t>
            </a:r>
            <a:r>
              <a:rPr lang="fr-FR" b="1" dirty="0">
                <a:latin typeface="+mn-lt"/>
              </a:rPr>
              <a:t>Semences</a:t>
            </a:r>
            <a:r>
              <a:rPr lang="fr-FR" dirty="0">
                <a:latin typeface="+mn-lt"/>
              </a:rPr>
              <a:t> pour de nouvelles cultures</a:t>
            </a:r>
          </a:p>
          <a:p>
            <a:pPr>
              <a:buFont typeface="Arial" panose="020B0604020202020204" pitchFamily="34" charset="0"/>
              <a:buChar char="•"/>
            </a:pPr>
            <a:r>
              <a:rPr lang="fr-FR" dirty="0">
                <a:latin typeface="+mn-lt"/>
              </a:rPr>
              <a:t>🏭 </a:t>
            </a:r>
            <a:r>
              <a:rPr lang="fr-FR" b="1" dirty="0">
                <a:latin typeface="+mn-lt"/>
              </a:rPr>
              <a:t>Usages industriels</a:t>
            </a:r>
            <a:r>
              <a:rPr lang="fr-FR" dirty="0">
                <a:latin typeface="+mn-lt"/>
              </a:rPr>
              <a:t> (biocarburants, alcool, produits non alimentaires)</a:t>
            </a:r>
          </a:p>
          <a:p>
            <a:pPr marL="114300" indent="0">
              <a:buNone/>
            </a:pPr>
            <a:r>
              <a:rPr lang="fr-FR" sz="1600" dirty="0">
                <a:latin typeface="+mn-lt"/>
              </a:rPr>
              <a:t>➡ </a:t>
            </a:r>
            <a:r>
              <a:rPr lang="fr-FR" sz="1600" b="1" dirty="0">
                <a:latin typeface="+mn-lt"/>
              </a:rPr>
              <a:t>Cela signifie qu’une part importante des céréales produites est détournée de la consommation humaine directe.</a:t>
            </a:r>
            <a:endParaRPr lang="fr-FR" sz="1600" dirty="0">
              <a:latin typeface="+mn-lt"/>
            </a:endParaRPr>
          </a:p>
          <a:p>
            <a:pPr marL="0" lvl="0" indent="0" algn="l" rtl="0">
              <a:lnSpc>
                <a:spcPct val="100000"/>
              </a:lnSpc>
              <a:spcBef>
                <a:spcPts val="0"/>
              </a:spcBef>
              <a:spcAft>
                <a:spcPts val="0"/>
              </a:spcAft>
              <a:buSzPts val="1800"/>
              <a:buNone/>
            </a:pPr>
            <a:endParaRPr dirty="0"/>
          </a:p>
        </p:txBody>
      </p:sp>
      <p:sp>
        <p:nvSpPr>
          <p:cNvPr id="3" name="ZoneTexte 2">
            <a:extLst>
              <a:ext uri="{FF2B5EF4-FFF2-40B4-BE49-F238E27FC236}">
                <a16:creationId xmlns:a16="http://schemas.microsoft.com/office/drawing/2014/main" id="{AD8D6F41-968E-0EAE-E9AA-9B7D919D04C6}"/>
              </a:ext>
            </a:extLst>
          </p:cNvPr>
          <p:cNvSpPr txBox="1"/>
          <p:nvPr/>
        </p:nvSpPr>
        <p:spPr>
          <a:xfrm>
            <a:off x="119796" y="5120629"/>
            <a:ext cx="11769528" cy="1169551"/>
          </a:xfrm>
          <a:prstGeom prst="rect">
            <a:avLst/>
          </a:prstGeom>
          <a:noFill/>
        </p:spPr>
        <p:txBody>
          <a:bodyPr wrap="square">
            <a:spAutoFit/>
          </a:bodyPr>
          <a:lstStyle/>
          <a:p>
            <a:r>
              <a:rPr lang="fr-FR" dirty="0">
                <a:solidFill>
                  <a:schemeClr val="bg1"/>
                </a:solidFill>
                <a:latin typeface="+mn-lt"/>
              </a:rPr>
              <a:t>📌 </a:t>
            </a:r>
            <a:r>
              <a:rPr lang="fr-FR" b="1" dirty="0">
                <a:solidFill>
                  <a:schemeClr val="bg1"/>
                </a:solidFill>
                <a:latin typeface="+mn-lt"/>
              </a:rPr>
              <a:t>Que nous montrent ces chiffres ?</a:t>
            </a:r>
            <a:br>
              <a:rPr lang="fr-FR" dirty="0">
                <a:solidFill>
                  <a:schemeClr val="bg1"/>
                </a:solidFill>
                <a:latin typeface="+mn-lt"/>
              </a:rPr>
            </a:br>
            <a:r>
              <a:rPr lang="fr-FR" dirty="0">
                <a:solidFill>
                  <a:schemeClr val="bg1"/>
                </a:solidFill>
                <a:latin typeface="+mn-lt"/>
              </a:rPr>
              <a:t>✔ </a:t>
            </a:r>
            <a:r>
              <a:rPr lang="fr-FR" b="1" dirty="0">
                <a:solidFill>
                  <a:schemeClr val="bg1"/>
                </a:solidFill>
                <a:latin typeface="+mn-lt"/>
              </a:rPr>
              <a:t>Une part importante de la production céréalière est utilisée pour nourrir le bétail.</a:t>
            </a:r>
            <a:br>
              <a:rPr lang="fr-FR" dirty="0">
                <a:solidFill>
                  <a:schemeClr val="bg1"/>
                </a:solidFill>
                <a:latin typeface="+mn-lt"/>
              </a:rPr>
            </a:br>
            <a:r>
              <a:rPr lang="fr-FR" dirty="0">
                <a:solidFill>
                  <a:schemeClr val="bg1"/>
                </a:solidFill>
                <a:latin typeface="+mn-lt"/>
              </a:rPr>
              <a:t>✔ </a:t>
            </a:r>
            <a:r>
              <a:rPr lang="fr-FR" b="1" dirty="0">
                <a:solidFill>
                  <a:schemeClr val="bg1"/>
                </a:solidFill>
                <a:latin typeface="+mn-lt"/>
              </a:rPr>
              <a:t>La consommation humaine est légèrement supérieure à l’alimentation animale, mais reste inférieure à 50%.</a:t>
            </a:r>
            <a:br>
              <a:rPr lang="fr-FR" dirty="0">
                <a:solidFill>
                  <a:schemeClr val="bg1"/>
                </a:solidFill>
                <a:latin typeface="+mn-lt"/>
              </a:rPr>
            </a:br>
            <a:r>
              <a:rPr lang="fr-FR" dirty="0">
                <a:solidFill>
                  <a:schemeClr val="bg1"/>
                </a:solidFill>
                <a:latin typeface="+mn-lt"/>
              </a:rPr>
              <a:t>✔ </a:t>
            </a:r>
            <a:r>
              <a:rPr lang="fr-FR" b="1" dirty="0">
                <a:solidFill>
                  <a:schemeClr val="bg1"/>
                </a:solidFill>
                <a:latin typeface="+mn-lt"/>
              </a:rPr>
              <a:t>Les pertes et usages non alimentaires représentent une proportion non négligeable.</a:t>
            </a:r>
            <a:br>
              <a:rPr lang="fr-FR" dirty="0">
                <a:solidFill>
                  <a:schemeClr val="bg1"/>
                </a:solidFill>
                <a:latin typeface="+mn-lt"/>
              </a:rPr>
            </a:br>
            <a:r>
              <a:rPr lang="fr-FR" dirty="0">
                <a:solidFill>
                  <a:schemeClr val="bg1"/>
                </a:solidFill>
                <a:latin typeface="+mn-lt"/>
              </a:rPr>
              <a:t>✔ </a:t>
            </a:r>
            <a:r>
              <a:rPr lang="fr-FR" b="1" dirty="0">
                <a:solidFill>
                  <a:schemeClr val="bg1"/>
                </a:solidFill>
                <a:latin typeface="+mn-lt"/>
              </a:rPr>
              <a:t>Réduire les pertes et optimiser l’utilisation des céréales pourrait renforcer la sécurité alimentaire mondiale.</a:t>
            </a:r>
            <a:endParaRPr lang="fr-FR" dirty="0">
              <a:solidFill>
                <a:schemeClr val="bg1"/>
              </a:solidFill>
              <a:latin typeface="+mn-lt"/>
            </a:endParaRPr>
          </a:p>
        </p:txBody>
      </p:sp>
      <p:sp>
        <p:nvSpPr>
          <p:cNvPr id="4" name="ZoneTexte 3">
            <a:extLst>
              <a:ext uri="{FF2B5EF4-FFF2-40B4-BE49-F238E27FC236}">
                <a16:creationId xmlns:a16="http://schemas.microsoft.com/office/drawing/2014/main" id="{A47BD707-63E3-54F2-3E19-454082426D28}"/>
              </a:ext>
            </a:extLst>
          </p:cNvPr>
          <p:cNvSpPr txBox="1"/>
          <p:nvPr/>
        </p:nvSpPr>
        <p:spPr>
          <a:xfrm>
            <a:off x="119796" y="6410812"/>
            <a:ext cx="11952408" cy="307777"/>
          </a:xfrm>
          <a:prstGeom prst="rect">
            <a:avLst/>
          </a:prstGeom>
          <a:noFill/>
        </p:spPr>
        <p:txBody>
          <a:bodyPr wrap="square" rtlCol="0">
            <a:spAutoFit/>
          </a:bodyPr>
          <a:lstStyle/>
          <a:p>
            <a:r>
              <a:rPr lang="fr-FR" dirty="0"/>
              <a:t>📌 </a:t>
            </a:r>
            <a:r>
              <a:rPr lang="fr-FR" b="1" dirty="0">
                <a:solidFill>
                  <a:schemeClr val="bg1"/>
                </a:solidFill>
                <a:latin typeface="+mn-lt"/>
              </a:rPr>
              <a:t>42,91% des céréales sont consommées par les humains et 36,14% servent à nourrir les animaux.</a:t>
            </a:r>
            <a:endParaRPr lang="fr-FR" dirty="0">
              <a:latin typeface="+mn-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9"/>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6) Liste des 10 pays où la proportion de personnes en état de sous-nutrition est la plus forte en </a:t>
            </a:r>
            <a:r>
              <a:rPr lang="fr-FR" sz="3200">
                <a:solidFill>
                  <a:schemeClr val="lt1"/>
                </a:solidFill>
              </a:rPr>
              <a:t>2017</a:t>
            </a:r>
            <a:endParaRPr/>
          </a:p>
        </p:txBody>
      </p:sp>
      <p:sp>
        <p:nvSpPr>
          <p:cNvPr id="182" name="Google Shape;182;p9"/>
          <p:cNvSpPr txBox="1">
            <a:spLocks noGrp="1"/>
          </p:cNvSpPr>
          <p:nvPr>
            <p:ph type="body" idx="1"/>
          </p:nvPr>
        </p:nvSpPr>
        <p:spPr>
          <a:xfrm>
            <a:off x="-111760" y="1544320"/>
            <a:ext cx="9707048" cy="4612640"/>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a:buNone/>
            </a:pPr>
            <a:r>
              <a:rPr lang="fr-FR" sz="1600" b="1" dirty="0">
                <a:latin typeface="+mn-lt"/>
              </a:rPr>
              <a:t>Les 10 pays ayant la plus forte proportion de personnes en état de sous-nutrition en 2017 sont :</a:t>
            </a:r>
            <a:endParaRPr lang="fr-FR" sz="1600" dirty="0">
              <a:latin typeface="+mn-lt"/>
            </a:endParaRPr>
          </a:p>
          <a:p>
            <a:pPr>
              <a:buFont typeface="+mj-lt"/>
              <a:buAutoNum type="arabicPeriod"/>
            </a:pPr>
            <a:r>
              <a:rPr lang="fr-FR" sz="1600" b="1" dirty="0">
                <a:latin typeface="+mn-lt"/>
              </a:rPr>
              <a:t>Haïti :</a:t>
            </a:r>
            <a:r>
              <a:rPr lang="fr-FR" sz="1600" dirty="0">
                <a:latin typeface="+mn-lt"/>
              </a:rPr>
              <a:t> 48,26 %</a:t>
            </a:r>
          </a:p>
          <a:p>
            <a:pPr>
              <a:buFont typeface="+mj-lt"/>
              <a:buAutoNum type="arabicPeriod"/>
            </a:pPr>
            <a:r>
              <a:rPr lang="fr-FR" sz="1600" b="1" dirty="0">
                <a:latin typeface="+mn-lt"/>
              </a:rPr>
              <a:t>République populaire démocratique de Corée (RPDC) :</a:t>
            </a:r>
            <a:r>
              <a:rPr lang="fr-FR" sz="1600" dirty="0">
                <a:latin typeface="+mn-lt"/>
              </a:rPr>
              <a:t> 47,18 %</a:t>
            </a:r>
          </a:p>
          <a:p>
            <a:pPr>
              <a:buFont typeface="+mj-lt"/>
              <a:buAutoNum type="arabicPeriod"/>
            </a:pPr>
            <a:r>
              <a:rPr lang="fr-FR" sz="1600" b="1" dirty="0">
                <a:latin typeface="+mn-lt"/>
              </a:rPr>
              <a:t>Madagascar :</a:t>
            </a:r>
            <a:r>
              <a:rPr lang="fr-FR" sz="1600" dirty="0">
                <a:latin typeface="+mn-lt"/>
              </a:rPr>
              <a:t> 41,06 %</a:t>
            </a:r>
          </a:p>
          <a:p>
            <a:pPr>
              <a:buFont typeface="+mj-lt"/>
              <a:buAutoNum type="arabicPeriod"/>
            </a:pPr>
            <a:r>
              <a:rPr lang="fr-FR" sz="1600" b="1" dirty="0">
                <a:latin typeface="+mn-lt"/>
              </a:rPr>
              <a:t>Libéria :</a:t>
            </a:r>
            <a:r>
              <a:rPr lang="fr-FR" sz="1600" dirty="0">
                <a:latin typeface="+mn-lt"/>
              </a:rPr>
              <a:t> 38,28 %</a:t>
            </a:r>
          </a:p>
          <a:p>
            <a:pPr>
              <a:buFont typeface="+mj-lt"/>
              <a:buAutoNum type="arabicPeriod"/>
            </a:pPr>
            <a:r>
              <a:rPr lang="fr-FR" sz="1600" b="1" dirty="0">
                <a:latin typeface="+mn-lt"/>
              </a:rPr>
              <a:t>Lesotho :</a:t>
            </a:r>
            <a:r>
              <a:rPr lang="fr-FR" sz="1600" dirty="0">
                <a:latin typeface="+mn-lt"/>
              </a:rPr>
              <a:t> 38,24 %</a:t>
            </a:r>
          </a:p>
          <a:p>
            <a:pPr>
              <a:buFont typeface="+mj-lt"/>
              <a:buAutoNum type="arabicPeriod"/>
            </a:pPr>
            <a:r>
              <a:rPr lang="fr-FR" sz="1600" b="1" dirty="0">
                <a:latin typeface="+mn-lt"/>
              </a:rPr>
              <a:t>Tchad :</a:t>
            </a:r>
            <a:r>
              <a:rPr lang="fr-FR" sz="1600" dirty="0">
                <a:latin typeface="+mn-lt"/>
              </a:rPr>
              <a:t> 37,96 %</a:t>
            </a:r>
          </a:p>
          <a:p>
            <a:pPr>
              <a:buFont typeface="+mj-lt"/>
              <a:buAutoNum type="arabicPeriod"/>
            </a:pPr>
            <a:r>
              <a:rPr lang="fr-FR" sz="1600" b="1" dirty="0">
                <a:latin typeface="+mn-lt"/>
              </a:rPr>
              <a:t>Rwanda :</a:t>
            </a:r>
            <a:r>
              <a:rPr lang="fr-FR" sz="1600" dirty="0">
                <a:latin typeface="+mn-lt"/>
              </a:rPr>
              <a:t> 35,06 %</a:t>
            </a:r>
          </a:p>
          <a:p>
            <a:pPr>
              <a:buFont typeface="+mj-lt"/>
              <a:buAutoNum type="arabicPeriod"/>
            </a:pPr>
            <a:r>
              <a:rPr lang="fr-FR" sz="1600" b="1" dirty="0">
                <a:latin typeface="+mn-lt"/>
              </a:rPr>
              <a:t>Mozambique :</a:t>
            </a:r>
            <a:r>
              <a:rPr lang="fr-FR" sz="1600" dirty="0">
                <a:latin typeface="+mn-lt"/>
              </a:rPr>
              <a:t> 32,81 %</a:t>
            </a:r>
          </a:p>
          <a:p>
            <a:pPr>
              <a:buFont typeface="+mj-lt"/>
              <a:buAutoNum type="arabicPeriod"/>
            </a:pPr>
            <a:r>
              <a:rPr lang="fr-FR" sz="1600" b="1" dirty="0">
                <a:latin typeface="+mn-lt"/>
              </a:rPr>
              <a:t>Timor-Leste :</a:t>
            </a:r>
            <a:r>
              <a:rPr lang="fr-FR" sz="1600" dirty="0">
                <a:latin typeface="+mn-lt"/>
              </a:rPr>
              <a:t> 32,17 %</a:t>
            </a:r>
          </a:p>
          <a:p>
            <a:pPr>
              <a:buFont typeface="+mj-lt"/>
              <a:buAutoNum type="arabicPeriod"/>
            </a:pPr>
            <a:r>
              <a:rPr lang="fr-FR" sz="1600" b="1" dirty="0">
                <a:latin typeface="+mn-lt"/>
              </a:rPr>
              <a:t>Afghanistan :</a:t>
            </a:r>
            <a:r>
              <a:rPr lang="fr-FR" sz="1600" dirty="0">
                <a:latin typeface="+mn-lt"/>
              </a:rPr>
              <a:t> 28,92 %</a:t>
            </a:r>
          </a:p>
          <a:p>
            <a:pPr marL="0" lvl="0" indent="0" algn="l" rtl="0">
              <a:lnSpc>
                <a:spcPct val="100000"/>
              </a:lnSpc>
              <a:spcBef>
                <a:spcPts val="0"/>
              </a:spcBef>
              <a:spcAft>
                <a:spcPts val="0"/>
              </a:spcAft>
              <a:buSzPts val="1800"/>
              <a:buNone/>
            </a:pPr>
            <a:endParaRPr dirty="0"/>
          </a:p>
        </p:txBody>
      </p:sp>
      <p:pic>
        <p:nvPicPr>
          <p:cNvPr id="3" name="Image 2">
            <a:extLst>
              <a:ext uri="{FF2B5EF4-FFF2-40B4-BE49-F238E27FC236}">
                <a16:creationId xmlns:a16="http://schemas.microsoft.com/office/drawing/2014/main" id="{35C457C7-E5C6-E38C-1934-9CD1D0C028F6}"/>
              </a:ext>
            </a:extLst>
          </p:cNvPr>
          <p:cNvPicPr>
            <a:picLocks noChangeAspect="1"/>
          </p:cNvPicPr>
          <p:nvPr/>
        </p:nvPicPr>
        <p:blipFill>
          <a:blip r:embed="rId3"/>
          <a:stretch>
            <a:fillRect/>
          </a:stretch>
        </p:blipFill>
        <p:spPr>
          <a:xfrm>
            <a:off x="6273101" y="3029619"/>
            <a:ext cx="5832494" cy="3474489"/>
          </a:xfrm>
          <a:prstGeom prst="rect">
            <a:avLst/>
          </a:prstGeom>
        </p:spPr>
      </p:pic>
      <p:sp>
        <p:nvSpPr>
          <p:cNvPr id="5" name="ZoneTexte 4">
            <a:extLst>
              <a:ext uri="{FF2B5EF4-FFF2-40B4-BE49-F238E27FC236}">
                <a16:creationId xmlns:a16="http://schemas.microsoft.com/office/drawing/2014/main" id="{8ADF5B9A-9AAB-D20F-FD9A-48E0E115E89D}"/>
              </a:ext>
            </a:extLst>
          </p:cNvPr>
          <p:cNvSpPr txBox="1"/>
          <p:nvPr/>
        </p:nvSpPr>
        <p:spPr>
          <a:xfrm>
            <a:off x="86405" y="6041480"/>
            <a:ext cx="10347915" cy="738664"/>
          </a:xfrm>
          <a:prstGeom prst="rect">
            <a:avLst/>
          </a:prstGeom>
          <a:noFill/>
        </p:spPr>
        <p:txBody>
          <a:bodyPr wrap="square">
            <a:spAutoFit/>
          </a:bodyPr>
          <a:lstStyle/>
          <a:p>
            <a:endParaRPr lang="fr-FR" dirty="0"/>
          </a:p>
          <a:p>
            <a:r>
              <a:rPr lang="fr-FR" dirty="0"/>
              <a:t>📌</a:t>
            </a:r>
            <a:r>
              <a:rPr lang="fr-FR" dirty="0">
                <a:solidFill>
                  <a:schemeClr val="bg1"/>
                </a:solidFill>
                <a:latin typeface="+mn-lt"/>
              </a:rPr>
              <a:t>Ce graphique présente les pays où la proportion de personnes en état    </a:t>
            </a:r>
          </a:p>
          <a:p>
            <a:r>
              <a:rPr lang="fr-FR" dirty="0">
                <a:solidFill>
                  <a:schemeClr val="bg1"/>
                </a:solidFill>
                <a:latin typeface="+mn-lt"/>
              </a:rPr>
              <a:t>     de sous-nutrition est la plus élevée en 2017, avec Haïti, la RPDC et Madagascar en tête.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0"/>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7) Liste des 10 pays qui ont le plus bénéficié de l’aide alimentaire entre 2013 et 2016</a:t>
            </a:r>
            <a:endParaRPr/>
          </a:p>
        </p:txBody>
      </p:sp>
      <p:sp>
        <p:nvSpPr>
          <p:cNvPr id="189" name="Google Shape;189;p10"/>
          <p:cNvSpPr txBox="1">
            <a:spLocks noGrp="1"/>
          </p:cNvSpPr>
          <p:nvPr>
            <p:ph type="body" idx="1"/>
          </p:nvPr>
        </p:nvSpPr>
        <p:spPr>
          <a:xfrm>
            <a:off x="127832" y="2062481"/>
            <a:ext cx="11710207" cy="4603790"/>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marL="114300" indent="0">
              <a:buNone/>
            </a:pPr>
            <a:r>
              <a:rPr lang="fr-FR" sz="1600" b="1" dirty="0">
                <a:latin typeface="+mn-lt"/>
              </a:rPr>
              <a:t>Top 10 des pays ayant reçu le plus d'aide alimentaire (2013-2016) :</a:t>
            </a:r>
            <a:r>
              <a:rPr lang="fr-FR" sz="1600" dirty="0">
                <a:latin typeface="+mn-lt"/>
              </a:rPr>
              <a:t> </a:t>
            </a:r>
          </a:p>
          <a:p>
            <a:pPr>
              <a:buFont typeface="+mj-lt"/>
              <a:buAutoNum type="arabicPeriod"/>
            </a:pPr>
            <a:r>
              <a:rPr lang="fr-FR" sz="1600" b="1" dirty="0">
                <a:latin typeface="+mn-lt"/>
              </a:rPr>
              <a:t>République arabe syrienne</a:t>
            </a:r>
            <a:r>
              <a:rPr lang="fr-FR" sz="1600" dirty="0">
                <a:latin typeface="+mn-lt"/>
              </a:rPr>
              <a:t> (18,58 milliards)</a:t>
            </a:r>
          </a:p>
          <a:p>
            <a:pPr>
              <a:buFont typeface="+mj-lt"/>
              <a:buAutoNum type="arabicPeriod"/>
            </a:pPr>
            <a:r>
              <a:rPr lang="fr-FR" sz="1600" b="1" dirty="0">
                <a:latin typeface="+mn-lt"/>
              </a:rPr>
              <a:t>Éthiopie</a:t>
            </a:r>
            <a:r>
              <a:rPr lang="fr-FR" sz="1600" dirty="0">
                <a:latin typeface="+mn-lt"/>
              </a:rPr>
              <a:t> (13,81 milliards)</a:t>
            </a:r>
          </a:p>
          <a:p>
            <a:pPr>
              <a:buFont typeface="+mj-lt"/>
              <a:buAutoNum type="arabicPeriod"/>
            </a:pPr>
            <a:r>
              <a:rPr lang="fr-FR" sz="1600" b="1" dirty="0">
                <a:latin typeface="+mn-lt"/>
              </a:rPr>
              <a:t>Yémen</a:t>
            </a:r>
            <a:r>
              <a:rPr lang="fr-FR" sz="1600" dirty="0">
                <a:latin typeface="+mn-lt"/>
              </a:rPr>
              <a:t> (12,86 milliards)</a:t>
            </a:r>
          </a:p>
          <a:p>
            <a:pPr>
              <a:buFont typeface="+mj-lt"/>
              <a:buAutoNum type="arabicPeriod"/>
            </a:pPr>
            <a:r>
              <a:rPr lang="fr-FR" sz="1600" b="1" dirty="0">
                <a:latin typeface="+mn-lt"/>
              </a:rPr>
              <a:t>Soudan du Sud</a:t>
            </a:r>
            <a:r>
              <a:rPr lang="fr-FR" sz="1600" dirty="0">
                <a:latin typeface="+mn-lt"/>
              </a:rPr>
              <a:t> (6,95 milliards)</a:t>
            </a:r>
          </a:p>
          <a:p>
            <a:pPr>
              <a:buFont typeface="+mj-lt"/>
              <a:buAutoNum type="arabicPeriod"/>
            </a:pPr>
            <a:r>
              <a:rPr lang="fr-FR" sz="1600" b="1" dirty="0">
                <a:latin typeface="+mn-lt"/>
              </a:rPr>
              <a:t>Soudan</a:t>
            </a:r>
            <a:r>
              <a:rPr lang="fr-FR" sz="1600" dirty="0">
                <a:latin typeface="+mn-lt"/>
              </a:rPr>
              <a:t> (5,69 milliards)</a:t>
            </a:r>
          </a:p>
          <a:p>
            <a:pPr>
              <a:buFont typeface="+mj-lt"/>
              <a:buAutoNum type="arabicPeriod"/>
            </a:pPr>
            <a:r>
              <a:rPr lang="fr-FR" sz="1600" b="1" dirty="0">
                <a:latin typeface="+mn-lt"/>
              </a:rPr>
              <a:t>Kenya</a:t>
            </a:r>
            <a:r>
              <a:rPr lang="fr-FR" sz="1600" dirty="0">
                <a:latin typeface="+mn-lt"/>
              </a:rPr>
              <a:t> (5,52 milliards)</a:t>
            </a:r>
          </a:p>
          <a:p>
            <a:pPr>
              <a:buFont typeface="+mj-lt"/>
              <a:buAutoNum type="arabicPeriod"/>
            </a:pPr>
            <a:r>
              <a:rPr lang="fr-FR" sz="1600" b="1" dirty="0">
                <a:latin typeface="+mn-lt"/>
              </a:rPr>
              <a:t>Bangladesh</a:t>
            </a:r>
            <a:r>
              <a:rPr lang="fr-FR" sz="1600" dirty="0">
                <a:latin typeface="+mn-lt"/>
              </a:rPr>
              <a:t> (3,48 milliards)</a:t>
            </a:r>
          </a:p>
          <a:p>
            <a:pPr>
              <a:buFont typeface="+mj-lt"/>
              <a:buAutoNum type="arabicPeriod"/>
            </a:pPr>
            <a:r>
              <a:rPr lang="fr-FR" sz="1600" b="1" dirty="0">
                <a:latin typeface="+mn-lt"/>
              </a:rPr>
              <a:t>Somalie</a:t>
            </a:r>
            <a:r>
              <a:rPr lang="fr-FR" sz="1600" dirty="0">
                <a:latin typeface="+mn-lt"/>
              </a:rPr>
              <a:t> (2,92 milliards)</a:t>
            </a:r>
          </a:p>
          <a:p>
            <a:pPr>
              <a:buFont typeface="+mj-lt"/>
              <a:buAutoNum type="arabicPeriod"/>
            </a:pPr>
            <a:r>
              <a:rPr lang="fr-FR" sz="1600" b="1" dirty="0">
                <a:latin typeface="+mn-lt"/>
              </a:rPr>
              <a:t>République Démocratique du Congo</a:t>
            </a:r>
            <a:r>
              <a:rPr lang="fr-FR" sz="1600" dirty="0">
                <a:latin typeface="+mn-lt"/>
              </a:rPr>
              <a:t> (2,88 milliards)</a:t>
            </a:r>
          </a:p>
          <a:p>
            <a:pPr>
              <a:buFont typeface="+mj-lt"/>
              <a:buAutoNum type="arabicPeriod"/>
            </a:pPr>
            <a:r>
              <a:rPr lang="fr-FR" sz="1600" b="1" dirty="0">
                <a:latin typeface="+mn-lt"/>
              </a:rPr>
              <a:t>Niger</a:t>
            </a:r>
            <a:r>
              <a:rPr lang="fr-FR" sz="1600" dirty="0">
                <a:latin typeface="+mn-lt"/>
              </a:rPr>
              <a:t> (2,76 milliards)</a:t>
            </a:r>
          </a:p>
          <a:p>
            <a:pPr marL="0" lvl="0" indent="0" algn="l" rtl="0">
              <a:lnSpc>
                <a:spcPct val="100000"/>
              </a:lnSpc>
              <a:spcBef>
                <a:spcPts val="0"/>
              </a:spcBef>
              <a:spcAft>
                <a:spcPts val="0"/>
              </a:spcAft>
              <a:buSzPts val="1800"/>
              <a:buNone/>
            </a:pP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2233f607d43_0_0"/>
          <p:cNvSpPr txBox="1">
            <a:spLocks noGrp="1"/>
          </p:cNvSpPr>
          <p:nvPr>
            <p:ph type="title"/>
          </p:nvPr>
        </p:nvSpPr>
        <p:spPr>
          <a:xfrm>
            <a:off x="810000" y="447188"/>
            <a:ext cx="10572000" cy="97050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8) Évolution de l’aide alimentaire pour les 5 pays qui en ont le plus bénéficié entre 2013 et 2016</a:t>
            </a:r>
            <a:endParaRPr/>
          </a:p>
        </p:txBody>
      </p:sp>
      <p:pic>
        <p:nvPicPr>
          <p:cNvPr id="3" name="Image 2">
            <a:extLst>
              <a:ext uri="{FF2B5EF4-FFF2-40B4-BE49-F238E27FC236}">
                <a16:creationId xmlns:a16="http://schemas.microsoft.com/office/drawing/2014/main" id="{CA5EEEFF-B6A4-148B-253D-D6BB72CB815F}"/>
              </a:ext>
            </a:extLst>
          </p:cNvPr>
          <p:cNvPicPr>
            <a:picLocks noChangeAspect="1"/>
          </p:cNvPicPr>
          <p:nvPr/>
        </p:nvPicPr>
        <p:blipFill>
          <a:blip r:embed="rId3"/>
          <a:stretch>
            <a:fillRect/>
          </a:stretch>
        </p:blipFill>
        <p:spPr>
          <a:xfrm>
            <a:off x="3047364" y="2006316"/>
            <a:ext cx="6097272" cy="3903240"/>
          </a:xfrm>
          <a:prstGeom prst="rect">
            <a:avLst/>
          </a:prstGeom>
        </p:spPr>
      </p:pic>
      <p:sp>
        <p:nvSpPr>
          <p:cNvPr id="4" name="ZoneTexte 3">
            <a:extLst>
              <a:ext uri="{FF2B5EF4-FFF2-40B4-BE49-F238E27FC236}">
                <a16:creationId xmlns:a16="http://schemas.microsoft.com/office/drawing/2014/main" id="{6F8BDC6D-65D8-6CA9-727C-188482D8896A}"/>
              </a:ext>
            </a:extLst>
          </p:cNvPr>
          <p:cNvSpPr txBox="1"/>
          <p:nvPr/>
        </p:nvSpPr>
        <p:spPr>
          <a:xfrm>
            <a:off x="394437" y="5909556"/>
            <a:ext cx="11148633" cy="954107"/>
          </a:xfrm>
          <a:prstGeom prst="rect">
            <a:avLst/>
          </a:prstGeom>
          <a:noFill/>
        </p:spPr>
        <p:txBody>
          <a:bodyPr wrap="square">
            <a:spAutoFit/>
          </a:bodyPr>
          <a:lstStyle/>
          <a:p>
            <a:pPr>
              <a:buNone/>
            </a:pPr>
            <a:r>
              <a:rPr lang="fr-FR" dirty="0"/>
              <a:t>📌</a:t>
            </a:r>
            <a:r>
              <a:rPr lang="fr-FR" dirty="0">
                <a:solidFill>
                  <a:schemeClr val="bg1"/>
                </a:solidFill>
              </a:rPr>
              <a:t>Ces pays sont parmi les plus vulnérables à l'insécurité alimentaire. Les principales raisons de cette dépendance sont :</a:t>
            </a:r>
          </a:p>
          <a:p>
            <a:pPr marL="285750" indent="-285750">
              <a:buFont typeface="Arial" panose="020B0604020202020204" pitchFamily="34" charset="0"/>
              <a:buChar char="•"/>
            </a:pPr>
            <a:r>
              <a:rPr lang="fr-FR" b="1" dirty="0">
                <a:solidFill>
                  <a:schemeClr val="bg1"/>
                </a:solidFill>
              </a:rPr>
              <a:t>Conflits et guerres civiles</a:t>
            </a:r>
            <a:r>
              <a:rPr lang="fr-FR" dirty="0">
                <a:solidFill>
                  <a:schemeClr val="bg1"/>
                </a:solidFill>
              </a:rPr>
              <a:t> (Syrie, Yémen, Soudan du Sud, RDC, Somalie).</a:t>
            </a:r>
          </a:p>
          <a:p>
            <a:pPr marL="285750" indent="-285750">
              <a:buFont typeface="Arial" panose="020B0604020202020204" pitchFamily="34" charset="0"/>
              <a:buChar char="•"/>
            </a:pPr>
            <a:r>
              <a:rPr lang="fr-FR" b="1" dirty="0">
                <a:solidFill>
                  <a:schemeClr val="bg1"/>
                </a:solidFill>
              </a:rPr>
              <a:t>Crises climatiques et sécheresses</a:t>
            </a:r>
            <a:r>
              <a:rPr lang="fr-FR" dirty="0">
                <a:solidFill>
                  <a:schemeClr val="bg1"/>
                </a:solidFill>
              </a:rPr>
              <a:t> (Éthiopie, Kenya, Niger).</a:t>
            </a:r>
          </a:p>
          <a:p>
            <a:pPr marL="285750" indent="-285750">
              <a:buFont typeface="Arial" panose="020B0604020202020204" pitchFamily="34" charset="0"/>
              <a:buChar char="•"/>
            </a:pPr>
            <a:r>
              <a:rPr lang="fr-FR" b="1" dirty="0">
                <a:solidFill>
                  <a:schemeClr val="bg1"/>
                </a:solidFill>
              </a:rPr>
              <a:t>Pauvreté extrême et manque d'infrastructures</a:t>
            </a:r>
            <a:r>
              <a:rPr lang="fr-FR" dirty="0">
                <a:solidFill>
                  <a:schemeClr val="bg1"/>
                </a:solidFill>
              </a:rPr>
              <a:t> (Bangladesh, Soudan).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1"/>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9) Liste des 10 pays qui ont la plus forte disponibilité alimentaire par habitant</a:t>
            </a:r>
            <a:endParaRPr sz="3200"/>
          </a:p>
        </p:txBody>
      </p:sp>
      <p:sp>
        <p:nvSpPr>
          <p:cNvPr id="203" name="Google Shape;203;p11"/>
          <p:cNvSpPr txBox="1">
            <a:spLocks noGrp="1"/>
          </p:cNvSpPr>
          <p:nvPr>
            <p:ph type="body" idx="1"/>
          </p:nvPr>
        </p:nvSpPr>
        <p:spPr>
          <a:xfrm>
            <a:off x="110789" y="1937151"/>
            <a:ext cx="11963223" cy="3636511"/>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a:buNone/>
            </a:pPr>
            <a:r>
              <a:rPr lang="fr-FR" sz="1600" dirty="0">
                <a:latin typeface="+mn-lt"/>
              </a:rPr>
              <a:t>Les pays avec la plus haute disponibilité sont principalement des pays développés ou ayant une forte production agricole. Les valeurs sont largement supérieures aux </a:t>
            </a:r>
            <a:r>
              <a:rPr lang="fr-FR" sz="1600" b="1" dirty="0">
                <a:latin typeface="+mn-lt"/>
              </a:rPr>
              <a:t>besoins quotidiens recommandés</a:t>
            </a:r>
            <a:r>
              <a:rPr lang="fr-FR" sz="1600" dirty="0">
                <a:latin typeface="+mn-lt"/>
              </a:rPr>
              <a:t> (environ </a:t>
            </a:r>
            <a:r>
              <a:rPr lang="fr-FR" sz="1600" b="1" dirty="0">
                <a:latin typeface="+mn-lt"/>
              </a:rPr>
              <a:t>2500 kcal/personne/jour</a:t>
            </a:r>
            <a:r>
              <a:rPr lang="fr-FR" sz="1600" dirty="0">
                <a:latin typeface="+mn-lt"/>
              </a:rPr>
              <a:t>).</a:t>
            </a:r>
          </a:p>
          <a:p>
            <a:pPr>
              <a:buNone/>
            </a:pPr>
            <a:endParaRPr lang="fr-FR" sz="1600" dirty="0">
              <a:latin typeface="+mn-lt"/>
            </a:endParaRPr>
          </a:p>
          <a:p>
            <a:pPr>
              <a:buNone/>
            </a:pPr>
            <a:r>
              <a:rPr lang="fr-FR" sz="1600" b="1" dirty="0">
                <a:latin typeface="+mn-lt"/>
              </a:rPr>
              <a:t>Top 3 :</a:t>
            </a:r>
            <a:endParaRPr lang="fr-FR" sz="1600" dirty="0">
              <a:latin typeface="+mn-lt"/>
            </a:endParaRPr>
          </a:p>
          <a:p>
            <a:pPr>
              <a:buFont typeface="+mj-lt"/>
              <a:buAutoNum type="arabicPeriod"/>
            </a:pPr>
            <a:r>
              <a:rPr lang="fr-FR" sz="1600" b="1" dirty="0">
                <a:latin typeface="+mn-lt"/>
              </a:rPr>
              <a:t>Autriche :</a:t>
            </a:r>
            <a:r>
              <a:rPr lang="fr-FR" sz="1600" dirty="0">
                <a:latin typeface="+mn-lt"/>
              </a:rPr>
              <a:t> 3770 kcal/personne/jour</a:t>
            </a:r>
          </a:p>
          <a:p>
            <a:pPr>
              <a:buFont typeface="+mj-lt"/>
              <a:buAutoNum type="arabicPeriod"/>
            </a:pPr>
            <a:r>
              <a:rPr lang="fr-FR" sz="1600" b="1" dirty="0">
                <a:latin typeface="+mn-lt"/>
              </a:rPr>
              <a:t>Belgique :</a:t>
            </a:r>
            <a:r>
              <a:rPr lang="fr-FR" sz="1600" dirty="0">
                <a:latin typeface="+mn-lt"/>
              </a:rPr>
              <a:t> 3737 kcal/personne/jour</a:t>
            </a:r>
          </a:p>
          <a:p>
            <a:pPr>
              <a:buFont typeface="+mj-lt"/>
              <a:buAutoNum type="arabicPeriod"/>
            </a:pPr>
            <a:r>
              <a:rPr lang="fr-FR" sz="1600" b="1" dirty="0">
                <a:latin typeface="+mn-lt"/>
              </a:rPr>
              <a:t>Turquie :</a:t>
            </a:r>
            <a:r>
              <a:rPr lang="fr-FR" sz="1600" dirty="0">
                <a:latin typeface="+mn-lt"/>
              </a:rPr>
              <a:t> 3708 kcal/personne/jour</a:t>
            </a:r>
          </a:p>
          <a:p>
            <a:pPr>
              <a:buFont typeface="+mj-lt"/>
              <a:buAutoNum type="arabicPeriod"/>
            </a:pPr>
            <a:endParaRPr lang="fr-FR" sz="1600" dirty="0">
              <a:latin typeface="+mn-lt"/>
            </a:endParaRPr>
          </a:p>
          <a:p>
            <a:pPr marL="114300" indent="0">
              <a:buNone/>
            </a:pPr>
            <a:r>
              <a:rPr lang="fr-FR" sz="1600" dirty="0">
                <a:latin typeface="+mn-lt"/>
              </a:rPr>
              <a:t>📌Ces pays disposent en moyenne de plus de </a:t>
            </a:r>
            <a:r>
              <a:rPr lang="fr-FR" sz="1600" b="1" dirty="0">
                <a:latin typeface="+mn-lt"/>
              </a:rPr>
              <a:t>3500 kcal/personne/jour</a:t>
            </a:r>
            <a:r>
              <a:rPr lang="fr-FR" sz="1600" dirty="0">
                <a:latin typeface="+mn-lt"/>
              </a:rPr>
              <a:t>.</a:t>
            </a:r>
            <a:br>
              <a:rPr lang="fr-FR" sz="1600" dirty="0">
                <a:latin typeface="+mn-lt"/>
              </a:rPr>
            </a:br>
            <a:r>
              <a:rPr lang="fr-FR" sz="1600" dirty="0">
                <a:latin typeface="+mn-lt"/>
              </a:rPr>
              <a:t>     Cela signifie qu'il n'y a pas de problème de production mais plutôt</a:t>
            </a:r>
          </a:p>
          <a:p>
            <a:pPr marL="114300" indent="0">
              <a:buNone/>
            </a:pPr>
            <a:r>
              <a:rPr lang="fr-FR" sz="1600" dirty="0">
                <a:latin typeface="+mn-lt"/>
              </a:rPr>
              <a:t>     une question de répartition ou d'accès à la nourriture.</a:t>
            </a:r>
          </a:p>
          <a:p>
            <a:pPr marL="0" lvl="0" indent="0" algn="l" rtl="0">
              <a:lnSpc>
                <a:spcPct val="100000"/>
              </a:lnSpc>
              <a:spcBef>
                <a:spcPts val="0"/>
              </a:spcBef>
              <a:spcAft>
                <a:spcPts val="0"/>
              </a:spcAft>
              <a:buSzPts val="1800"/>
              <a:buNone/>
            </a:pPr>
            <a:endParaRPr dirty="0"/>
          </a:p>
        </p:txBody>
      </p:sp>
      <p:sp>
        <p:nvSpPr>
          <p:cNvPr id="3" name="ZoneTexte 2">
            <a:extLst>
              <a:ext uri="{FF2B5EF4-FFF2-40B4-BE49-F238E27FC236}">
                <a16:creationId xmlns:a16="http://schemas.microsoft.com/office/drawing/2014/main" id="{4B04E5BE-2B4E-AA44-B031-5B5B129CF9DB}"/>
              </a:ext>
            </a:extLst>
          </p:cNvPr>
          <p:cNvSpPr txBox="1"/>
          <p:nvPr/>
        </p:nvSpPr>
        <p:spPr>
          <a:xfrm>
            <a:off x="385915" y="6410812"/>
            <a:ext cx="10154265" cy="307777"/>
          </a:xfrm>
          <a:prstGeom prst="rect">
            <a:avLst/>
          </a:prstGeom>
          <a:noFill/>
        </p:spPr>
        <p:txBody>
          <a:bodyPr wrap="square">
            <a:spAutoFit/>
          </a:bodyPr>
          <a:lstStyle/>
          <a:p>
            <a:r>
              <a:rPr lang="fr-FR" dirty="0">
                <a:solidFill>
                  <a:schemeClr val="bg1"/>
                </a:solidFill>
                <a:latin typeface="+mn-lt"/>
              </a:rPr>
              <a:t>Le graphique ci-dessus montre les </a:t>
            </a:r>
            <a:r>
              <a:rPr lang="fr-FR" b="1" dirty="0">
                <a:solidFill>
                  <a:schemeClr val="bg1"/>
                </a:solidFill>
                <a:latin typeface="+mn-lt"/>
              </a:rPr>
              <a:t>10 pays avec la plus forte disponibilité alimentaire par habitant en 2017</a:t>
            </a:r>
            <a:r>
              <a:rPr lang="fr-FR" dirty="0">
                <a:solidFill>
                  <a:schemeClr val="bg1"/>
                </a:solidFill>
                <a:latin typeface="+mn-lt"/>
              </a:rPr>
              <a:t>.</a:t>
            </a:r>
          </a:p>
        </p:txBody>
      </p:sp>
      <p:pic>
        <p:nvPicPr>
          <p:cNvPr id="5" name="Image 4">
            <a:extLst>
              <a:ext uri="{FF2B5EF4-FFF2-40B4-BE49-F238E27FC236}">
                <a16:creationId xmlns:a16="http://schemas.microsoft.com/office/drawing/2014/main" id="{A7515725-7696-E14E-40FC-B13377E943FB}"/>
              </a:ext>
            </a:extLst>
          </p:cNvPr>
          <p:cNvPicPr>
            <a:picLocks noChangeAspect="1"/>
          </p:cNvPicPr>
          <p:nvPr/>
        </p:nvPicPr>
        <p:blipFill>
          <a:blip r:embed="rId3"/>
          <a:stretch>
            <a:fillRect/>
          </a:stretch>
        </p:blipFill>
        <p:spPr>
          <a:xfrm>
            <a:off x="6983615" y="3500284"/>
            <a:ext cx="5183804" cy="291052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2"/>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9) Liste des 10 pays qui ont la plus faible disponibilité alimentaire par habitant</a:t>
            </a:r>
            <a:endParaRPr/>
          </a:p>
        </p:txBody>
      </p:sp>
      <p:sp>
        <p:nvSpPr>
          <p:cNvPr id="210" name="Google Shape;210;p12"/>
          <p:cNvSpPr txBox="1">
            <a:spLocks noGrp="1"/>
          </p:cNvSpPr>
          <p:nvPr>
            <p:ph type="body" idx="1"/>
          </p:nvPr>
        </p:nvSpPr>
        <p:spPr>
          <a:xfrm>
            <a:off x="0" y="2249928"/>
            <a:ext cx="9908277" cy="3500283"/>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a:buNone/>
            </a:pPr>
            <a:r>
              <a:rPr lang="fr-FR" sz="1600" b="1" dirty="0">
                <a:latin typeface="+mn-lt"/>
              </a:rPr>
              <a:t>Les 10 pays avec la plus faible disponibilité alimentaire par habitant en 2017 :</a:t>
            </a:r>
          </a:p>
          <a:p>
            <a:pPr>
              <a:buFont typeface="+mj-lt"/>
              <a:buAutoNum type="arabicPeriod"/>
            </a:pPr>
            <a:r>
              <a:rPr lang="fr-FR" sz="1600" b="1" dirty="0">
                <a:latin typeface="+mn-lt"/>
              </a:rPr>
              <a:t>République Centrafricaine :</a:t>
            </a:r>
            <a:r>
              <a:rPr lang="fr-FR" sz="1600" dirty="0">
                <a:latin typeface="+mn-lt"/>
              </a:rPr>
              <a:t> 1879 kcal/personne/jour</a:t>
            </a:r>
          </a:p>
          <a:p>
            <a:pPr>
              <a:buFont typeface="+mj-lt"/>
              <a:buAutoNum type="arabicPeriod"/>
            </a:pPr>
            <a:r>
              <a:rPr lang="fr-FR" sz="1600" b="1" dirty="0">
                <a:latin typeface="+mn-lt"/>
              </a:rPr>
              <a:t>Zambie :</a:t>
            </a:r>
            <a:r>
              <a:rPr lang="fr-FR" sz="1600" dirty="0">
                <a:latin typeface="+mn-lt"/>
              </a:rPr>
              <a:t> 1924 kcal/personne/jour</a:t>
            </a:r>
          </a:p>
          <a:p>
            <a:pPr>
              <a:buFont typeface="+mj-lt"/>
              <a:buAutoNum type="arabicPeriod"/>
            </a:pPr>
            <a:r>
              <a:rPr lang="fr-FR" sz="1600" b="1" dirty="0">
                <a:latin typeface="+mn-lt"/>
              </a:rPr>
              <a:t>Madagascar :</a:t>
            </a:r>
            <a:r>
              <a:rPr lang="fr-FR" sz="1600" dirty="0">
                <a:latin typeface="+mn-lt"/>
              </a:rPr>
              <a:t> 2056 kcal/personne/jour</a:t>
            </a:r>
          </a:p>
          <a:p>
            <a:pPr>
              <a:buFont typeface="+mj-lt"/>
              <a:buAutoNum type="arabicPeriod"/>
            </a:pPr>
            <a:r>
              <a:rPr lang="fr-FR" sz="1600" b="1" dirty="0">
                <a:latin typeface="+mn-lt"/>
              </a:rPr>
              <a:t>Afghanistan :</a:t>
            </a:r>
            <a:r>
              <a:rPr lang="fr-FR" sz="1600" dirty="0">
                <a:latin typeface="+mn-lt"/>
              </a:rPr>
              <a:t> 2087 kcal/personne/jour</a:t>
            </a:r>
          </a:p>
          <a:p>
            <a:pPr>
              <a:buFont typeface="+mj-lt"/>
              <a:buAutoNum type="arabicPeriod"/>
            </a:pPr>
            <a:r>
              <a:rPr lang="fr-FR" sz="1600" b="1" dirty="0">
                <a:latin typeface="+mn-lt"/>
              </a:rPr>
              <a:t>Haïti :</a:t>
            </a:r>
            <a:r>
              <a:rPr lang="fr-FR" sz="1600" dirty="0">
                <a:latin typeface="+mn-lt"/>
              </a:rPr>
              <a:t> 2089 kcal/personne/jour</a:t>
            </a:r>
          </a:p>
          <a:p>
            <a:pPr>
              <a:buFont typeface="+mj-lt"/>
              <a:buAutoNum type="arabicPeriod"/>
            </a:pPr>
            <a:r>
              <a:rPr lang="fr-FR" sz="1600" b="1" dirty="0">
                <a:latin typeface="+mn-lt"/>
              </a:rPr>
              <a:t>Corée (RPDC) :</a:t>
            </a:r>
            <a:r>
              <a:rPr lang="fr-FR" sz="1600" dirty="0">
                <a:latin typeface="+mn-lt"/>
              </a:rPr>
              <a:t> 2093 kcal/personne/jour</a:t>
            </a:r>
          </a:p>
          <a:p>
            <a:pPr>
              <a:buFont typeface="+mj-lt"/>
              <a:buAutoNum type="arabicPeriod"/>
            </a:pPr>
            <a:r>
              <a:rPr lang="fr-FR" sz="1600" b="1" dirty="0">
                <a:latin typeface="+mn-lt"/>
              </a:rPr>
              <a:t>Tchad :</a:t>
            </a:r>
            <a:r>
              <a:rPr lang="fr-FR" sz="1600" dirty="0">
                <a:latin typeface="+mn-lt"/>
              </a:rPr>
              <a:t> 2109 kcal/personne/jour</a:t>
            </a:r>
          </a:p>
          <a:p>
            <a:pPr>
              <a:buFont typeface="+mj-lt"/>
              <a:buAutoNum type="arabicPeriod"/>
            </a:pPr>
            <a:r>
              <a:rPr lang="fr-FR" sz="1600" b="1" dirty="0">
                <a:latin typeface="+mn-lt"/>
              </a:rPr>
              <a:t>Zimbabwe :</a:t>
            </a:r>
            <a:r>
              <a:rPr lang="fr-FR" sz="1600" dirty="0">
                <a:latin typeface="+mn-lt"/>
              </a:rPr>
              <a:t> 2113 kcal/personne/jour</a:t>
            </a:r>
          </a:p>
          <a:p>
            <a:pPr>
              <a:buFont typeface="+mj-lt"/>
              <a:buAutoNum type="arabicPeriod"/>
            </a:pPr>
            <a:r>
              <a:rPr lang="fr-FR" sz="1600" b="1" dirty="0">
                <a:latin typeface="+mn-lt"/>
              </a:rPr>
              <a:t>Ouganda :</a:t>
            </a:r>
            <a:r>
              <a:rPr lang="fr-FR" sz="1600" dirty="0">
                <a:latin typeface="+mn-lt"/>
              </a:rPr>
              <a:t> 2126 kcal/personne/jour</a:t>
            </a:r>
          </a:p>
          <a:p>
            <a:pPr>
              <a:buFont typeface="+mj-lt"/>
              <a:buAutoNum type="arabicPeriod"/>
            </a:pPr>
            <a:r>
              <a:rPr lang="fr-FR" sz="1600" b="1" dirty="0">
                <a:latin typeface="+mn-lt"/>
              </a:rPr>
              <a:t>Timor-Leste :</a:t>
            </a:r>
            <a:r>
              <a:rPr lang="fr-FR" sz="1600" dirty="0">
                <a:latin typeface="+mn-lt"/>
              </a:rPr>
              <a:t> 2129 kcal/personne/jour</a:t>
            </a:r>
          </a:p>
          <a:p>
            <a:pPr marL="0" lvl="0" indent="0" algn="l" rtl="0">
              <a:lnSpc>
                <a:spcPct val="100000"/>
              </a:lnSpc>
              <a:spcBef>
                <a:spcPts val="0"/>
              </a:spcBef>
              <a:spcAft>
                <a:spcPts val="0"/>
              </a:spcAft>
              <a:buSzPts val="1800"/>
              <a:buNone/>
            </a:pPr>
            <a:endParaRPr dirty="0"/>
          </a:p>
        </p:txBody>
      </p:sp>
      <p:sp>
        <p:nvSpPr>
          <p:cNvPr id="3" name="ZoneTexte 2">
            <a:extLst>
              <a:ext uri="{FF2B5EF4-FFF2-40B4-BE49-F238E27FC236}">
                <a16:creationId xmlns:a16="http://schemas.microsoft.com/office/drawing/2014/main" id="{A7FC256E-15E8-EBC5-4B0B-337D0E7087A3}"/>
              </a:ext>
            </a:extLst>
          </p:cNvPr>
          <p:cNvSpPr txBox="1"/>
          <p:nvPr/>
        </p:nvSpPr>
        <p:spPr>
          <a:xfrm>
            <a:off x="0" y="5525729"/>
            <a:ext cx="12192000" cy="1169551"/>
          </a:xfrm>
          <a:prstGeom prst="rect">
            <a:avLst/>
          </a:prstGeom>
          <a:noFill/>
        </p:spPr>
        <p:txBody>
          <a:bodyPr wrap="square">
            <a:spAutoFit/>
          </a:bodyPr>
          <a:lstStyle/>
          <a:p>
            <a:pPr>
              <a:buNone/>
            </a:pPr>
            <a:r>
              <a:rPr lang="fr-FR" dirty="0"/>
              <a:t>📌</a:t>
            </a:r>
            <a:r>
              <a:rPr lang="fr-FR" dirty="0">
                <a:solidFill>
                  <a:schemeClr val="bg1"/>
                </a:solidFill>
              </a:rPr>
              <a:t>Ces pays consomment en moyenne moins de </a:t>
            </a:r>
            <a:r>
              <a:rPr lang="fr-FR" b="1" dirty="0">
                <a:solidFill>
                  <a:schemeClr val="bg1"/>
                </a:solidFill>
              </a:rPr>
              <a:t>2200 kcal/p/j</a:t>
            </a:r>
            <a:r>
              <a:rPr lang="fr-FR" dirty="0">
                <a:solidFill>
                  <a:schemeClr val="bg1"/>
                </a:solidFill>
              </a:rPr>
              <a:t>, ce qui est en dessous du seuil recommandé pour un adulte (environ </a:t>
            </a:r>
            <a:r>
              <a:rPr lang="fr-FR" b="1" dirty="0">
                <a:solidFill>
                  <a:schemeClr val="bg1"/>
                </a:solidFill>
              </a:rPr>
              <a:t>2500 kcal/j</a:t>
            </a:r>
            <a:r>
              <a:rPr lang="fr-FR" dirty="0">
                <a:solidFill>
                  <a:schemeClr val="bg1"/>
                </a:solidFill>
              </a:rPr>
              <a:t>).</a:t>
            </a:r>
            <a:br>
              <a:rPr lang="fr-FR" dirty="0">
                <a:solidFill>
                  <a:schemeClr val="bg1"/>
                </a:solidFill>
              </a:rPr>
            </a:br>
            <a:r>
              <a:rPr lang="fr-FR" dirty="0">
                <a:solidFill>
                  <a:schemeClr val="bg1"/>
                </a:solidFill>
              </a:rPr>
              <a:t> Les pays ayant les plus faibles disponibilités alimentaires sont souvent touchés par :</a:t>
            </a:r>
          </a:p>
          <a:p>
            <a:pPr>
              <a:buFont typeface="Arial" panose="020B0604020202020204" pitchFamily="34" charset="0"/>
              <a:buChar char="•"/>
            </a:pPr>
            <a:r>
              <a:rPr lang="fr-FR" b="1" dirty="0">
                <a:solidFill>
                  <a:schemeClr val="bg1"/>
                </a:solidFill>
              </a:rPr>
              <a:t>Conflits et instabilité politique</a:t>
            </a:r>
            <a:r>
              <a:rPr lang="fr-FR" dirty="0">
                <a:solidFill>
                  <a:schemeClr val="bg1"/>
                </a:solidFill>
              </a:rPr>
              <a:t> (République Centrafricaine, Afghanistan, Haïti, RPDC, Soudan).</a:t>
            </a:r>
          </a:p>
          <a:p>
            <a:pPr>
              <a:buFont typeface="Arial" panose="020B0604020202020204" pitchFamily="34" charset="0"/>
              <a:buChar char="•"/>
            </a:pPr>
            <a:r>
              <a:rPr lang="fr-FR" b="1" dirty="0">
                <a:solidFill>
                  <a:schemeClr val="bg1"/>
                </a:solidFill>
              </a:rPr>
              <a:t>Sécheresse et faible productivité agricole</a:t>
            </a:r>
            <a:r>
              <a:rPr lang="fr-FR" dirty="0">
                <a:solidFill>
                  <a:schemeClr val="bg1"/>
                </a:solidFill>
              </a:rPr>
              <a:t> (Tchad, Madagascar, Zimbabwe, Zambie).</a:t>
            </a:r>
          </a:p>
          <a:p>
            <a:pPr>
              <a:buFont typeface="Arial" panose="020B0604020202020204" pitchFamily="34" charset="0"/>
              <a:buChar char="•"/>
            </a:pPr>
            <a:r>
              <a:rPr lang="fr-FR" b="1" dirty="0">
                <a:solidFill>
                  <a:schemeClr val="bg1"/>
                </a:solidFill>
              </a:rPr>
              <a:t>Faible accès aux importations alimentaires</a:t>
            </a:r>
            <a:r>
              <a:rPr lang="fr-FR" dirty="0">
                <a:solidFill>
                  <a:schemeClr val="bg1"/>
                </a:solidFill>
              </a:rPr>
              <a:t> (Timor-Leste, Haïti, RPDC).</a:t>
            </a:r>
          </a:p>
        </p:txBody>
      </p:sp>
      <p:pic>
        <p:nvPicPr>
          <p:cNvPr id="5" name="Image 4">
            <a:extLst>
              <a:ext uri="{FF2B5EF4-FFF2-40B4-BE49-F238E27FC236}">
                <a16:creationId xmlns:a16="http://schemas.microsoft.com/office/drawing/2014/main" id="{5FC7B21A-4F75-DAC0-A318-1BD6F33E834C}"/>
              </a:ext>
            </a:extLst>
          </p:cNvPr>
          <p:cNvPicPr>
            <a:picLocks noChangeAspect="1"/>
          </p:cNvPicPr>
          <p:nvPr/>
        </p:nvPicPr>
        <p:blipFill>
          <a:blip r:embed="rId3"/>
          <a:stretch>
            <a:fillRect/>
          </a:stretch>
        </p:blipFill>
        <p:spPr>
          <a:xfrm>
            <a:off x="5928852" y="2578819"/>
            <a:ext cx="6165462" cy="295428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3"/>
          <p:cNvSpPr txBox="1">
            <a:spLocks noGrp="1"/>
          </p:cNvSpPr>
          <p:nvPr>
            <p:ph type="title"/>
          </p:nvPr>
        </p:nvSpPr>
        <p:spPr>
          <a:xfrm>
            <a:off x="810000" y="447188"/>
            <a:ext cx="10572000" cy="97050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3200"/>
              <a:buFont typeface="Century Gothic"/>
              <a:buNone/>
            </a:pPr>
            <a:r>
              <a:rPr lang="fr-FR" sz="3200"/>
              <a:t>10) Étude sur le manioc en Thaïlande</a:t>
            </a:r>
            <a:endParaRPr/>
          </a:p>
        </p:txBody>
      </p:sp>
      <p:sp>
        <p:nvSpPr>
          <p:cNvPr id="217" name="Google Shape;217;p13"/>
          <p:cNvSpPr txBox="1">
            <a:spLocks noGrp="1"/>
          </p:cNvSpPr>
          <p:nvPr>
            <p:ph type="body" idx="1"/>
          </p:nvPr>
        </p:nvSpPr>
        <p:spPr>
          <a:xfrm>
            <a:off x="226142" y="2153264"/>
            <a:ext cx="11602064" cy="4630994"/>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fontScale="92500"/>
          </a:bodyPr>
          <a:lstStyle/>
          <a:p>
            <a:pPr>
              <a:buNone/>
            </a:pPr>
            <a:r>
              <a:rPr lang="fr-FR" sz="1700" b="1" dirty="0">
                <a:latin typeface="+mn-lt"/>
              </a:rPr>
              <a:t>Part de personnes en sous-nutrition en Thaïlande :</a:t>
            </a:r>
          </a:p>
          <a:p>
            <a:pPr>
              <a:buFont typeface="Arial" panose="020B0604020202020204" pitchFamily="34" charset="0"/>
              <a:buChar char="•"/>
            </a:pPr>
            <a:r>
              <a:rPr lang="fr-FR" sz="1700" b="1" dirty="0">
                <a:latin typeface="+mn-lt"/>
              </a:rPr>
              <a:t>Taux de sous-nutrition :</a:t>
            </a:r>
            <a:r>
              <a:rPr lang="fr-FR" sz="1700" dirty="0">
                <a:latin typeface="+mn-lt"/>
              </a:rPr>
              <a:t> 8,96 % de la population thaïlandaise est en état de sous-nutrition.</a:t>
            </a:r>
          </a:p>
          <a:p>
            <a:pPr>
              <a:buFont typeface="Arial" panose="020B0604020202020204" pitchFamily="34" charset="0"/>
              <a:buChar char="•"/>
            </a:pPr>
            <a:r>
              <a:rPr lang="fr-FR" sz="1700" dirty="0">
                <a:latin typeface="+mn-lt"/>
              </a:rPr>
              <a:t>Cela signifie qu'environ 9 personnes sur 100 n'ont pas assez de nourriture pour couvrir leurs besoins énergétiques quotidiens.</a:t>
            </a:r>
          </a:p>
          <a:p>
            <a:pPr>
              <a:buNone/>
            </a:pPr>
            <a:r>
              <a:rPr lang="fr-FR" sz="1700" b="1" dirty="0">
                <a:latin typeface="+mn-lt"/>
              </a:rPr>
              <a:t>Production et exportation du Manioc :</a:t>
            </a:r>
          </a:p>
          <a:p>
            <a:pPr>
              <a:buFont typeface="Arial" panose="020B0604020202020204" pitchFamily="34" charset="0"/>
              <a:buChar char="•"/>
            </a:pPr>
            <a:r>
              <a:rPr lang="fr-FR" sz="1700" b="1" dirty="0">
                <a:latin typeface="+mn-lt"/>
              </a:rPr>
              <a:t>Pourcentage de manioc exporté :</a:t>
            </a:r>
            <a:r>
              <a:rPr lang="fr-FR" sz="1700" dirty="0">
                <a:latin typeface="+mn-lt"/>
              </a:rPr>
              <a:t> 83,41 % de la production est exportée.</a:t>
            </a:r>
          </a:p>
          <a:p>
            <a:pPr>
              <a:buFont typeface="Arial" panose="020B0604020202020204" pitchFamily="34" charset="0"/>
              <a:buChar char="•"/>
            </a:pPr>
            <a:r>
              <a:rPr lang="fr-FR" sz="1700" b="1" dirty="0">
                <a:latin typeface="+mn-lt"/>
              </a:rPr>
              <a:t>Seule une petite partie (16,6 %) est consommée localement.</a:t>
            </a:r>
            <a:endParaRPr lang="fr-FR" sz="1700" dirty="0">
              <a:latin typeface="+mn-lt"/>
            </a:endParaRPr>
          </a:p>
          <a:p>
            <a:pPr>
              <a:buFont typeface="Arial" panose="020B0604020202020204" pitchFamily="34" charset="0"/>
              <a:buChar char="•"/>
            </a:pPr>
            <a:r>
              <a:rPr lang="fr-FR" sz="1700" dirty="0">
                <a:latin typeface="+mn-lt"/>
              </a:rPr>
              <a:t>La Thaïlande est un grand exportateur de manioc, mais cela peut poser des questions sur l'accès à cette ressource pour la population locale.</a:t>
            </a:r>
          </a:p>
          <a:p>
            <a:pPr>
              <a:buNone/>
            </a:pPr>
            <a:r>
              <a:rPr lang="fr-FR" sz="1700" b="1" dirty="0">
                <a:latin typeface="+mn-lt"/>
              </a:rPr>
              <a:t>Contradiction possible :</a:t>
            </a:r>
          </a:p>
          <a:p>
            <a:pPr>
              <a:buFont typeface="Arial" panose="020B0604020202020204" pitchFamily="34" charset="0"/>
              <a:buChar char="•"/>
            </a:pPr>
            <a:r>
              <a:rPr lang="fr-FR" sz="1700" b="1" dirty="0">
                <a:latin typeface="+mn-lt"/>
              </a:rPr>
              <a:t>Bien que la Thaïlande produise une quantité importante de manioc, la majorité est exportée.</a:t>
            </a:r>
            <a:endParaRPr lang="fr-FR" sz="1700" dirty="0">
              <a:latin typeface="+mn-lt"/>
            </a:endParaRPr>
          </a:p>
          <a:p>
            <a:pPr>
              <a:buFont typeface="Arial" panose="020B0604020202020204" pitchFamily="34" charset="0"/>
              <a:buChar char="•"/>
            </a:pPr>
            <a:r>
              <a:rPr lang="fr-FR" sz="1700" b="1" dirty="0">
                <a:latin typeface="+mn-lt"/>
              </a:rPr>
              <a:t>Impact sur l'insécurité alimentaire :</a:t>
            </a:r>
            <a:r>
              <a:rPr lang="fr-FR" sz="1700" dirty="0">
                <a:latin typeface="+mn-lt"/>
              </a:rPr>
              <a:t> Si une plus grande partie de la production était consommée en interne, cela pourrait réduire la sous-nutrition.</a:t>
            </a:r>
          </a:p>
          <a:p>
            <a:pPr>
              <a:buFont typeface="Arial" panose="020B0604020202020204" pitchFamily="34" charset="0"/>
              <a:buChar char="•"/>
            </a:pPr>
            <a:r>
              <a:rPr lang="fr-FR" sz="1700" b="1" dirty="0">
                <a:latin typeface="+mn-lt"/>
              </a:rPr>
              <a:t>Dépendance aux importations alimentaires :</a:t>
            </a:r>
            <a:r>
              <a:rPr lang="fr-FR" sz="1700" dirty="0">
                <a:latin typeface="+mn-lt"/>
              </a:rPr>
              <a:t> Il serait intéressant de voir si la Thaïlande importe des aliments pour compenser ce qu'elle exporte.</a:t>
            </a:r>
          </a:p>
          <a:p>
            <a:pPr marL="114300" indent="0">
              <a:buNone/>
            </a:pPr>
            <a:r>
              <a:rPr lang="fr-FR" sz="1600" dirty="0"/>
              <a:t>📌 </a:t>
            </a:r>
            <a:r>
              <a:rPr lang="fr-FR" sz="1700" dirty="0">
                <a:latin typeface="+mn-lt"/>
              </a:rPr>
              <a:t>Cette analyse montre une contradiction : </a:t>
            </a:r>
            <a:r>
              <a:rPr lang="fr-FR" sz="1700" b="1" dirty="0">
                <a:latin typeface="+mn-lt"/>
              </a:rPr>
              <a:t>Une grande production de manioc, mais une faible disponibilité locale.</a:t>
            </a:r>
            <a:endParaRPr lang="fr-FR" sz="1700" dirty="0">
              <a:latin typeface="+mn-lt"/>
            </a:endParaRPr>
          </a:p>
          <a:p>
            <a:pPr marL="0" lvl="0" indent="0" algn="l" rtl="0">
              <a:lnSpc>
                <a:spcPct val="100000"/>
              </a:lnSpc>
              <a:spcBef>
                <a:spcPts val="0"/>
              </a:spcBef>
              <a:spcAft>
                <a:spcPts val="0"/>
              </a:spcAft>
              <a:buSzPts val="1800"/>
              <a:buNone/>
            </a:pP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4"/>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4000"/>
              <a:buFont typeface="Century Gothic"/>
              <a:buNone/>
            </a:pPr>
            <a:r>
              <a:rPr lang="fr-FR" sz="3200"/>
              <a:t>11) Analyses complémentaires</a:t>
            </a:r>
            <a:endParaRPr sz="3200"/>
          </a:p>
        </p:txBody>
      </p:sp>
      <p:sp>
        <p:nvSpPr>
          <p:cNvPr id="224" name="Google Shape;224;p14"/>
          <p:cNvSpPr txBox="1">
            <a:spLocks noGrp="1"/>
          </p:cNvSpPr>
          <p:nvPr>
            <p:ph type="body" idx="1"/>
          </p:nvPr>
        </p:nvSpPr>
        <p:spPr>
          <a:xfrm>
            <a:off x="176981" y="2123769"/>
            <a:ext cx="11847871" cy="4463844"/>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fontScale="92500" lnSpcReduction="10000"/>
          </a:bodyPr>
          <a:lstStyle/>
          <a:p>
            <a:pPr>
              <a:buNone/>
            </a:pPr>
            <a:r>
              <a:rPr lang="fr-FR" sz="1700" b="1" dirty="0">
                <a:latin typeface="+mn-lt"/>
              </a:rPr>
              <a:t>🔍 Analyse de la production animale et végétale</a:t>
            </a:r>
          </a:p>
          <a:p>
            <a:pPr>
              <a:buNone/>
            </a:pPr>
            <a:r>
              <a:rPr lang="fr-FR" sz="1700" dirty="0">
                <a:latin typeface="+mn-lt"/>
              </a:rPr>
              <a:t>L'analyse des données de disponibilité alimentaire montre que :</a:t>
            </a:r>
          </a:p>
          <a:p>
            <a:pPr>
              <a:buFont typeface="Arial" panose="020B0604020202020204" pitchFamily="34" charset="0"/>
              <a:buChar char="•"/>
            </a:pPr>
            <a:r>
              <a:rPr lang="fr-FR" sz="1700" b="1" dirty="0">
                <a:latin typeface="+mn-lt"/>
              </a:rPr>
              <a:t>Produits Végétaux : </a:t>
            </a:r>
            <a:r>
              <a:rPr lang="fr-FR" sz="1600" b="1" dirty="0"/>
              <a:t>82,51%</a:t>
            </a:r>
            <a:r>
              <a:rPr lang="fr-FR" sz="1600" dirty="0"/>
              <a:t> </a:t>
            </a:r>
            <a:r>
              <a:rPr lang="fr-FR" sz="1700" b="1" dirty="0">
                <a:latin typeface="+mn-lt"/>
              </a:rPr>
              <a:t>de l'apport énergétique total</a:t>
            </a:r>
            <a:endParaRPr lang="fr-FR" sz="1700" dirty="0">
              <a:latin typeface="+mn-lt"/>
            </a:endParaRPr>
          </a:p>
          <a:p>
            <a:pPr>
              <a:buFont typeface="Arial" panose="020B0604020202020204" pitchFamily="34" charset="0"/>
              <a:buChar char="•"/>
            </a:pPr>
            <a:r>
              <a:rPr lang="fr-FR" sz="1700" b="1" dirty="0">
                <a:latin typeface="+mn-lt"/>
              </a:rPr>
              <a:t>Produits Animaux : </a:t>
            </a:r>
            <a:r>
              <a:rPr lang="fr-FR" sz="1600" b="1" dirty="0"/>
              <a:t>17,49%</a:t>
            </a:r>
            <a:r>
              <a:rPr lang="fr-FR" sz="1700" b="1" dirty="0">
                <a:latin typeface="+mn-lt"/>
              </a:rPr>
              <a:t> de l'apport énergétique total</a:t>
            </a:r>
            <a:endParaRPr lang="fr-FR" sz="1700" dirty="0">
              <a:latin typeface="+mn-lt"/>
            </a:endParaRPr>
          </a:p>
          <a:p>
            <a:pPr>
              <a:buNone/>
            </a:pPr>
            <a:r>
              <a:rPr lang="fr-FR" sz="1700" dirty="0">
                <a:latin typeface="+mn-lt"/>
              </a:rPr>
              <a:t>Cette répartition indique que les produits végétaux représentent la principale source d'énergie disponible. Les produits animaux, malgré leurs coûts élevés en termes de ressources naturelles, apportent une faible proportion de l'énergie totale.</a:t>
            </a:r>
          </a:p>
          <a:p>
            <a:pPr>
              <a:buNone/>
            </a:pPr>
            <a:r>
              <a:rPr lang="fr-FR" sz="1700" b="1" dirty="0">
                <a:latin typeface="+mn-lt"/>
              </a:rPr>
              <a:t>📊 Comparaison avec la population mondiale</a:t>
            </a:r>
          </a:p>
          <a:p>
            <a:pPr>
              <a:buNone/>
            </a:pPr>
            <a:r>
              <a:rPr lang="fr-FR" sz="1700" dirty="0">
                <a:latin typeface="+mn-lt"/>
              </a:rPr>
              <a:t>En comparant l'énergie disponible provenant des végétaux avec les besoins caloriques moyens de l'humanité :</a:t>
            </a:r>
          </a:p>
          <a:p>
            <a:pPr>
              <a:buFont typeface="Arial" panose="020B0604020202020204" pitchFamily="34" charset="0"/>
              <a:buChar char="•"/>
            </a:pPr>
            <a:r>
              <a:rPr lang="fr-FR" sz="1700" b="1" dirty="0">
                <a:latin typeface="+mn-lt"/>
              </a:rPr>
              <a:t>Nombre total de personnes pouvant être nourries par les produits végétaux : 7 671 495 671 (environ 7,67 milliards de personnes)</a:t>
            </a:r>
            <a:endParaRPr lang="fr-FR" sz="1700" dirty="0">
              <a:latin typeface="+mn-lt"/>
            </a:endParaRPr>
          </a:p>
          <a:p>
            <a:pPr>
              <a:buFont typeface="Arial" panose="020B0604020202020204" pitchFamily="34" charset="0"/>
              <a:buChar char="•"/>
            </a:pPr>
            <a:r>
              <a:rPr lang="fr-FR" sz="1700" b="1" dirty="0">
                <a:latin typeface="+mn-lt"/>
              </a:rPr>
              <a:t>Proportion par rapport à la population mondiale en 2017 : 101,63%</a:t>
            </a:r>
            <a:endParaRPr lang="fr-FR" sz="1700" dirty="0">
              <a:latin typeface="+mn-lt"/>
            </a:endParaRPr>
          </a:p>
          <a:p>
            <a:pPr>
              <a:buNone/>
            </a:pPr>
            <a:r>
              <a:rPr lang="fr-FR" sz="1700" dirty="0">
                <a:latin typeface="+mn-lt"/>
              </a:rPr>
              <a:t>Cela montre que </a:t>
            </a:r>
            <a:r>
              <a:rPr lang="fr-FR" sz="1700" b="1" dirty="0">
                <a:latin typeface="+mn-lt"/>
              </a:rPr>
              <a:t>théoriquement</a:t>
            </a:r>
            <a:r>
              <a:rPr lang="fr-FR" sz="1700" dirty="0">
                <a:latin typeface="+mn-lt"/>
              </a:rPr>
              <a:t>, la production végétale est suffisante pour nourrir toute la population mondiale.</a:t>
            </a:r>
          </a:p>
          <a:p>
            <a:pPr>
              <a:buNone/>
            </a:pPr>
            <a:r>
              <a:rPr lang="fr-FR" sz="1700" b="1" dirty="0">
                <a:latin typeface="+mn-lt"/>
              </a:rPr>
              <a:t>🌍 Interprétation &amp; Suggestions</a:t>
            </a:r>
          </a:p>
          <a:p>
            <a:pPr>
              <a:buFont typeface="Arial" panose="020B0604020202020204" pitchFamily="34" charset="0"/>
              <a:buChar char="•"/>
            </a:pPr>
            <a:r>
              <a:rPr lang="fr-FR" sz="1700" dirty="0">
                <a:latin typeface="+mn-lt"/>
              </a:rPr>
              <a:t>La répartition inégale de la nourriture, et non la production, est le principal problème.</a:t>
            </a:r>
          </a:p>
          <a:p>
            <a:pPr>
              <a:buFont typeface="Arial" panose="020B0604020202020204" pitchFamily="34" charset="0"/>
              <a:buChar char="•"/>
            </a:pPr>
            <a:r>
              <a:rPr lang="fr-FR" sz="1700" dirty="0">
                <a:latin typeface="+mn-lt"/>
              </a:rPr>
              <a:t>Réduire la consommation de produits animaux pourrait améliorer l'efficacité alimentaire mondiale.</a:t>
            </a:r>
          </a:p>
          <a:p>
            <a:pPr>
              <a:buFont typeface="Arial" panose="020B0604020202020204" pitchFamily="34" charset="0"/>
              <a:buChar char="•"/>
            </a:pPr>
            <a:r>
              <a:rPr lang="fr-FR" sz="1700" dirty="0">
                <a:latin typeface="+mn-lt"/>
              </a:rPr>
              <a:t>Une meilleure gestion de la production végétale pourrait réduire l'insécurité alimentaire.</a:t>
            </a:r>
          </a:p>
          <a:p>
            <a:pPr marL="342900" lvl="0" indent="-228600" algn="l" rtl="0">
              <a:lnSpc>
                <a:spcPct val="100000"/>
              </a:lnSpc>
              <a:spcBef>
                <a:spcPts val="0"/>
              </a:spcBef>
              <a:spcAft>
                <a:spcPts val="0"/>
              </a:spcAft>
              <a:buSzPts val="1800"/>
              <a:buNone/>
            </a:pP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5"/>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FEFEFE"/>
              </a:buClr>
              <a:buSzPts val="4000"/>
              <a:buFont typeface="Century Gothic"/>
              <a:buNone/>
            </a:pPr>
            <a:r>
              <a:rPr lang="fr-FR"/>
              <a:t>Conclusion</a:t>
            </a:r>
            <a:endParaRPr/>
          </a:p>
        </p:txBody>
      </p:sp>
      <p:sp>
        <p:nvSpPr>
          <p:cNvPr id="231" name="Google Shape;231;p15"/>
          <p:cNvSpPr txBox="1">
            <a:spLocks noGrp="1"/>
          </p:cNvSpPr>
          <p:nvPr>
            <p:ph type="body" idx="1"/>
          </p:nvPr>
        </p:nvSpPr>
        <p:spPr>
          <a:xfrm>
            <a:off x="265471" y="2123768"/>
            <a:ext cx="11808542" cy="4660489"/>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fontScale="92500" lnSpcReduction="10000"/>
          </a:bodyPr>
          <a:lstStyle/>
          <a:p>
            <a:pPr>
              <a:buNone/>
            </a:pPr>
            <a:r>
              <a:rPr lang="fr-FR" sz="1500" dirty="0">
                <a:latin typeface="+mn-lt"/>
              </a:rPr>
              <a:t>L'analyse de la disponibilité alimentaire mondiale en 2017 révèle des disparités majeures dans la répartition des ressources alimentaires. Bien que la production mondiale soit théoriquement suffisante pour nourrir toute la population, les défis persistent principalement en raison de problèmes d'accès, de distribution inégale, de gaspillage alimentaire et de priorités d'utilisation non optimales.</a:t>
            </a:r>
          </a:p>
          <a:p>
            <a:pPr>
              <a:buNone/>
            </a:pPr>
            <a:r>
              <a:rPr lang="fr-FR" sz="1500" dirty="0">
                <a:latin typeface="+mn-lt"/>
              </a:rPr>
              <a:t>L’étude a montré que :</a:t>
            </a:r>
          </a:p>
          <a:p>
            <a:pPr>
              <a:buFont typeface="Arial" panose="020B0604020202020204" pitchFamily="34" charset="0"/>
              <a:buChar char="•"/>
            </a:pPr>
            <a:r>
              <a:rPr lang="fr-FR" sz="1500" b="1" dirty="0">
                <a:latin typeface="+mn-lt"/>
              </a:rPr>
              <a:t>Une proportion importante de la production alimentaire mondiale est détournée vers l’alimentation animale, les pertes ou des usages industriels</a:t>
            </a:r>
            <a:r>
              <a:rPr lang="fr-FR" sz="1500" dirty="0">
                <a:latin typeface="+mn-lt"/>
              </a:rPr>
              <a:t>, au détriment de la consommation humaine directe.</a:t>
            </a:r>
          </a:p>
          <a:p>
            <a:pPr>
              <a:buFont typeface="Arial" panose="020B0604020202020204" pitchFamily="34" charset="0"/>
              <a:buChar char="•"/>
            </a:pPr>
            <a:r>
              <a:rPr lang="fr-FR" sz="1500" b="1" dirty="0">
                <a:latin typeface="+mn-lt"/>
              </a:rPr>
              <a:t>Les céréales</a:t>
            </a:r>
            <a:r>
              <a:rPr lang="fr-FR" sz="1500" dirty="0">
                <a:latin typeface="+mn-lt"/>
              </a:rPr>
              <a:t>, qui sont une source clé de nutrition, sont en grande partie destinées à l’élevage, contribuant ainsi aux déséquilibres alimentaires.</a:t>
            </a:r>
          </a:p>
          <a:p>
            <a:pPr>
              <a:buFont typeface="Arial" panose="020B0604020202020204" pitchFamily="34" charset="0"/>
              <a:buChar char="•"/>
            </a:pPr>
            <a:r>
              <a:rPr lang="fr-FR" sz="1500" dirty="0">
                <a:latin typeface="+mn-lt"/>
              </a:rPr>
              <a:t>Certains pays disposent de surplus alimentaires considérables dépassant largement les besoins nutritionnels recommandés (3 500 kcal/personne/jour et plus), alors que d’autres pays peinent à atteindre le seuil minimum de </a:t>
            </a:r>
            <a:r>
              <a:rPr lang="fr-FR" sz="1500" b="1" dirty="0">
                <a:latin typeface="+mn-lt"/>
              </a:rPr>
              <a:t>2 500 kcal/personne/jour</a:t>
            </a:r>
            <a:r>
              <a:rPr lang="fr-FR" sz="1500" dirty="0">
                <a:latin typeface="+mn-lt"/>
              </a:rPr>
              <a:t>.</a:t>
            </a:r>
          </a:p>
          <a:p>
            <a:pPr>
              <a:buFont typeface="Arial" panose="020B0604020202020204" pitchFamily="34" charset="0"/>
              <a:buChar char="•"/>
            </a:pPr>
            <a:r>
              <a:rPr lang="fr-FR" sz="1500" b="1" dirty="0">
                <a:latin typeface="+mn-lt"/>
              </a:rPr>
              <a:t>L’exemple de la Thaïlande</a:t>
            </a:r>
            <a:r>
              <a:rPr lang="fr-FR" sz="1500" dirty="0">
                <a:latin typeface="+mn-lt"/>
              </a:rPr>
              <a:t> illustre un paradoxe : malgré une forte production de manioc, l’exportation massive de cette ressource réduit la quantité disponible pour sa propre population, laissant une proportion notable de la population en situation de sous-nutrition.</a:t>
            </a:r>
          </a:p>
          <a:p>
            <a:pPr>
              <a:buNone/>
            </a:pPr>
            <a:r>
              <a:rPr lang="fr-FR" sz="1500" b="1" dirty="0">
                <a:latin typeface="+mn-lt"/>
              </a:rPr>
              <a:t>En conclusion</a:t>
            </a:r>
            <a:r>
              <a:rPr lang="fr-FR" sz="1500" dirty="0">
                <a:latin typeface="+mn-lt"/>
              </a:rPr>
              <a:t>, la faim dans le monde résulte moins d'une production insuffisante que de l'inégalité d'accès et de la mauvaise gestion des ressources alimentaires. Il est essentiel de :</a:t>
            </a:r>
          </a:p>
          <a:p>
            <a:pPr>
              <a:buFont typeface="Arial" panose="020B0604020202020204" pitchFamily="34" charset="0"/>
              <a:buChar char="•"/>
            </a:pPr>
            <a:r>
              <a:rPr lang="fr-FR" sz="1500" b="1" dirty="0">
                <a:latin typeface="+mn-lt"/>
              </a:rPr>
              <a:t>Améliorer l'accès local aux denrées alimentaires, surtout dans les pays vulnérables</a:t>
            </a:r>
            <a:r>
              <a:rPr lang="fr-FR" sz="1500" dirty="0">
                <a:latin typeface="+mn-lt"/>
              </a:rPr>
              <a:t>.</a:t>
            </a:r>
          </a:p>
          <a:p>
            <a:pPr>
              <a:buFont typeface="Arial" panose="020B0604020202020204" pitchFamily="34" charset="0"/>
              <a:buChar char="•"/>
            </a:pPr>
            <a:r>
              <a:rPr lang="fr-FR" sz="1500" b="1" dirty="0">
                <a:latin typeface="+mn-lt"/>
              </a:rPr>
              <a:t>Réduire les pertes alimentaires</a:t>
            </a:r>
            <a:r>
              <a:rPr lang="fr-FR" sz="1500" dirty="0">
                <a:latin typeface="+mn-lt"/>
              </a:rPr>
              <a:t>, qu'il s'agisse de gaspillage, d'utilisation excessive pour l’élevage, ou d’exportations démesurées.</a:t>
            </a:r>
          </a:p>
          <a:p>
            <a:pPr>
              <a:buFont typeface="Arial" panose="020B0604020202020204" pitchFamily="34" charset="0"/>
              <a:buChar char="•"/>
            </a:pPr>
            <a:r>
              <a:rPr lang="fr-FR" sz="1500" b="1" dirty="0">
                <a:latin typeface="+mn-lt"/>
              </a:rPr>
              <a:t>Mettre en place des politiques plus équitables</a:t>
            </a:r>
            <a:r>
              <a:rPr lang="fr-FR" sz="1500" dirty="0">
                <a:latin typeface="+mn-lt"/>
              </a:rPr>
              <a:t> pour favoriser une répartition plus juste des ressources, notamment en renforçant l’agriculture locale et en diminuant la dépendance aux importations.</a:t>
            </a:r>
          </a:p>
          <a:p>
            <a:pPr marL="114300" indent="0">
              <a:buNone/>
            </a:pPr>
            <a:r>
              <a:rPr lang="fr-FR" sz="1500" dirty="0">
                <a:latin typeface="+mn-lt"/>
              </a:rPr>
              <a:t>📌 Une approche globale et coordonnée est nécessaire pour garantir une sécurité alimentaire durable pour tous. 🌍</a:t>
            </a:r>
          </a:p>
          <a:p>
            <a:pPr marL="342900" lvl="0" indent="-228600" algn="l" rtl="0">
              <a:lnSpc>
                <a:spcPct val="100000"/>
              </a:lnSpc>
              <a:spcBef>
                <a:spcPts val="0"/>
              </a:spcBef>
              <a:spcAft>
                <a:spcPts val="0"/>
              </a:spcAft>
              <a:buSzPts val="1800"/>
              <a:buNone/>
            </a:pPr>
            <a:endParaRPr dirty="0"/>
          </a:p>
        </p:txBody>
      </p:sp>
    </p:spTree>
  </p:cSld>
  <p:clrMapOvr>
    <a:masterClrMapping/>
  </p:clrMapOvr>
</p:sld>
</file>

<file path=ppt/theme/theme1.xml><?xml version="1.0" encoding="utf-8"?>
<a:theme xmlns:a="http://schemas.openxmlformats.org/drawingml/2006/main" name="Entre guillemets">
  <a:themeElements>
    <a:clrScheme name="Quotable">
      <a:dk1>
        <a:srgbClr val="000000"/>
      </a:dk1>
      <a:lt1>
        <a:srgbClr val="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8882</TotalTime>
  <Words>2837</Words>
  <Application>Microsoft Office PowerPoint</Application>
  <PresentationFormat>Grand écran</PresentationFormat>
  <Paragraphs>219</Paragraphs>
  <Slides>19</Slides>
  <Notes>16</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19</vt:i4>
      </vt:variant>
    </vt:vector>
  </HeadingPairs>
  <TitlesOfParts>
    <vt:vector size="24" baseType="lpstr">
      <vt:lpstr>Noto Sans Symbols</vt:lpstr>
      <vt:lpstr>Arial</vt:lpstr>
      <vt:lpstr>Calibri</vt:lpstr>
      <vt:lpstr>Century Gothic</vt:lpstr>
      <vt:lpstr>Entre guillemets</vt:lpstr>
      <vt:lpstr>Étude sur l’alimentation dans le monde</vt:lpstr>
      <vt:lpstr>Contexte et spécification des données</vt:lpstr>
      <vt:lpstr>Pour mener notre analyse sur l’alimentation mondiale, nous allons exploiter plusieurs sources de données regroupées dans des fichiers CSV. Ces données nous permettront de comprendre la répartition des ressources alimentaires, les tendances de la sous-nutrition et l’impact de l’aide alimentaire. </vt:lpstr>
      <vt:lpstr>Méthodologie de l’analyse</vt:lpstr>
      <vt:lpstr>Méthodologie de l’analyse</vt:lpstr>
      <vt:lpstr>1) Proportion de personnes en état de sous-nutrition en 2017</vt:lpstr>
      <vt:lpstr>Présentation PowerPoint</vt:lpstr>
      <vt:lpstr>2) Nombre théorique de personnes qui pourraient être nourries en 2017</vt:lpstr>
      <vt:lpstr>3) Nombre théorique de personnes qui pourraient être nourries uniquement avec les végétaux en 2017</vt:lpstr>
      <vt:lpstr>4) Répartition de la disponibilité intérieure</vt:lpstr>
      <vt:lpstr>5) Part de l’utilisation des principales céréales entre l’alimentation humaine et animale</vt:lpstr>
      <vt:lpstr>6) Liste des 10 pays où la proportion de personnes en état de sous-nutrition est la plus forte en 2017</vt:lpstr>
      <vt:lpstr>7) Liste des 10 pays qui ont le plus bénéficié de l’aide alimentaire entre 2013 et 2016</vt:lpstr>
      <vt:lpstr>8) Évolution de l’aide alimentaire pour les 5 pays qui en ont le plus bénéficié entre 2013 et 2016</vt:lpstr>
      <vt:lpstr>9) Liste des 10 pays qui ont la plus forte disponibilité alimentaire par habitant</vt:lpstr>
      <vt:lpstr>9) Liste des 10 pays qui ont la plus faible disponibilité alimentaire par habitant</vt:lpstr>
      <vt:lpstr>10) Étude sur le manioc en Thaïlande</vt:lpstr>
      <vt:lpstr>11) Analyses complémentaires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JeY jEy</dc:creator>
  <cp:lastModifiedBy>Nas Aylin</cp:lastModifiedBy>
  <cp:revision>4</cp:revision>
  <dcterms:created xsi:type="dcterms:W3CDTF">2023-03-17T20:58:30Z</dcterms:created>
  <dcterms:modified xsi:type="dcterms:W3CDTF">2025-04-01T11:22:49Z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