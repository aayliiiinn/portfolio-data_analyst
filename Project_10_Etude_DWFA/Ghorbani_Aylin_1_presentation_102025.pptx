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U3HH62z583qihnLJJJSsUiHfN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26216f2d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3126216f2d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10ed1d9b2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g310ed1d9b2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946255cb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34946255cb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946255cb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34946255cb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0ed1d9b2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310ed1d9b2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946255cb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4946255cb6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946255cb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4946255cb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946255cb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34946255cb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10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A7F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773625" y="894800"/>
            <a:ext cx="77901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506"/>
              <a:buFont typeface="Arial"/>
              <a:buNone/>
            </a:pPr>
            <a:endParaRPr sz="5745" b="1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Etude sur l’eau potable</a:t>
            </a:r>
            <a:endParaRPr sz="52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  <p:pic>
        <p:nvPicPr>
          <p:cNvPr id="60" name="Google Shape;6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1129" y="2908091"/>
            <a:ext cx="5231566" cy="2031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>
            <a:spLocks noGrp="1"/>
          </p:cNvSpPr>
          <p:nvPr>
            <p:ph type="body" idx="1"/>
          </p:nvPr>
        </p:nvSpPr>
        <p:spPr>
          <a:xfrm>
            <a:off x="895525" y="1488525"/>
            <a:ext cx="7805100" cy="3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/>
          </a:bodyPr>
          <a:lstStyle/>
          <a:p>
            <a:pPr marL="457200" lvl="0" indent="-29751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90739"/>
              <a:buFont typeface="Montserrat"/>
              <a:buChar char="●"/>
            </a:pPr>
            <a:r>
              <a:rPr lang="fr" sz="1542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Contexte</a:t>
            </a:r>
            <a:r>
              <a:rPr lang="fr" sz="14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 …………………………………………….…………………………………………………….…………….………………………………………………………………. </a:t>
            </a:r>
            <a:r>
              <a:rPr lang="fr" sz="14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" action="ppaction://hlinkshowjump?jump=nextslide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3</a:t>
            </a:r>
            <a:endParaRPr sz="14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</a:ext>
              </a:extLs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endParaRPr sz="14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"/>
                </a:ext>
              </a:extLst>
            </a:endParaRPr>
          </a:p>
          <a:p>
            <a:pPr marL="457200" lvl="0" indent="-29751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90739"/>
              <a:buFont typeface="Montserrat"/>
              <a:buChar char="●"/>
            </a:pPr>
            <a:r>
              <a:rPr lang="fr" sz="1542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Pré-traitement</a:t>
            </a:r>
            <a:r>
              <a:rPr lang="fr" sz="1542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</a:ext>
                </a:extLst>
              </a:rPr>
              <a:t> des données</a:t>
            </a:r>
            <a:r>
              <a:rPr lang="fr" sz="14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</a:ext>
                </a:extLst>
              </a:rPr>
              <a:t> ……………………………………………</a:t>
            </a:r>
            <a:r>
              <a:rPr lang="fr" sz="14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"/>
                  </a:ext>
                </a:extLst>
              </a:rPr>
              <a:t>..</a:t>
            </a:r>
            <a:r>
              <a:rPr lang="fr" sz="14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8"/>
                  </a:ext>
                </a:extLst>
              </a:rPr>
              <a:t>…………………………………………………………………………….………. </a:t>
            </a:r>
            <a:r>
              <a:rPr lang="fr" sz="14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 action="ppaction://hlinksldjump"/>
              </a:rPr>
              <a:t>4</a:t>
            </a:r>
            <a:endParaRPr sz="14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751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90739"/>
              <a:buFont typeface="Montserrat"/>
              <a:buChar char="●"/>
            </a:pPr>
            <a:r>
              <a:rPr lang="fr" sz="1542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Blue Print</a:t>
            </a:r>
            <a:r>
              <a:rPr lang="fr" sz="14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9"/>
                  </a:ext>
                </a:extLst>
              </a:rPr>
              <a:t>………………………………………………………………..………………………..…………………………………………………………………………….………. </a:t>
            </a:r>
            <a:r>
              <a:rPr lang="fr" sz="14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 action="ppaction://hlinksldjump"/>
              </a:rPr>
              <a:t>5</a:t>
            </a:r>
            <a:endParaRPr sz="14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751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90739"/>
              <a:buFont typeface="Montserrat"/>
              <a:buChar char="●"/>
            </a:pPr>
            <a:r>
              <a:rPr lang="fr" sz="1542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Choix de l’outil de visualisation</a:t>
            </a:r>
            <a:r>
              <a:rPr lang="fr" sz="14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0"/>
                  </a:ext>
                </a:extLst>
              </a:rPr>
              <a:t> ……………………………………………..……………………………………………………….…………….………. </a:t>
            </a:r>
            <a:r>
              <a:rPr lang="fr" sz="14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 action="ppaction://hlinksldjump"/>
              </a:rPr>
              <a:t>8</a:t>
            </a:r>
            <a:endParaRPr sz="14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3673"/>
              <a:buNone/>
            </a:pPr>
            <a:endParaRPr sz="14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5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Montserrat"/>
              <a:buChar char="●"/>
            </a:pPr>
            <a:r>
              <a:rPr lang="fr" sz="1542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Démonstration du tableau de bord : </a:t>
            </a:r>
            <a:endParaRPr sz="1542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2905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Montserrat"/>
              <a:buChar char="○"/>
            </a:pPr>
            <a:r>
              <a:rPr lang="fr" sz="1257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Vue Monde…………………………………………………………………………..………………………</a:t>
            </a:r>
            <a:r>
              <a:rPr lang="fr" sz="1257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1"/>
                  </a:ext>
                </a:extLst>
              </a:rPr>
              <a:t>………………………………………………………………….………………</a:t>
            </a:r>
            <a:r>
              <a:rPr lang="fr" sz="1257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….</a:t>
            </a:r>
            <a:r>
              <a:rPr lang="fr" sz="1257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 action="ppaction://hlinksldjump"/>
              </a:rPr>
              <a:t>9</a:t>
            </a:r>
            <a:endParaRPr sz="1257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05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Montserrat"/>
              <a:buChar char="○"/>
            </a:pPr>
            <a:r>
              <a:rPr lang="fr" sz="1257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Vue Continent …………………………………………………………………………………</a:t>
            </a:r>
            <a:r>
              <a:rPr lang="fr" sz="1257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2"/>
                  </a:ext>
                </a:extLst>
              </a:rPr>
              <a:t>………………………………………………………………………………….…</a:t>
            </a:r>
            <a:r>
              <a:rPr lang="fr" sz="1257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….…… </a:t>
            </a:r>
            <a:r>
              <a:rPr lang="fr" sz="1257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 action="ppaction://hlinksldjump"/>
              </a:rPr>
              <a:t>10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04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Montserrat"/>
              <a:buChar char="○"/>
            </a:pPr>
            <a:r>
              <a:rPr lang="fr" sz="1257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Vue Pays…………………………………………………………………………………</a:t>
            </a:r>
            <a:r>
              <a:rPr lang="fr" sz="1257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"/>
                  </a:ext>
                </a:extLst>
              </a:rPr>
              <a:t>………………………………………………………………………………………………….…</a:t>
            </a:r>
            <a:r>
              <a:rPr lang="fr" sz="1257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…… </a:t>
            </a:r>
            <a:r>
              <a:rPr lang="fr" sz="1257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 action="ppaction://hlinksldjump"/>
              </a:rPr>
              <a:t>11</a:t>
            </a:r>
            <a:endParaRPr sz="1542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57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5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Font typeface="Montserrat"/>
              <a:buChar char="●"/>
            </a:pPr>
            <a:r>
              <a:rPr lang="fr" sz="1542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Respect des critères d’accessibilité</a:t>
            </a:r>
            <a:r>
              <a:rPr lang="fr" sz="1257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……………………..………………………</a:t>
            </a:r>
            <a:r>
              <a:rPr lang="fr" sz="1257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4"/>
                  </a:ext>
                </a:extLst>
              </a:rPr>
              <a:t>………………………………………………………………..………………</a:t>
            </a:r>
            <a:r>
              <a:rPr lang="fr" sz="1257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….</a:t>
            </a:r>
            <a:r>
              <a:rPr lang="fr" sz="1257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 action="ppaction://hlinksldjump"/>
              </a:rPr>
              <a:t>12</a:t>
            </a:r>
            <a:endParaRPr sz="1542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57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4791"/>
              <a:buNone/>
            </a:pPr>
            <a:endParaRPr sz="1257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751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90739"/>
              <a:buFont typeface="Montserrat"/>
              <a:buChar char="●"/>
            </a:pPr>
            <a:r>
              <a:rPr lang="fr" sz="1542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r>
              <a:rPr lang="fr" sz="14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………………………………………………………………………………………………………………………………………………………….…………..……. </a:t>
            </a:r>
            <a:r>
              <a:rPr lang="fr" sz="14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 action="ppaction://hlinksldjump"/>
              </a:rPr>
              <a:t>13</a:t>
            </a:r>
            <a:endParaRPr sz="14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28A7F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862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  <p:sp>
        <p:nvSpPr>
          <p:cNvPr id="69" name="Google Shape;69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5"/>
                  </a:ext>
                </a:extLst>
              </a:rPr>
              <a:t>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26216f2df_0_6"/>
          <p:cNvSpPr txBox="1">
            <a:spLocks noGrp="1"/>
          </p:cNvSpPr>
          <p:nvPr>
            <p:ph type="body" idx="1"/>
          </p:nvPr>
        </p:nvSpPr>
        <p:spPr>
          <a:xfrm>
            <a:off x="60100" y="1486525"/>
            <a:ext cx="8565900" cy="35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7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29527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9ADD"/>
              </a:buClr>
              <a:buSzPts val="1050"/>
              <a:buFont typeface="Montserrat"/>
              <a:buChar char="○"/>
            </a:pPr>
            <a:r>
              <a:rPr lang="fr" sz="1050" b="1" dirty="0">
                <a:solidFill>
                  <a:srgbClr val="289ADD"/>
                </a:solidFill>
                <a:latin typeface="Montserrat"/>
                <a:ea typeface="Montserrat"/>
                <a:cs typeface="Montserrat"/>
                <a:sym typeface="Montserrat"/>
              </a:rPr>
              <a:t>Drinking Water For All</a:t>
            </a:r>
            <a:endParaRPr sz="1050" b="1" dirty="0">
              <a:solidFill>
                <a:srgbClr val="289AD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05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ONG oeuvrant en faveur de l’accessibilité à l’eau potable dans le monde entier</a:t>
            </a:r>
            <a:endParaRPr sz="105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5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5273" algn="l" rtl="0">
              <a:spcBef>
                <a:spcPts val="0"/>
              </a:spcBef>
              <a:spcAft>
                <a:spcPts val="0"/>
              </a:spcAft>
              <a:buClr>
                <a:srgbClr val="289ADD"/>
              </a:buClr>
              <a:buSzPts val="1050"/>
              <a:buFont typeface="Montserrat"/>
              <a:buChar char="○"/>
            </a:pPr>
            <a:r>
              <a:rPr lang="fr" sz="1050" b="1" dirty="0">
                <a:solidFill>
                  <a:srgbClr val="289ADD"/>
                </a:solidFill>
                <a:latin typeface="Montserrat"/>
                <a:ea typeface="Montserrat"/>
                <a:cs typeface="Montserrat"/>
                <a:sym typeface="Montserrat"/>
              </a:rPr>
              <a:t>Domaines d’expertise</a:t>
            </a:r>
            <a:endParaRPr sz="1050" b="1" dirty="0">
              <a:solidFill>
                <a:srgbClr val="289AD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lvl="0" indent="-295275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50"/>
              <a:buFont typeface="Montserrat"/>
              <a:buChar char="-"/>
            </a:pPr>
            <a:r>
              <a:rPr lang="fr" sz="105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1. Création de services d’accès à l’eau potable</a:t>
            </a:r>
            <a:endParaRPr sz="105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lvl="0" indent="-295275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50"/>
              <a:buFont typeface="Montserrat"/>
              <a:buChar char="-"/>
            </a:pPr>
            <a:r>
              <a:rPr lang="fr" sz="105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2. Modernisation de services déjà existants</a:t>
            </a:r>
            <a:endParaRPr sz="105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lvl="0" indent="-295275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50"/>
              <a:buFont typeface="Montserrat"/>
              <a:buChar char="-"/>
            </a:pPr>
            <a:r>
              <a:rPr lang="fr" sz="105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3. Consulting auprès d’administrations / gouvernements</a:t>
            </a:r>
            <a:endParaRPr sz="105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5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29527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9ADD"/>
              </a:buClr>
              <a:buSzPts val="1050"/>
              <a:buFont typeface="Montserrat"/>
              <a:buChar char="○"/>
            </a:pPr>
            <a:r>
              <a:rPr lang="fr" sz="1050" b="1" dirty="0">
                <a:solidFill>
                  <a:srgbClr val="289ADD"/>
                </a:solidFill>
                <a:latin typeface="Montserrat"/>
                <a:ea typeface="Montserrat"/>
                <a:cs typeface="Montserrat"/>
                <a:sym typeface="Montserrat"/>
              </a:rPr>
              <a:t>Contexte actuel</a:t>
            </a:r>
            <a:endParaRPr sz="1050" b="1" dirty="0">
              <a:solidFill>
                <a:srgbClr val="289AD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50"/>
              <a:buFont typeface="Montserrat"/>
              <a:buChar char="-"/>
            </a:pPr>
            <a:r>
              <a:rPr lang="fr" sz="105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Une demande de financement auprès d’un bailleur de fonds est actuellement en cours</a:t>
            </a:r>
            <a:endParaRPr sz="105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50"/>
              <a:buFont typeface="Montserrat"/>
              <a:buChar char="-"/>
            </a:pPr>
            <a:r>
              <a:rPr lang="fr" sz="105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Investissement est à faire dans un des 3 domaines d’expertise précédents + un pays en particulier</a:t>
            </a:r>
            <a:endParaRPr sz="105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5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29527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9ADD"/>
              </a:buClr>
              <a:buSzPts val="1050"/>
              <a:buFont typeface="Montserrat"/>
              <a:buChar char="○"/>
            </a:pPr>
            <a:r>
              <a:rPr lang="fr" sz="1050" b="1" dirty="0">
                <a:solidFill>
                  <a:srgbClr val="289ADD"/>
                </a:solidFill>
                <a:latin typeface="Montserrat"/>
                <a:ea typeface="Montserrat"/>
                <a:cs typeface="Montserrat"/>
                <a:sym typeface="Montserrat"/>
              </a:rPr>
              <a:t>Objectifs finaux</a:t>
            </a:r>
            <a:endParaRPr sz="1050" dirty="0">
              <a:solidFill>
                <a:srgbClr val="289AD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0" indent="-29527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50"/>
              <a:buFont typeface="Montserrat"/>
              <a:buChar char="-"/>
            </a:pPr>
            <a:r>
              <a:rPr lang="fr" sz="105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Identification des pays qui rencontrent le plus de difficulté d’accès à l’eau potable</a:t>
            </a:r>
            <a:endParaRPr sz="105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0" indent="-29527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50"/>
              <a:buFont typeface="Montserrat"/>
              <a:buChar char="-"/>
            </a:pPr>
            <a:r>
              <a:rPr lang="fr" sz="105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Identification des pays sur lesquels l’ONG doit concentrer ses efforts</a:t>
            </a:r>
            <a:endParaRPr sz="105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g3126216f2df_0_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28A7F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862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126216f2df_0_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Contexte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"/>
                  </a:ext>
                </a:extLst>
              </a:rPr>
              <a:t>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g3126216f2df_0_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126216f2df_0_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0ed1d9b2f_0_23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28A7F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862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10ed1d9b2f_0_23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Pré-traitement des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7"/>
                  </a:ext>
                </a:extLst>
              </a:rPr>
              <a:t>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8"/>
                  </a:ext>
                </a:extLst>
              </a:rPr>
              <a:t>d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9"/>
                  </a:ext>
                </a:extLst>
              </a:rPr>
              <a:t>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g310ed1d9b2f_0_23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10ed1d9b2f_0_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  <p:sp>
        <p:nvSpPr>
          <p:cNvPr id="87" name="Google Shape;87;g310ed1d9b2f_0_23"/>
          <p:cNvSpPr txBox="1">
            <a:spLocks noGrp="1"/>
          </p:cNvSpPr>
          <p:nvPr>
            <p:ph type="body" idx="1"/>
          </p:nvPr>
        </p:nvSpPr>
        <p:spPr>
          <a:xfrm>
            <a:off x="178125" y="1536375"/>
            <a:ext cx="8575800" cy="3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25"/>
              <a:buNone/>
            </a:pP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●"/>
            </a:pPr>
            <a:r>
              <a:rPr lang="fr" sz="9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 dataframes :  </a:t>
            </a: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Régions, Population, Stabilité Politique, Mortalité, Accès à l’eau (basic &amp; safe)</a:t>
            </a: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●"/>
            </a:pPr>
            <a:r>
              <a:rPr lang="fr" sz="9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Sources :  </a:t>
            </a: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OMS &amp; FAO</a:t>
            </a: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●"/>
            </a:pPr>
            <a:r>
              <a:rPr lang="fr" sz="9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Horizon de traitement :</a:t>
            </a: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2000 à 2017</a:t>
            </a: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sz="9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89ADD"/>
              </a:buClr>
              <a:buSzPts val="900"/>
              <a:buFont typeface="Montserrat"/>
              <a:buChar char="●"/>
            </a:pPr>
            <a:r>
              <a:rPr lang="fr" sz="900" b="1" dirty="0">
                <a:solidFill>
                  <a:srgbClr val="289ADD"/>
                </a:solidFill>
                <a:latin typeface="Montserrat"/>
                <a:ea typeface="Montserrat"/>
                <a:cs typeface="Montserrat"/>
                <a:sym typeface="Montserrat"/>
              </a:rPr>
              <a:t>Traitements réalisés :</a:t>
            </a:r>
            <a:endParaRPr sz="900" b="1" dirty="0">
              <a:solidFill>
                <a:srgbClr val="289AD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Types de variables</a:t>
            </a: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en format US non reconnus (paramètres régionaux re-définis)</a:t>
            </a: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Remplacement de valeurs</a:t>
            </a: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: “North Macedonia” au lieu de “Republic of North Macedonia” (DF “PoliticalStability”) en cohérence avec “RegionCountry”</a:t>
            </a: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Identification de </a:t>
            </a:r>
            <a:r>
              <a:rPr lang="fr" sz="9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valeurs manquantes</a:t>
            </a: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et suppression des </a:t>
            </a:r>
            <a:r>
              <a:rPr lang="fr" sz="9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lignes NaN</a:t>
            </a:r>
            <a:endParaRPr sz="9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Colonnes renommées</a:t>
            </a: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pour faciliter le modèle de données (colonnes “région” et “pays”)</a:t>
            </a: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Normalisation</a:t>
            </a: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de la population (unités : x 1000)</a:t>
            </a: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82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89ADD"/>
              </a:buClr>
              <a:buSzPts val="900"/>
              <a:buFont typeface="Montserrat"/>
              <a:buChar char="●"/>
            </a:pPr>
            <a:r>
              <a:rPr lang="fr" sz="900" b="1" dirty="0">
                <a:solidFill>
                  <a:srgbClr val="289ADD"/>
                </a:solidFill>
                <a:latin typeface="Montserrat"/>
                <a:ea typeface="Montserrat"/>
                <a:cs typeface="Montserrat"/>
                <a:sym typeface="Montserrat"/>
              </a:rPr>
              <a:t>Fusion des tables et modélisation en étoile :</a:t>
            </a:r>
            <a:endParaRPr sz="900" b="1" dirty="0">
              <a:solidFill>
                <a:srgbClr val="289ADD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1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b="1" dirty="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Fusion </a:t>
            </a:r>
            <a:r>
              <a:rPr lang="fr" sz="900" dirty="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DF “</a:t>
            </a: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Population”, “PoliticalStability”, “MortalityRate”, “BasicAndSafelyManaged” sur </a:t>
            </a:r>
            <a:r>
              <a:rPr lang="fr" sz="9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clés communes</a:t>
            </a: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“Year” + “”Country” + “Granularity”</a:t>
            </a: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1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Pays dont les taux d’accès l’eau/mortalité ne sont pas renseignés ont été écartés lors de la fusion (China Mainland, HK, Macao…)</a:t>
            </a: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1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b="1" dirty="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Colonnes pivotées</a:t>
            </a:r>
            <a:r>
              <a:rPr lang="fr" sz="900" dirty="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(population + accès à l’eau)</a:t>
            </a:r>
            <a:endParaRPr sz="900" dirty="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1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b="1" dirty="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Ajout de colonnes</a:t>
            </a:r>
            <a:r>
              <a:rPr lang="fr" sz="900" dirty="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(taux de population urbaine &amp; rurale)</a:t>
            </a:r>
            <a:endParaRPr sz="900" dirty="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1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b="1" dirty="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Table agrégée</a:t>
            </a:r>
            <a:r>
              <a:rPr lang="fr" sz="900" dirty="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par “Region” + “Year”</a:t>
            </a:r>
            <a:endParaRPr sz="900" dirty="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endParaRPr sz="900" dirty="0">
              <a:solidFill>
                <a:srgbClr val="434343"/>
              </a:solidFill>
              <a:highlight>
                <a:schemeClr val="accent6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82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89ADD"/>
              </a:buClr>
              <a:buSzPts val="900"/>
              <a:buFont typeface="Montserrat"/>
              <a:buChar char="●"/>
            </a:pPr>
            <a:r>
              <a:rPr lang="fr" sz="900" b="1" dirty="0">
                <a:solidFill>
                  <a:srgbClr val="289ADD"/>
                </a:solidFill>
                <a:latin typeface="Montserrat"/>
                <a:ea typeface="Montserrat"/>
                <a:cs typeface="Montserrat"/>
                <a:sym typeface="Montserrat"/>
              </a:rPr>
              <a:t>Vigilances particulières :</a:t>
            </a:r>
            <a:endParaRPr sz="900" b="1" dirty="0">
              <a:solidFill>
                <a:srgbClr val="289AD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1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Mortality Rate : quelques taux &gt;100% (vérification auprès du site officiel de la FAO, ce n’est pas une erreur)</a:t>
            </a:r>
            <a:endParaRPr sz="900" dirty="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1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Population : nombre d’habitants urbains  &gt; au nombre d’habitants totaux pour les pays suivants : Singapore, Nauru, Monaco, Kuwait =&gt; non significatif, pas de modifications opérées</a:t>
            </a:r>
            <a:endParaRPr sz="900" dirty="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25"/>
              <a:buNone/>
            </a:pPr>
            <a:endParaRPr sz="1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946255cb6_0_1"/>
          <p:cNvSpPr/>
          <p:nvPr/>
        </p:nvSpPr>
        <p:spPr>
          <a:xfrm>
            <a:off x="0" y="1"/>
            <a:ext cx="9144000" cy="584616"/>
          </a:xfrm>
          <a:prstGeom prst="rect">
            <a:avLst/>
          </a:prstGeom>
          <a:solidFill>
            <a:srgbClr val="28A7F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863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4946255cb6_0_1"/>
          <p:cNvSpPr txBox="1"/>
          <p:nvPr/>
        </p:nvSpPr>
        <p:spPr>
          <a:xfrm>
            <a:off x="623400" y="8668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Blue Print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0"/>
                  </a:ext>
                </a:extLst>
              </a:rPr>
              <a:t>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g34946255cb6_0_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3747EE0-B08B-347A-EB5D-9CFCCE22D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97" y="616724"/>
            <a:ext cx="6618157" cy="4526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946255cb6_0_68"/>
          <p:cNvSpPr txBox="1">
            <a:spLocks noGrp="1"/>
          </p:cNvSpPr>
          <p:nvPr>
            <p:ph type="body" idx="1"/>
          </p:nvPr>
        </p:nvSpPr>
        <p:spPr>
          <a:xfrm>
            <a:off x="502650" y="1664225"/>
            <a:ext cx="7969800" cy="3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sz="1225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89ADD"/>
              </a:buClr>
              <a:buSzPts val="1000"/>
              <a:buFont typeface="Montserrat"/>
              <a:buChar char="●"/>
            </a:pPr>
            <a:r>
              <a:rPr lang="fr" sz="1000" b="1">
                <a:solidFill>
                  <a:srgbClr val="289ADD"/>
                </a:solidFill>
                <a:latin typeface="Montserrat"/>
                <a:ea typeface="Montserrat"/>
                <a:cs typeface="Montserrat"/>
                <a:sym typeface="Montserrat"/>
              </a:rPr>
              <a:t>Avantages POWER BI</a:t>
            </a:r>
            <a:endParaRPr sz="1000" b="1">
              <a:solidFill>
                <a:srgbClr val="289AD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" sz="1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Facilité d’import</a:t>
            </a:r>
            <a:r>
              <a:rPr lang="f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des dataframes dans l’outil et de reconnaissance des formats de données (format CSV)</a:t>
            </a:r>
            <a:endParaRPr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Meilleure </a:t>
            </a:r>
            <a:r>
              <a:rPr lang="fr" sz="1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intégration</a:t>
            </a:r>
            <a:r>
              <a:rPr lang="f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avec l’environnement Microsoft Office</a:t>
            </a:r>
            <a:endParaRPr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Outil </a:t>
            </a:r>
            <a:r>
              <a:rPr lang="fr" sz="1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intuitif</a:t>
            </a:r>
            <a:r>
              <a:rPr lang="f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d’utilisation</a:t>
            </a:r>
            <a:endParaRPr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Visuels facilement </a:t>
            </a:r>
            <a:r>
              <a:rPr lang="fr" sz="10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personnalisables</a:t>
            </a:r>
            <a:r>
              <a:rPr lang="f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et mise à jour rapide de ces derniers</a:t>
            </a:r>
            <a:endParaRPr sz="10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Personnellement plus d’expérience sur l’utilisation de Power BI que de Tableau</a:t>
            </a:r>
            <a:endParaRPr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7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89ADD"/>
              </a:buClr>
              <a:buSzPts val="1000"/>
              <a:buFont typeface="Montserrat"/>
              <a:buChar char="●"/>
            </a:pPr>
            <a:r>
              <a:rPr lang="fr" sz="1000" b="1">
                <a:solidFill>
                  <a:srgbClr val="289ADD"/>
                </a:solidFill>
                <a:latin typeface="Montserrat"/>
                <a:ea typeface="Montserrat"/>
                <a:cs typeface="Montserrat"/>
                <a:sym typeface="Montserrat"/>
              </a:rPr>
              <a:t>Avantages TABLEAU</a:t>
            </a:r>
            <a:endParaRPr sz="1000" b="1">
              <a:solidFill>
                <a:srgbClr val="289AD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289AD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06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" sz="1000" b="1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Personnalisation</a:t>
            </a:r>
            <a:r>
              <a:rPr lang="fr" sz="100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des visuels et des graphiques </a:t>
            </a:r>
            <a:r>
              <a:rPr lang="fr" sz="1000" b="1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plus poussée</a:t>
            </a:r>
            <a:r>
              <a:rPr lang="fr" sz="100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que Power BI</a:t>
            </a:r>
            <a:endParaRPr sz="100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066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" sz="100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Meilleure </a:t>
            </a:r>
            <a:r>
              <a:rPr lang="fr" sz="1000" b="1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capacité à traiter des grands volumes de données</a:t>
            </a:r>
            <a:r>
              <a:rPr lang="fr" sz="100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et donc meilleure performance</a:t>
            </a:r>
            <a:endParaRPr sz="100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7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89ADD"/>
              </a:buClr>
              <a:buSzPts val="1000"/>
              <a:buFont typeface="Montserrat"/>
              <a:buChar char="●"/>
            </a:pPr>
            <a:r>
              <a:rPr lang="fr" sz="1000" b="1">
                <a:solidFill>
                  <a:srgbClr val="289ADD"/>
                </a:solidFill>
                <a:latin typeface="Montserrat"/>
                <a:ea typeface="Montserrat"/>
                <a:cs typeface="Montserrat"/>
                <a:sym typeface="Montserrat"/>
              </a:rPr>
              <a:t>Power BI retenu pour la construction du tableau de bord : </a:t>
            </a:r>
            <a:endParaRPr sz="1000" b="1">
              <a:solidFill>
                <a:srgbClr val="289AD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2921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-"/>
            </a:pPr>
            <a:r>
              <a:rPr lang="f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Principaux critères retenus sont la facilité d’import, de pré-traitement des données dans Power BI, et la facilité à générer des visuels avec cet outil</a:t>
            </a:r>
            <a:endParaRPr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2921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-"/>
            </a:pPr>
            <a:r>
              <a:rPr lang="f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 dataframes différents mais le volume de données contenu dans chacun des dataframes est raisonnable</a:t>
            </a:r>
            <a:endParaRPr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2921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-"/>
            </a:pPr>
            <a:r>
              <a:rPr lang="f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L’utilisation de Power BI est donc suffisante pour l’utilisation que l’on souhaite faire dans notre cas</a:t>
            </a:r>
            <a:endParaRPr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endParaRPr sz="1162">
              <a:solidFill>
                <a:srgbClr val="434343"/>
              </a:solidFill>
              <a:highlight>
                <a:schemeClr val="accent6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25"/>
              <a:buNone/>
            </a:pPr>
            <a:endParaRPr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g34946255cb6_0_68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28A7F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863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4946255cb6_0_68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Choix de l’outil de visualisation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g34946255cb6_0_68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4946255cb6_0_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0ed1d9b2f_0_9"/>
          <p:cNvSpPr/>
          <p:nvPr/>
        </p:nvSpPr>
        <p:spPr>
          <a:xfrm>
            <a:off x="0" y="0"/>
            <a:ext cx="9144000" cy="929390"/>
          </a:xfrm>
          <a:prstGeom prst="rect">
            <a:avLst/>
          </a:prstGeom>
          <a:solidFill>
            <a:srgbClr val="28A7F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10ed1d9b2f_0_9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2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Démonstration du tableau de bord</a:t>
            </a:r>
            <a:r>
              <a:rPr lang="fr" sz="22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 : </a:t>
            </a:r>
            <a:endParaRPr sz="22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19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Vue “Monde”</a:t>
            </a:r>
            <a:endParaRPr sz="19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g310ed1d9b2f_0_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6FA46BA-9754-0BC7-A71F-EED1B82FC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42" y="929390"/>
            <a:ext cx="8760314" cy="40928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946255cb6_0_35"/>
          <p:cNvSpPr/>
          <p:nvPr/>
        </p:nvSpPr>
        <p:spPr>
          <a:xfrm>
            <a:off x="0" y="0"/>
            <a:ext cx="9144000" cy="921895"/>
          </a:xfrm>
          <a:prstGeom prst="rect">
            <a:avLst/>
          </a:prstGeom>
          <a:solidFill>
            <a:srgbClr val="28A7F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4946255cb6_0_35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Démonstration du tableau de bord : </a:t>
            </a:r>
            <a:endParaRPr sz="22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9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Vue “Continent”</a:t>
            </a:r>
            <a:endParaRPr sz="22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g34946255cb6_0_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0C41398-BF68-4834-981A-895F6A928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03" y="921895"/>
            <a:ext cx="8446958" cy="42216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946255cb6_0_43"/>
          <p:cNvSpPr/>
          <p:nvPr/>
        </p:nvSpPr>
        <p:spPr>
          <a:xfrm>
            <a:off x="0" y="0"/>
            <a:ext cx="9144000" cy="929390"/>
          </a:xfrm>
          <a:prstGeom prst="rect">
            <a:avLst/>
          </a:prstGeom>
          <a:solidFill>
            <a:srgbClr val="28A7F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4946255cb6_0_43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Démonstration du tableau de bord : </a:t>
            </a:r>
            <a:endParaRPr sz="22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9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Vue “Pays”</a:t>
            </a:r>
            <a:endParaRPr sz="22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g34946255cb6_0_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BBD96F0-F144-1647-6092-9F5C83052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99" y="929391"/>
            <a:ext cx="8424472" cy="42141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946255cb6_0_6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28A7F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4946255cb6_0_60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Respect des principes d'accessibilité</a:t>
            </a:r>
            <a:endParaRPr sz="22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g34946255cb6_0_6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4946255cb6_0_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163" name="Google Shape;163;g34946255cb6_0_60"/>
          <p:cNvSpPr txBox="1">
            <a:spLocks noGrp="1"/>
          </p:cNvSpPr>
          <p:nvPr>
            <p:ph type="body" idx="1"/>
          </p:nvPr>
        </p:nvSpPr>
        <p:spPr>
          <a:xfrm>
            <a:off x="542000" y="1634725"/>
            <a:ext cx="8108700" cy="3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3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●"/>
            </a:pP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Utilisation de couleurs en lien avec la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palette de bleu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pour chacune des visualisations : </a:t>
            </a: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Cohérence avec la couleur de l’eau </a:t>
            </a: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3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●"/>
            </a:pP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Segments et sliders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 soit de couleur foncée sur fond blanc, soit de couleur blanche sur arrière-plans foncés pour une bonne visibilité</a:t>
            </a: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3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●"/>
            </a:pP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Différents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contrastes de bleu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restants lisibles pour les utilisateurs</a:t>
            </a: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3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●"/>
            </a:pP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Multiplicité des types de graphiques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 </a:t>
            </a: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292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○"/>
            </a:pP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nuages de points</a:t>
            </a: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292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○"/>
            </a:pP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histogrammes empilés ou groupés</a:t>
            </a: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292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○"/>
            </a:pP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courbes d’évolution</a:t>
            </a: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292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○"/>
            </a:pP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cartes géographiques avec une colorimétrie personnalisée du bleu clair au bleu foncé selon les valeurs</a:t>
            </a: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292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○"/>
            </a:pP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diagrammes circulaires</a:t>
            </a: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●"/>
            </a:pP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Les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étiquettes d’axes et de données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sont entièrement ne sont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pas tronqués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et donc lisibles</a:t>
            </a: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●"/>
            </a:pP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Cohérence du type de bleu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entre les visuels et les cartes de valeurs</a:t>
            </a: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●"/>
            </a:pP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Les indicateurs propres à chacun des 3 domaines ont été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réunis dans la même zone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chaque page du TDB</a:t>
            </a: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28A7F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13f9e8f1567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172" name="Google Shape;172;g13f9e8f1567_0_0"/>
          <p:cNvSpPr txBox="1">
            <a:spLocks noGrp="1"/>
          </p:cNvSpPr>
          <p:nvPr>
            <p:ph type="body" idx="1"/>
          </p:nvPr>
        </p:nvSpPr>
        <p:spPr>
          <a:xfrm>
            <a:off x="364475" y="1792075"/>
            <a:ext cx="8520600" cy="30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89ADD"/>
              </a:buClr>
              <a:buSzPts val="1200"/>
              <a:buFont typeface="Montserrat"/>
              <a:buChar char="●"/>
            </a:pPr>
            <a:r>
              <a:rPr lang="fr" sz="1400" b="1">
                <a:solidFill>
                  <a:srgbClr val="289ADD"/>
                </a:solidFill>
                <a:latin typeface="Montserrat"/>
                <a:ea typeface="Montserrat"/>
                <a:cs typeface="Montserrat"/>
                <a:sym typeface="Montserrat"/>
              </a:rPr>
              <a:t>Identification des continents où l’accès à l’eau est le plus difficile</a:t>
            </a:r>
            <a:endParaRPr sz="1200" b="1">
              <a:solidFill>
                <a:srgbClr val="289ADD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" sz="1000" b="1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Domaine 1 : </a:t>
            </a:r>
            <a:r>
              <a:rPr lang="fr" sz="100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		Africa / Eastern Mediterranean</a:t>
            </a:r>
            <a:endParaRPr sz="100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" sz="1000" b="1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Domaine 2 : </a:t>
            </a:r>
            <a:r>
              <a:rPr lang="fr" sz="100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		Africa / Western Pacific</a:t>
            </a:r>
            <a:endParaRPr sz="100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" sz="1000" b="1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Domaine 3 : 	</a:t>
            </a:r>
            <a:r>
              <a:rPr lang="fr" sz="100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	Africa / South East Asia</a:t>
            </a:r>
            <a:endParaRPr sz="100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89ADD"/>
              </a:buClr>
              <a:buSzPts val="1400"/>
              <a:buFont typeface="Montserrat"/>
              <a:buChar char="●"/>
            </a:pPr>
            <a:r>
              <a:rPr lang="fr" sz="1400" b="1">
                <a:solidFill>
                  <a:srgbClr val="289ADD"/>
                </a:solidFill>
                <a:latin typeface="Montserrat"/>
                <a:ea typeface="Montserrat"/>
                <a:cs typeface="Montserrat"/>
                <a:sym typeface="Montserrat"/>
              </a:rPr>
              <a:t>Identification des pays où intervenir</a:t>
            </a:r>
            <a:endParaRPr sz="1400" b="1">
              <a:solidFill>
                <a:srgbClr val="289ADD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" sz="1000" b="1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Domaine 1 : 	</a:t>
            </a:r>
            <a:r>
              <a:rPr lang="fr" sz="100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	Angola / Cameroun à prioriser (taux population &gt; 50% et taux d’accès &lt;= 60%)</a:t>
            </a:r>
            <a:endParaRPr sz="100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" sz="1000" b="1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Domaine 2 :	</a:t>
            </a:r>
            <a:r>
              <a:rPr lang="fr" sz="100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	Sierra Leone / Laos (si taux service basique &gt; 50%)</a:t>
            </a:r>
            <a:endParaRPr sz="100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○"/>
            </a:pPr>
            <a:r>
              <a:rPr lang="fr" sz="1000" b="1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Domaine 3 :</a:t>
            </a:r>
            <a:r>
              <a:rPr lang="fr" sz="100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		Bénin (si indice de stabilité politique &gt;= -0.1)</a:t>
            </a:r>
            <a:endParaRPr sz="100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			Sierra Leone (si indice de stabilité politique entre -0.5 et -0.1)</a:t>
            </a:r>
            <a:endParaRPr sz="100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89ADD"/>
              </a:buClr>
              <a:buSzPts val="1400"/>
              <a:buFont typeface="Montserrat"/>
              <a:buChar char="●"/>
            </a:pPr>
            <a:r>
              <a:rPr lang="fr" sz="1400" b="1">
                <a:solidFill>
                  <a:srgbClr val="289ADD"/>
                </a:solidFill>
                <a:latin typeface="Montserrat"/>
                <a:ea typeface="Montserrat"/>
                <a:cs typeface="Montserrat"/>
                <a:sym typeface="Montserrat"/>
              </a:rPr>
              <a:t>A retenir</a:t>
            </a:r>
            <a:endParaRPr sz="1400" b="1">
              <a:solidFill>
                <a:srgbClr val="289AD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-"/>
            </a:pPr>
            <a:r>
              <a:rPr lang="fr" sz="100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Focus sur la zone de l’Afrique qu’importe les domaines d’activités car c’est le continent le plus concerné par les problématiques d’accès/maintenance à l’eau et de mortalité</a:t>
            </a:r>
            <a:endParaRPr sz="100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292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Montserrat"/>
              <a:buChar char="-"/>
            </a:pPr>
            <a:r>
              <a:rPr lang="fr" sz="1000">
                <a:solidFill>
                  <a:srgbClr val="43434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Sélection des pays en fonction du niveau d’indice de stabilité politique (fourchette à définir)</a:t>
            </a:r>
            <a:endParaRPr sz="1000">
              <a:solidFill>
                <a:srgbClr val="43434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909</Words>
  <Application>Microsoft Office PowerPoint</Application>
  <PresentationFormat>Affichage à l'écran (16:9)</PresentationFormat>
  <Paragraphs>138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Montserrat</vt:lpstr>
      <vt:lpstr>Arial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Nas Aylin</cp:lastModifiedBy>
  <cp:revision>1</cp:revision>
  <dcterms:modified xsi:type="dcterms:W3CDTF">2025-10-14T13:00:54Z</dcterms:modified>
</cp:coreProperties>
</file>