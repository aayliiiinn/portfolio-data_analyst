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7" r:id="rId2"/>
    <p:sldId id="258" r:id="rId3"/>
    <p:sldId id="259" r:id="rId4"/>
    <p:sldId id="260" r:id="rId5"/>
    <p:sldId id="261" r:id="rId6"/>
    <p:sldId id="262" r:id="rId7"/>
    <p:sldId id="263"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343BBB-1131-4772-A717-25D804199DA8}" type="datetimeFigureOut">
              <a:rPr lang="fr-FR" smtClean="0"/>
              <a:t>21/12/2025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7B2B31-472F-48CE-9AE3-6F13199CD2EA}" type="slidenum">
              <a:rPr lang="fr-FR" smtClean="0"/>
              <a:t>‹N°›</a:t>
            </a:fld>
            <a:endParaRPr lang="fr-FR"/>
          </a:p>
        </p:txBody>
      </p:sp>
    </p:spTree>
    <p:extLst>
      <p:ext uri="{BB962C8B-B14F-4D97-AF65-F5344CB8AC3E}">
        <p14:creationId xmlns:p14="http://schemas.microsoft.com/office/powerpoint/2010/main" val="215643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E7B2B31-472F-48CE-9AE3-6F13199CD2EA}" type="slidenum">
              <a:rPr lang="fr-FR" smtClean="0"/>
              <a:t>3</a:t>
            </a:fld>
            <a:endParaRPr lang="fr-FR"/>
          </a:p>
        </p:txBody>
      </p:sp>
    </p:spTree>
    <p:extLst>
      <p:ext uri="{BB962C8B-B14F-4D97-AF65-F5344CB8AC3E}">
        <p14:creationId xmlns:p14="http://schemas.microsoft.com/office/powerpoint/2010/main" val="3564976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12/21/2025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521427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12/21/2025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716671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12/21/2025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845367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12/21/2025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729700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12/21/2025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874617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12/21/2025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68597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12/21/2025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674872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12/21/2025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792029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12/21/2025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75610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12/21/2025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415817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12/21/2025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804370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12/21/2025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a:t>
            </a:fld>
            <a:endParaRPr lang="en-US"/>
          </a:p>
        </p:txBody>
      </p:sp>
    </p:spTree>
    <p:extLst>
      <p:ext uri="{BB962C8B-B14F-4D97-AF65-F5344CB8AC3E}">
        <p14:creationId xmlns:p14="http://schemas.microsoft.com/office/powerpoint/2010/main" val="753588744"/>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2E2A66-25A5-E06C-08A1-71B2EE6970BB}"/>
              </a:ext>
            </a:extLst>
          </p:cNvPr>
          <p:cNvSpPr>
            <a:spLocks noGrp="1"/>
          </p:cNvSpPr>
          <p:nvPr>
            <p:ph type="title"/>
          </p:nvPr>
        </p:nvSpPr>
        <p:spPr>
          <a:xfrm>
            <a:off x="694944" y="0"/>
            <a:ext cx="10653578" cy="493776"/>
          </a:xfrm>
        </p:spPr>
        <p:txBody>
          <a:bodyPr>
            <a:normAutofit fontScale="90000"/>
          </a:bodyPr>
          <a:lstStyle/>
          <a:p>
            <a:pPr algn="ctr"/>
            <a:r>
              <a:rPr lang="fr-FR" sz="3200" dirty="0">
                <a:latin typeface="Arial" panose="020B0604020202020204" pitchFamily="34" charset="0"/>
                <a:cs typeface="Arial" panose="020B0604020202020204" pitchFamily="34" charset="0"/>
              </a:rPr>
              <a:t>Cahier des charges - Projet Portfolio</a:t>
            </a:r>
          </a:p>
        </p:txBody>
      </p:sp>
      <p:sp>
        <p:nvSpPr>
          <p:cNvPr id="3" name="Espace réservé du contenu 2">
            <a:extLst>
              <a:ext uri="{FF2B5EF4-FFF2-40B4-BE49-F238E27FC236}">
                <a16:creationId xmlns:a16="http://schemas.microsoft.com/office/drawing/2014/main" id="{C75A6504-723E-573F-EB6B-0F5046108B94}"/>
              </a:ext>
            </a:extLst>
          </p:cNvPr>
          <p:cNvSpPr>
            <a:spLocks noGrp="1"/>
          </p:cNvSpPr>
          <p:nvPr>
            <p:ph idx="1"/>
          </p:nvPr>
        </p:nvSpPr>
        <p:spPr>
          <a:xfrm>
            <a:off x="694943" y="574302"/>
            <a:ext cx="10653579" cy="4593828"/>
          </a:xfrm>
        </p:spPr>
        <p:txBody>
          <a:bodyPr>
            <a:normAutofit lnSpcReduction="10000"/>
          </a:bodyPr>
          <a:lstStyle/>
          <a:p>
            <a:r>
              <a:rPr lang="fr-FR" dirty="0"/>
              <a:t>Contexte et présentation du projet </a:t>
            </a:r>
            <a:r>
              <a:rPr lang="fr-FR" dirty="0" err="1"/>
              <a:t>Aéroworld</a:t>
            </a:r>
            <a:r>
              <a:rPr lang="fr-FR" dirty="0"/>
              <a:t> est une entreprise française et d'envergure mondiale qui opère dans l'industrie aéronautique depuis plus de 50 ans. Elle se spécialise dans la conception, le développement, la fabrication et la maintenance des avions, et compte des milliers d'employés à travers différents pays.</a:t>
            </a:r>
          </a:p>
          <a:p>
            <a:r>
              <a:rPr lang="fr-FR" dirty="0" err="1"/>
              <a:t>Aéroworld</a:t>
            </a:r>
            <a:r>
              <a:rPr lang="fr-FR" dirty="0"/>
              <a:t> recourt de façon massive à la Data dans le cadre de ses activités et commencé à mettre en place de nombreux outils pour traiter la Data au quotidien(« data-</a:t>
            </a:r>
            <a:r>
              <a:rPr lang="fr-FR" dirty="0" err="1"/>
              <a:t>enabled</a:t>
            </a:r>
            <a:r>
              <a:rPr lang="fr-FR" dirty="0"/>
              <a:t> ») mais n'est pas encore dans une démarche « data-</a:t>
            </a:r>
            <a:r>
              <a:rPr lang="fr-FR" dirty="0" err="1"/>
              <a:t>driven</a:t>
            </a:r>
            <a:r>
              <a:rPr lang="fr-FR" dirty="0"/>
              <a:t> », qui est ce vers quoi elle veut tendre. </a:t>
            </a:r>
          </a:p>
          <a:p>
            <a:r>
              <a:rPr lang="fr-FR" dirty="0"/>
              <a:t>Afin de répondre à ces enjeux, </a:t>
            </a:r>
            <a:r>
              <a:rPr lang="fr-FR" dirty="0" err="1"/>
              <a:t>Aéroworld</a:t>
            </a:r>
            <a:r>
              <a:rPr lang="fr-FR" dirty="0"/>
              <a:t> souhaite recruter un Data </a:t>
            </a:r>
            <a:r>
              <a:rPr lang="fr-FR" dirty="0" err="1"/>
              <a:t>Analyst</a:t>
            </a:r>
            <a:r>
              <a:rPr lang="fr-FR" dirty="0"/>
              <a:t> Chef de Projet expérimenté et polyvalent. Dans l'optique d'évaluer les aspirants à ce poste, l'entreprise est attachée à ce que chaque candidat lui soumette un portfolio de projets réalisés au cours de ses formations ou de ses expériences passées.</a:t>
            </a:r>
          </a:p>
        </p:txBody>
      </p:sp>
      <p:sp>
        <p:nvSpPr>
          <p:cNvPr id="4" name="ZoneTexte 3">
            <a:extLst>
              <a:ext uri="{FF2B5EF4-FFF2-40B4-BE49-F238E27FC236}">
                <a16:creationId xmlns:a16="http://schemas.microsoft.com/office/drawing/2014/main" id="{2E75AD7A-93E3-ECF5-7083-5D9C79881D90}"/>
              </a:ext>
            </a:extLst>
          </p:cNvPr>
          <p:cNvSpPr txBox="1"/>
          <p:nvPr/>
        </p:nvSpPr>
        <p:spPr>
          <a:xfrm>
            <a:off x="548640" y="5029200"/>
            <a:ext cx="11265408" cy="1200329"/>
          </a:xfrm>
          <a:prstGeom prst="rect">
            <a:avLst/>
          </a:prstGeom>
          <a:noFill/>
        </p:spPr>
        <p:txBody>
          <a:bodyPr wrap="square" rtlCol="0">
            <a:spAutoFit/>
          </a:bodyPr>
          <a:lstStyle/>
          <a:p>
            <a:r>
              <a:rPr lang="fr-FR" b="1" dirty="0"/>
              <a:t>Parties prenantes</a:t>
            </a:r>
          </a:p>
          <a:p>
            <a:endParaRPr lang="fr-FR" b="1" dirty="0"/>
          </a:p>
          <a:p>
            <a:pPr marL="285750" indent="-285750">
              <a:buFont typeface="Arial" panose="020B0604020202020204" pitchFamily="34" charset="0"/>
              <a:buChar char="•"/>
            </a:pPr>
            <a:r>
              <a:rPr lang="fr-FR" dirty="0"/>
              <a:t>Côté candidat : le candidat lui-même et son mentor ;</a:t>
            </a:r>
          </a:p>
          <a:p>
            <a:pPr marL="285750" indent="-285750">
              <a:buFont typeface="Arial" panose="020B0604020202020204" pitchFamily="34" charset="0"/>
              <a:buChar char="•"/>
            </a:pPr>
            <a:r>
              <a:rPr lang="fr-FR" dirty="0"/>
              <a:t> Côté </a:t>
            </a:r>
            <a:r>
              <a:rPr lang="fr-FR" dirty="0" err="1"/>
              <a:t>Aéroworld</a:t>
            </a:r>
            <a:r>
              <a:rPr lang="fr-FR" dirty="0"/>
              <a:t> : les recruteurs pour le poste et le service RH.</a:t>
            </a:r>
          </a:p>
        </p:txBody>
      </p:sp>
    </p:spTree>
    <p:extLst>
      <p:ext uri="{BB962C8B-B14F-4D97-AF65-F5344CB8AC3E}">
        <p14:creationId xmlns:p14="http://schemas.microsoft.com/office/powerpoint/2010/main" val="1567777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387B24-3224-B88F-066A-0D8129669074}"/>
              </a:ext>
            </a:extLst>
          </p:cNvPr>
          <p:cNvSpPr>
            <a:spLocks noGrp="1"/>
          </p:cNvSpPr>
          <p:nvPr>
            <p:ph type="title"/>
          </p:nvPr>
        </p:nvSpPr>
        <p:spPr/>
        <p:txBody>
          <a:bodyPr>
            <a:normAutofit/>
          </a:bodyPr>
          <a:lstStyle/>
          <a:p>
            <a:pPr algn="ctr"/>
            <a:r>
              <a:rPr lang="fr-FR" sz="3200" dirty="0">
                <a:latin typeface="Arial" panose="020B0604020202020204" pitchFamily="34" charset="0"/>
                <a:cs typeface="Arial" panose="020B0604020202020204" pitchFamily="34" charset="0"/>
              </a:rPr>
              <a:t>Expression des besoins métier</a:t>
            </a:r>
          </a:p>
        </p:txBody>
      </p:sp>
      <p:sp>
        <p:nvSpPr>
          <p:cNvPr id="3" name="Espace réservé du contenu 2">
            <a:extLst>
              <a:ext uri="{FF2B5EF4-FFF2-40B4-BE49-F238E27FC236}">
                <a16:creationId xmlns:a16="http://schemas.microsoft.com/office/drawing/2014/main" id="{FEE298D0-9BEA-D08E-DAD9-6A8FCB4C1375}"/>
              </a:ext>
            </a:extLst>
          </p:cNvPr>
          <p:cNvSpPr>
            <a:spLocks noGrp="1"/>
          </p:cNvSpPr>
          <p:nvPr>
            <p:ph idx="1"/>
          </p:nvPr>
        </p:nvSpPr>
        <p:spPr/>
        <p:txBody>
          <a:bodyPr/>
          <a:lstStyle/>
          <a:p>
            <a:r>
              <a:rPr lang="fr-FR" dirty="0"/>
              <a:t>Dans un contexte d'utilisation massive de la donnée, que ce soit en R&amp;D, maintenance ou sécurité, </a:t>
            </a:r>
            <a:r>
              <a:rPr lang="fr-FR" dirty="0" err="1"/>
              <a:t>Aeroworld</a:t>
            </a:r>
            <a:r>
              <a:rPr lang="fr-FR" dirty="0"/>
              <a:t> souhaite en améliorer la gouvernance, l'</a:t>
            </a:r>
            <a:r>
              <a:rPr lang="fr-FR" dirty="0" err="1"/>
              <a:t>interoperabilité</a:t>
            </a:r>
            <a:r>
              <a:rPr lang="fr-FR" dirty="0"/>
              <a:t>, la valorisation et la sécurisation. De plus, l'entreprise est convaincue que l'exploitation de la donnée constitue un levier stratégique de création de valeur.</a:t>
            </a:r>
          </a:p>
          <a:p>
            <a:r>
              <a:rPr lang="fr-FR" dirty="0"/>
              <a:t>Le client a donc pour objectifs de poursuivre sa démarche globale de structuration, de protection et de valorisation de la donnée. Il a également conscience qu'il lui faut aller encore plus loin dans l'acculturation de ses équipes à la donnée. Enfin, </a:t>
            </a:r>
            <a:r>
              <a:rPr lang="fr-FR" dirty="0" err="1"/>
              <a:t>Aeroworld</a:t>
            </a:r>
            <a:r>
              <a:rPr lang="fr-FR" dirty="0"/>
              <a:t> souhaite disposer de profils a-</a:t>
            </a:r>
            <a:r>
              <a:rPr lang="fr-FR" dirty="0" err="1"/>
              <a:t>meme</a:t>
            </a:r>
            <a:r>
              <a:rPr lang="fr-FR" dirty="0"/>
              <a:t> de piloter des projets data complexes.</a:t>
            </a:r>
          </a:p>
          <a:p>
            <a:r>
              <a:rPr lang="fr-FR" dirty="0"/>
              <a:t>Le projet portfolio dont ce document fait l'objet vise à </a:t>
            </a:r>
            <a:r>
              <a:rPr lang="fr-FR" dirty="0" err="1"/>
              <a:t>demontrer</a:t>
            </a:r>
            <a:r>
              <a:rPr lang="fr-FR" dirty="0"/>
              <a:t> la capacité du candidat à répondre à ces besoins.</a:t>
            </a:r>
          </a:p>
        </p:txBody>
      </p:sp>
    </p:spTree>
    <p:extLst>
      <p:ext uri="{BB962C8B-B14F-4D97-AF65-F5344CB8AC3E}">
        <p14:creationId xmlns:p14="http://schemas.microsoft.com/office/powerpoint/2010/main" val="1040414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88FDE4-7F3B-6233-D358-71C607804138}"/>
              </a:ext>
            </a:extLst>
          </p:cNvPr>
          <p:cNvSpPr>
            <a:spLocks noGrp="1"/>
          </p:cNvSpPr>
          <p:nvPr>
            <p:ph type="title"/>
          </p:nvPr>
        </p:nvSpPr>
        <p:spPr>
          <a:xfrm>
            <a:off x="612648" y="91440"/>
            <a:ext cx="10653578" cy="603504"/>
          </a:xfrm>
        </p:spPr>
        <p:txBody>
          <a:bodyPr>
            <a:normAutofit/>
          </a:bodyPr>
          <a:lstStyle/>
          <a:p>
            <a:pPr algn="ctr"/>
            <a:r>
              <a:rPr lang="fr-FR" sz="3200" dirty="0">
                <a:latin typeface="Arial" panose="020B0604020202020204" pitchFamily="34" charset="0"/>
                <a:cs typeface="Arial" panose="020B0604020202020204" pitchFamily="34" charset="0"/>
              </a:rPr>
              <a:t>Objectifs du projet</a:t>
            </a:r>
          </a:p>
        </p:txBody>
      </p:sp>
      <p:sp>
        <p:nvSpPr>
          <p:cNvPr id="3" name="Espace réservé du contenu 2">
            <a:extLst>
              <a:ext uri="{FF2B5EF4-FFF2-40B4-BE49-F238E27FC236}">
                <a16:creationId xmlns:a16="http://schemas.microsoft.com/office/drawing/2014/main" id="{FDBEB3B1-C4AA-00BB-87AF-E8FF168C2952}"/>
              </a:ext>
            </a:extLst>
          </p:cNvPr>
          <p:cNvSpPr>
            <a:spLocks noGrp="1"/>
          </p:cNvSpPr>
          <p:nvPr>
            <p:ph idx="1"/>
          </p:nvPr>
        </p:nvSpPr>
        <p:spPr>
          <a:xfrm>
            <a:off x="769210" y="694944"/>
            <a:ext cx="10653579" cy="4144002"/>
          </a:xfrm>
        </p:spPr>
        <p:txBody>
          <a:bodyPr/>
          <a:lstStyle/>
          <a:p>
            <a:r>
              <a:rPr lang="fr-FR" dirty="0">
                <a:latin typeface="Arial" panose="020B0604020202020204" pitchFamily="34" charset="0"/>
                <a:cs typeface="Arial" panose="020B0604020202020204" pitchFamily="34" charset="0"/>
              </a:rPr>
              <a:t>L'objectif principal du projet est de créer un portfolio professionnel réflexif complet qui atteste de la pertinence du candidat pour le poste de Data </a:t>
            </a:r>
            <a:r>
              <a:rPr lang="fr-FR" dirty="0" err="1">
                <a:latin typeface="Arial" panose="020B0604020202020204" pitchFamily="34" charset="0"/>
                <a:cs typeface="Arial" panose="020B0604020202020204" pitchFamily="34" charset="0"/>
              </a:rPr>
              <a:t>Analyst</a:t>
            </a:r>
            <a:r>
              <a:rPr lang="fr-FR" dirty="0">
                <a:latin typeface="Arial" panose="020B0604020202020204" pitchFamily="34" charset="0"/>
                <a:cs typeface="Arial" panose="020B0604020202020204" pitchFamily="34" charset="0"/>
              </a:rPr>
              <a:t> Chef de Projet qu'ouvre la société </a:t>
            </a:r>
            <a:r>
              <a:rPr lang="fr-FR" dirty="0" err="1">
                <a:latin typeface="Arial" panose="020B0604020202020204" pitchFamily="34" charset="0"/>
                <a:cs typeface="Arial" panose="020B0604020202020204" pitchFamily="34" charset="0"/>
              </a:rPr>
              <a:t>Aeroworld</a:t>
            </a:r>
            <a:r>
              <a:rPr lang="fr-FR" dirty="0">
                <a:latin typeface="Arial" panose="020B0604020202020204" pitchFamily="34" charset="0"/>
                <a:cs typeface="Arial" panose="020B0604020202020204" pitchFamily="34" charset="0"/>
              </a:rPr>
              <a:t> pour poursuivre sa transformation Data.</a:t>
            </a:r>
          </a:p>
          <a:p>
            <a:r>
              <a:rPr lang="fr-FR" dirty="0">
                <a:latin typeface="Arial" panose="020B0604020202020204" pitchFamily="34" charset="0"/>
                <a:cs typeface="Arial" panose="020B0604020202020204" pitchFamily="34" charset="0"/>
              </a:rPr>
              <a:t> Cet objectif principal se décline en objectifs spécifiques plus précis, qui consistent illustrer des compétences-clés grâce à des livrables complémentaires :</a:t>
            </a:r>
          </a:p>
          <a:p>
            <a:r>
              <a:rPr lang="fr-FR" dirty="0">
                <a:latin typeface="Arial" panose="020B0604020202020204" pitchFamily="34" charset="0"/>
                <a:cs typeface="Arial" panose="020B0604020202020204" pitchFamily="34" charset="0"/>
              </a:rPr>
              <a:t>pilotage et prise de recul (portfolio structuré sous GitHub) ;</a:t>
            </a:r>
          </a:p>
          <a:p>
            <a:r>
              <a:rPr lang="fr-FR" dirty="0">
                <a:latin typeface="Arial" panose="020B0604020202020204" pitchFamily="34" charset="0"/>
                <a:cs typeface="Arial" panose="020B0604020202020204" pitchFamily="34" charset="0"/>
              </a:rPr>
              <a:t> innovation (tableau de bord de veille métier) </a:t>
            </a:r>
          </a:p>
          <a:p>
            <a:r>
              <a:rPr lang="fr-FR" dirty="0">
                <a:latin typeface="Arial" panose="020B0604020202020204" pitchFamily="34" charset="0"/>
                <a:cs typeface="Arial" panose="020B0604020202020204" pitchFamily="34" charset="0"/>
              </a:rPr>
              <a:t> communication (vidéo et documentation de formation) ;</a:t>
            </a:r>
          </a:p>
          <a:p>
            <a:r>
              <a:rPr lang="fr-FR" dirty="0">
                <a:latin typeface="Arial" panose="020B0604020202020204" pitchFamily="34" charset="0"/>
                <a:cs typeface="Arial" panose="020B0604020202020204" pitchFamily="34" charset="0"/>
              </a:rPr>
              <a:t> data visualisation (CV interactif).</a:t>
            </a:r>
          </a:p>
        </p:txBody>
      </p:sp>
      <p:sp>
        <p:nvSpPr>
          <p:cNvPr id="4" name="ZoneTexte 3">
            <a:extLst>
              <a:ext uri="{FF2B5EF4-FFF2-40B4-BE49-F238E27FC236}">
                <a16:creationId xmlns:a16="http://schemas.microsoft.com/office/drawing/2014/main" id="{07787600-831B-F0C8-F219-578C7F0B3223}"/>
              </a:ext>
            </a:extLst>
          </p:cNvPr>
          <p:cNvSpPr txBox="1"/>
          <p:nvPr/>
        </p:nvSpPr>
        <p:spPr>
          <a:xfrm>
            <a:off x="467867" y="4716947"/>
            <a:ext cx="11256264" cy="2031325"/>
          </a:xfrm>
          <a:prstGeom prst="rect">
            <a:avLst/>
          </a:prstGeom>
          <a:noFill/>
        </p:spPr>
        <p:txBody>
          <a:bodyPr wrap="square" rtlCol="0">
            <a:spAutoFit/>
          </a:bodyPr>
          <a:lstStyle/>
          <a:p>
            <a:r>
              <a:rPr lang="fr-FR" b="1" dirty="0">
                <a:latin typeface="Arial" panose="020B0604020202020204" pitchFamily="34" charset="0"/>
                <a:cs typeface="Arial" panose="020B0604020202020204" pitchFamily="34" charset="0"/>
              </a:rPr>
              <a:t>Périmètre du projet</a:t>
            </a:r>
          </a:p>
          <a:p>
            <a:endParaRPr lang="fr-FR" b="1"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Sont inclus dans le périmètre du projet :</a:t>
            </a:r>
          </a:p>
          <a:p>
            <a:pPr marL="285750" indent="-285750">
              <a:buFont typeface="Arial" panose="020B0604020202020204" pitchFamily="34" charset="0"/>
              <a:buChar char="•"/>
            </a:pPr>
            <a:r>
              <a:rPr lang="fr-FR" dirty="0">
                <a:latin typeface="Arial" panose="020B0604020202020204" pitchFamily="34" charset="0"/>
                <a:cs typeface="Arial" panose="020B0604020202020204" pitchFamily="34" charset="0"/>
              </a:rPr>
              <a:t>l'analyse des besoins clients ;</a:t>
            </a:r>
          </a:p>
          <a:p>
            <a:pPr marL="285750" indent="-285750">
              <a:buFont typeface="Arial" panose="020B0604020202020204" pitchFamily="34" charset="0"/>
              <a:buChar char="•"/>
            </a:pPr>
            <a:r>
              <a:rPr lang="fr-FR" dirty="0">
                <a:latin typeface="Arial" panose="020B0604020202020204" pitchFamily="34" charset="0"/>
                <a:cs typeface="Arial" panose="020B0604020202020204" pitchFamily="34" charset="0"/>
              </a:rPr>
              <a:t>la conception du portfolio et des livrables complémentaires ;</a:t>
            </a:r>
          </a:p>
          <a:p>
            <a:pPr marL="285750" indent="-285750">
              <a:buFont typeface="Arial" panose="020B0604020202020204" pitchFamily="34" charset="0"/>
              <a:buChar char="•"/>
            </a:pPr>
            <a:r>
              <a:rPr lang="fr-FR" dirty="0">
                <a:latin typeface="Arial" panose="020B0604020202020204" pitchFamily="34" charset="0"/>
                <a:cs typeface="Arial" panose="020B0604020202020204" pitchFamily="34" charset="0"/>
              </a:rPr>
              <a:t> la rédaction et la production des supports, ou a défaut la communication d'un lien d'accès ;</a:t>
            </a:r>
          </a:p>
          <a:p>
            <a:pPr marL="285750" indent="-285750">
              <a:buFont typeface="Arial" panose="020B0604020202020204" pitchFamily="34" charset="0"/>
              <a:buChar char="•"/>
            </a:pPr>
            <a:r>
              <a:rPr lang="fr-FR" dirty="0">
                <a:latin typeface="Arial" panose="020B0604020202020204" pitchFamily="34" charset="0"/>
                <a:cs typeface="Arial" panose="020B0604020202020204" pitchFamily="34" charset="0"/>
              </a:rPr>
              <a:t> réalisation d'une présentation orale s'appuyant sur le portfolio.</a:t>
            </a:r>
          </a:p>
        </p:txBody>
      </p:sp>
    </p:spTree>
    <p:extLst>
      <p:ext uri="{BB962C8B-B14F-4D97-AF65-F5344CB8AC3E}">
        <p14:creationId xmlns:p14="http://schemas.microsoft.com/office/powerpoint/2010/main" val="504179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E85ACE-B07E-5DDD-4C3F-EC582F80B064}"/>
              </a:ext>
            </a:extLst>
          </p:cNvPr>
          <p:cNvSpPr>
            <a:spLocks noGrp="1"/>
          </p:cNvSpPr>
          <p:nvPr>
            <p:ph type="title"/>
          </p:nvPr>
        </p:nvSpPr>
        <p:spPr/>
        <p:txBody>
          <a:bodyPr>
            <a:normAutofit/>
          </a:bodyPr>
          <a:lstStyle/>
          <a:p>
            <a:pPr algn="ctr"/>
            <a:r>
              <a:rPr lang="fr-FR" sz="3200" dirty="0">
                <a:latin typeface="Arial" panose="020B0604020202020204" pitchFamily="34" charset="0"/>
                <a:cs typeface="Arial" panose="020B0604020202020204" pitchFamily="34" charset="0"/>
              </a:rPr>
              <a:t>Livrables</a:t>
            </a:r>
            <a:br>
              <a:rPr lang="fr-FR" sz="3200" dirty="0">
                <a:latin typeface="Arial" panose="020B0604020202020204" pitchFamily="34" charset="0"/>
                <a:cs typeface="Arial" panose="020B0604020202020204" pitchFamily="34" charset="0"/>
              </a:rPr>
            </a:br>
            <a:r>
              <a:rPr lang="fr-FR" sz="3200" dirty="0">
                <a:latin typeface="Arial" panose="020B0604020202020204" pitchFamily="34" charset="0"/>
                <a:cs typeface="Arial" panose="020B0604020202020204" pitchFamily="34" charset="0"/>
              </a:rPr>
              <a:t>Tableau synthétique </a:t>
            </a:r>
          </a:p>
        </p:txBody>
      </p:sp>
      <p:pic>
        <p:nvPicPr>
          <p:cNvPr id="5" name="Espace réservé du contenu 4" descr="Une image contenant texte, capture d’écran, Police, nombre&#10;&#10;Le contenu généré par l’IA peut être incorrect.">
            <a:extLst>
              <a:ext uri="{FF2B5EF4-FFF2-40B4-BE49-F238E27FC236}">
                <a16:creationId xmlns:a16="http://schemas.microsoft.com/office/drawing/2014/main" id="{C2856EAA-59A1-11DE-8462-64BFAE0D29A5}"/>
              </a:ext>
            </a:extLst>
          </p:cNvPr>
          <p:cNvPicPr>
            <a:picLocks noGrp="1" noChangeAspect="1"/>
          </p:cNvPicPr>
          <p:nvPr>
            <p:ph idx="1"/>
          </p:nvPr>
        </p:nvPicPr>
        <p:blipFill>
          <a:blip r:embed="rId2"/>
          <a:stretch>
            <a:fillRect/>
          </a:stretch>
        </p:blipFill>
        <p:spPr>
          <a:xfrm>
            <a:off x="2181225" y="1857260"/>
            <a:ext cx="8202339" cy="4452100"/>
          </a:xfrm>
          <a:prstGeom prst="rect">
            <a:avLst/>
          </a:prstGeom>
        </p:spPr>
      </p:pic>
    </p:spTree>
    <p:extLst>
      <p:ext uri="{BB962C8B-B14F-4D97-AF65-F5344CB8AC3E}">
        <p14:creationId xmlns:p14="http://schemas.microsoft.com/office/powerpoint/2010/main" val="1486810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4A78EA-05DD-9F9E-49BF-FB8AF2A3A31E}"/>
              </a:ext>
            </a:extLst>
          </p:cNvPr>
          <p:cNvSpPr>
            <a:spLocks noGrp="1"/>
          </p:cNvSpPr>
          <p:nvPr>
            <p:ph type="title"/>
          </p:nvPr>
        </p:nvSpPr>
        <p:spPr/>
        <p:txBody>
          <a:bodyPr>
            <a:normAutofit/>
          </a:bodyPr>
          <a:lstStyle/>
          <a:p>
            <a:pPr algn="ctr"/>
            <a:r>
              <a:rPr lang="fr-FR" sz="3200" dirty="0">
                <a:latin typeface="Arial" panose="020B0604020202020204" pitchFamily="34" charset="0"/>
                <a:cs typeface="Arial" panose="020B0604020202020204" pitchFamily="34" charset="0"/>
              </a:rPr>
              <a:t>Détail fonctionnel de chaque livrable :</a:t>
            </a:r>
          </a:p>
        </p:txBody>
      </p:sp>
      <p:sp>
        <p:nvSpPr>
          <p:cNvPr id="3" name="Espace réservé du contenu 2">
            <a:extLst>
              <a:ext uri="{FF2B5EF4-FFF2-40B4-BE49-F238E27FC236}">
                <a16:creationId xmlns:a16="http://schemas.microsoft.com/office/drawing/2014/main" id="{6B2E9E49-8032-B933-F7AF-7B6FF7FDEDE2}"/>
              </a:ext>
            </a:extLst>
          </p:cNvPr>
          <p:cNvSpPr>
            <a:spLocks noGrp="1"/>
          </p:cNvSpPr>
          <p:nvPr>
            <p:ph idx="1"/>
          </p:nvPr>
        </p:nvSpPr>
        <p:spPr>
          <a:xfrm>
            <a:off x="612648" y="1132086"/>
            <a:ext cx="10653579" cy="4593828"/>
          </a:xfrm>
        </p:spPr>
        <p:txBody>
          <a:bodyPr>
            <a:normAutofit fontScale="55000" lnSpcReduction="20000"/>
          </a:bodyPr>
          <a:lstStyle/>
          <a:p>
            <a:pPr marL="0" indent="0">
              <a:buNone/>
            </a:pPr>
            <a:r>
              <a:rPr lang="fr-FR" b="1" dirty="0"/>
              <a:t>Portfolio principal :</a:t>
            </a:r>
          </a:p>
          <a:p>
            <a:r>
              <a:rPr lang="fr-FR" dirty="0"/>
              <a:t>formats : présentation PowerPoint synthétique (1 slide par projet) + dépôt GitHub avec les livrables de chaque projet ;</a:t>
            </a:r>
          </a:p>
          <a:p>
            <a:r>
              <a:rPr lang="fr-FR" dirty="0"/>
              <a:t> contenu: présentation synthétique du profil, projets data contexte utilisés, analyses de besoins, storytelling visuel ;</a:t>
            </a:r>
          </a:p>
          <a:p>
            <a:r>
              <a:rPr lang="fr-FR" dirty="0"/>
              <a:t> objectif fonctionnel : démontrer la capacité à articuler données, enjeux métier et posture de consultant ;</a:t>
            </a:r>
          </a:p>
          <a:p>
            <a:r>
              <a:rPr lang="fr-FR" dirty="0"/>
              <a:t>contraintes: cohérence graphique, lisibilité, contextualisation, ton professionnel.</a:t>
            </a:r>
          </a:p>
          <a:p>
            <a:pPr marL="0" indent="0">
              <a:buNone/>
            </a:pPr>
            <a:r>
              <a:rPr lang="fr-FR" b="1" dirty="0"/>
              <a:t>Dashboard de profil du candidat :</a:t>
            </a:r>
          </a:p>
          <a:p>
            <a:r>
              <a:rPr lang="fr-FR" dirty="0"/>
              <a:t>. format : Dashboard Power BI ;</a:t>
            </a:r>
          </a:p>
          <a:p>
            <a:r>
              <a:rPr lang="fr-FR" dirty="0"/>
              <a:t>· contenu : présentation du profil du candidat, ses expériences (projets) et ses compétences en analyse de données, ses soft </a:t>
            </a:r>
            <a:r>
              <a:rPr lang="fr-FR" dirty="0" err="1"/>
              <a:t>skills</a:t>
            </a:r>
            <a:r>
              <a:rPr lang="fr-FR" dirty="0"/>
              <a:t>. </a:t>
            </a:r>
          </a:p>
          <a:p>
            <a:r>
              <a:rPr lang="fr-FR" dirty="0"/>
              <a:t>objectif fonctionnel : afficher les informations habituelles d'un CV ou d’un dossier de compétences de façon dynamique et interactive. </a:t>
            </a:r>
          </a:p>
          <a:p>
            <a:r>
              <a:rPr lang="fr-FR" dirty="0"/>
              <a:t>contraintes : accessibilité, clarté visuelle, neutralité esthétique</a:t>
            </a:r>
          </a:p>
          <a:p>
            <a:pPr marL="0" indent="0">
              <a:buNone/>
            </a:pPr>
            <a:r>
              <a:rPr lang="fr-FR" b="1" dirty="0"/>
              <a:t>Tableau de bord de veille métier :</a:t>
            </a:r>
          </a:p>
          <a:p>
            <a:r>
              <a:rPr lang="fr-FR" dirty="0"/>
              <a:t>format : Dashboard Power BI ;</a:t>
            </a:r>
          </a:p>
          <a:p>
            <a:r>
              <a:rPr lang="fr-FR" dirty="0"/>
              <a:t>contenu: tester une méthode d'analyse de données non-</a:t>
            </a:r>
            <a:r>
              <a:rPr lang="fr-FR" dirty="0" err="1"/>
              <a:t>academique</a:t>
            </a:r>
            <a:r>
              <a:rPr lang="fr-FR" dirty="0"/>
              <a:t> </a:t>
            </a:r>
            <a:r>
              <a:rPr lang="fr-FR" dirty="0" err="1"/>
              <a:t>recente</a:t>
            </a:r>
            <a:r>
              <a:rPr lang="fr-FR" dirty="0"/>
              <a:t> et en illustrer les résultats par des comparaisons avec des méthodes classiques· </a:t>
            </a:r>
          </a:p>
          <a:p>
            <a:r>
              <a:rPr lang="fr-FR" dirty="0"/>
              <a:t>objectif fonctionnel: prouver la capacité à faire de la veille technique, à réaliser des recherches sur des outils ou méthodes d'analyse de données· </a:t>
            </a:r>
          </a:p>
          <a:p>
            <a:r>
              <a:rPr lang="fr-FR" dirty="0"/>
              <a:t>contraintes : clarté, référence explicite des sources, actualité du sujet</a:t>
            </a:r>
          </a:p>
        </p:txBody>
      </p:sp>
      <p:sp>
        <p:nvSpPr>
          <p:cNvPr id="4" name="ZoneTexte 3">
            <a:extLst>
              <a:ext uri="{FF2B5EF4-FFF2-40B4-BE49-F238E27FC236}">
                <a16:creationId xmlns:a16="http://schemas.microsoft.com/office/drawing/2014/main" id="{F76A608B-DD50-2BFE-B712-FF6DDFB13926}"/>
              </a:ext>
            </a:extLst>
          </p:cNvPr>
          <p:cNvSpPr txBox="1"/>
          <p:nvPr/>
        </p:nvSpPr>
        <p:spPr>
          <a:xfrm>
            <a:off x="612648" y="5753346"/>
            <a:ext cx="11219688" cy="1107996"/>
          </a:xfrm>
          <a:prstGeom prst="rect">
            <a:avLst/>
          </a:prstGeom>
          <a:noFill/>
        </p:spPr>
        <p:txBody>
          <a:bodyPr wrap="square" rtlCol="0">
            <a:spAutoFit/>
          </a:bodyPr>
          <a:lstStyle/>
          <a:p>
            <a:r>
              <a:rPr lang="fr-FR" sz="1100" b="1" dirty="0">
                <a:cs typeface="Arial" panose="020B0604020202020204" pitchFamily="34" charset="0"/>
              </a:rPr>
              <a:t>Vidéo de formation :</a:t>
            </a:r>
          </a:p>
          <a:p>
            <a:endParaRPr lang="fr-FR" sz="1100" b="1" dirty="0">
              <a:cs typeface="Arial" panose="020B0604020202020204" pitchFamily="34" charset="0"/>
            </a:endParaRPr>
          </a:p>
          <a:p>
            <a:r>
              <a:rPr lang="fr-FR" sz="1100" b="1" dirty="0">
                <a:cs typeface="Arial" panose="020B0604020202020204" pitchFamily="34" charset="0"/>
              </a:rPr>
              <a:t>· </a:t>
            </a:r>
            <a:r>
              <a:rPr lang="fr-FR" sz="1100" dirty="0">
                <a:cs typeface="Arial" panose="020B0604020202020204" pitchFamily="34" charset="0"/>
              </a:rPr>
              <a:t>format : vidéo YouTube déréférencée (&gt; 8 minutes), accessible via un lien ;</a:t>
            </a:r>
          </a:p>
          <a:p>
            <a:r>
              <a:rPr lang="fr-FR" sz="1100" dirty="0">
                <a:cs typeface="Arial" panose="020B0604020202020204" pitchFamily="34" charset="0"/>
              </a:rPr>
              <a:t>. contenu: démonstration d'un processus complet de création d'un visuel Power BI, narration structurée (introduction, démonstration, synthèse)</a:t>
            </a:r>
          </a:p>
          <a:p>
            <a:r>
              <a:rPr lang="fr-FR" sz="1100" dirty="0">
                <a:cs typeface="Arial" panose="020B0604020202020204" pitchFamily="34" charset="0"/>
              </a:rPr>
              <a:t>. objectif fonctionnel: démontrer la capacite a transmettre un savoir technique sur un outil data spécifique</a:t>
            </a:r>
          </a:p>
          <a:p>
            <a:r>
              <a:rPr lang="fr-FR" sz="1100" dirty="0">
                <a:cs typeface="Arial" panose="020B0604020202020204" pitchFamily="34" charset="0"/>
              </a:rPr>
              <a:t>. contraintes: ton professionnel, qualité audio/vidéo correcte, </a:t>
            </a:r>
            <a:r>
              <a:rPr lang="fr-FR" sz="1100" dirty="0" err="1">
                <a:cs typeface="Arial" panose="020B0604020202020204" pitchFamily="34" charset="0"/>
              </a:rPr>
              <a:t>clarte</a:t>
            </a:r>
            <a:r>
              <a:rPr lang="fr-FR" sz="1100" dirty="0">
                <a:cs typeface="Arial" panose="020B0604020202020204" pitchFamily="34" charset="0"/>
              </a:rPr>
              <a:t> pédagogique</a:t>
            </a:r>
          </a:p>
        </p:txBody>
      </p:sp>
    </p:spTree>
    <p:extLst>
      <p:ext uri="{BB962C8B-B14F-4D97-AF65-F5344CB8AC3E}">
        <p14:creationId xmlns:p14="http://schemas.microsoft.com/office/powerpoint/2010/main" val="1867676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12D17FA-F1E7-1CDF-A0A4-66A2A88AE6AA}"/>
              </a:ext>
            </a:extLst>
          </p:cNvPr>
          <p:cNvSpPr>
            <a:spLocks noGrp="1"/>
          </p:cNvSpPr>
          <p:nvPr>
            <p:ph idx="1"/>
          </p:nvPr>
        </p:nvSpPr>
        <p:spPr>
          <a:xfrm>
            <a:off x="521207" y="170196"/>
            <a:ext cx="10653579" cy="4593828"/>
          </a:xfrm>
        </p:spPr>
        <p:txBody>
          <a:bodyPr>
            <a:normAutofit fontScale="55000" lnSpcReduction="20000"/>
          </a:bodyPr>
          <a:lstStyle/>
          <a:p>
            <a:r>
              <a:rPr lang="fr-FR" sz="1600" b="1" dirty="0"/>
              <a:t>Documentation technique :</a:t>
            </a:r>
          </a:p>
          <a:p>
            <a:r>
              <a:rPr lang="fr-FR" sz="1600" dirty="0"/>
              <a:t> format : document écrit PDF ;</a:t>
            </a:r>
          </a:p>
          <a:p>
            <a:r>
              <a:rPr lang="fr-FR" sz="1600" dirty="0"/>
              <a:t>contenu :contexte du visuel Power BI ;</a:t>
            </a:r>
          </a:p>
          <a:p>
            <a:r>
              <a:rPr lang="fr-FR" sz="1600" dirty="0"/>
              <a:t>étapes techniques détaillées ;</a:t>
            </a:r>
          </a:p>
          <a:p>
            <a:r>
              <a:rPr lang="fr-FR" sz="1600" dirty="0"/>
              <a:t> bonnes pratiques et paramétrages ;</a:t>
            </a:r>
          </a:p>
          <a:p>
            <a:r>
              <a:rPr lang="fr-FR" sz="1600" dirty="0"/>
              <a:t>captures d'écran commentées. </a:t>
            </a:r>
          </a:p>
          <a:p>
            <a:r>
              <a:rPr lang="fr-FR" sz="1600" b="1" dirty="0"/>
              <a:t>objectif fonctionnel </a:t>
            </a:r>
            <a:r>
              <a:rPr lang="fr-FR" sz="1600" dirty="0"/>
              <a:t>: </a:t>
            </a:r>
          </a:p>
          <a:p>
            <a:r>
              <a:rPr lang="fr-FR" sz="1600" dirty="0"/>
              <a:t>assurer la traçabilité et la reproductibilité du travail présenté dans la vidéo. </a:t>
            </a:r>
          </a:p>
          <a:p>
            <a:r>
              <a:rPr lang="fr-FR" sz="1600" dirty="0"/>
              <a:t>contraintes : rigueur, cohérence visuelle, terminologie claire </a:t>
            </a:r>
          </a:p>
          <a:p>
            <a:r>
              <a:rPr lang="fr-FR" sz="1600" b="1" dirty="0"/>
              <a:t>Contraintes du projet </a:t>
            </a:r>
          </a:p>
          <a:p>
            <a:r>
              <a:rPr lang="fr-FR" sz="1600" dirty="0"/>
              <a:t>Contraintes temporelles :</a:t>
            </a:r>
          </a:p>
          <a:p>
            <a:r>
              <a:rPr lang="fr-FR" sz="1600" dirty="0"/>
              <a:t>L'intégralité du projet (incluant la présentation orale) doit être réalisée dans un délai d'un mois à partir de la date de lancement du projet ;</a:t>
            </a:r>
          </a:p>
          <a:p>
            <a:r>
              <a:rPr lang="fr-FR" sz="1600" dirty="0"/>
              <a:t> La présentation orale devra être effectuée au plus tôt 5 jours après finalisation des livrables du projet</a:t>
            </a:r>
          </a:p>
          <a:p>
            <a:r>
              <a:rPr lang="fr-FR" sz="1600" dirty="0"/>
              <a:t> </a:t>
            </a:r>
            <a:r>
              <a:rPr lang="fr-FR" sz="1600" b="1" dirty="0"/>
              <a:t>Contraintes techniques :</a:t>
            </a:r>
          </a:p>
          <a:p>
            <a:r>
              <a:rPr lang="fr-FR" sz="1600" dirty="0"/>
              <a:t> L'ensemble des logiciels utilisés pour la réalisation des livrables du projet doit permettre un affichage visuel au minimum correct et compatibles avec les outils bureautiques standard ;</a:t>
            </a:r>
          </a:p>
          <a:p>
            <a:r>
              <a:rPr lang="fr-FR" sz="1600" dirty="0"/>
              <a:t> Les livrables disponibles en ligne (dépôt GitHub et vidéo YouTube) doivent être accessibles via un lien internet sans avoir a créer un plateformes.</a:t>
            </a:r>
          </a:p>
          <a:p>
            <a:r>
              <a:rPr lang="fr-FR" sz="1600" dirty="0"/>
              <a:t> Respect du RGPD : données anonymisées.</a:t>
            </a:r>
          </a:p>
        </p:txBody>
      </p:sp>
      <p:sp>
        <p:nvSpPr>
          <p:cNvPr id="4" name="ZoneTexte 3">
            <a:extLst>
              <a:ext uri="{FF2B5EF4-FFF2-40B4-BE49-F238E27FC236}">
                <a16:creationId xmlns:a16="http://schemas.microsoft.com/office/drawing/2014/main" id="{92BEF06E-936E-D4DA-194F-2EC6B417FEF1}"/>
              </a:ext>
            </a:extLst>
          </p:cNvPr>
          <p:cNvSpPr txBox="1"/>
          <p:nvPr/>
        </p:nvSpPr>
        <p:spPr>
          <a:xfrm>
            <a:off x="478536" y="4764024"/>
            <a:ext cx="11713464" cy="1954381"/>
          </a:xfrm>
          <a:prstGeom prst="rect">
            <a:avLst/>
          </a:prstGeom>
          <a:noFill/>
        </p:spPr>
        <p:txBody>
          <a:bodyPr wrap="square" rtlCol="0">
            <a:spAutoFit/>
          </a:bodyPr>
          <a:lstStyle/>
          <a:p>
            <a:r>
              <a:rPr lang="fr-FR" sz="1100" b="1" dirty="0"/>
              <a:t>Contrainte financière </a:t>
            </a:r>
            <a:r>
              <a:rPr lang="fr-FR" sz="1100" dirty="0"/>
              <a:t>:</a:t>
            </a:r>
          </a:p>
          <a:p>
            <a:pPr marL="171450" indent="-171450">
              <a:buFont typeface="Arial" panose="020B0604020202020204" pitchFamily="34" charset="0"/>
              <a:buChar char="•"/>
            </a:pPr>
            <a:r>
              <a:rPr lang="fr-FR" sz="1100" dirty="0"/>
              <a:t> L'ensemble des logiciels utilisés pour la réalisation des livrables du projet ne doit pas occasionner de coût supplémentaire pour le candidat</a:t>
            </a:r>
          </a:p>
          <a:p>
            <a:endParaRPr lang="fr-FR" sz="1100" dirty="0"/>
          </a:p>
          <a:p>
            <a:r>
              <a:rPr lang="fr-FR" sz="1100" b="1" dirty="0"/>
              <a:t>Planning</a:t>
            </a:r>
          </a:p>
          <a:p>
            <a:endParaRPr lang="fr-FR" sz="1100" b="1" dirty="0"/>
          </a:p>
          <a:p>
            <a:r>
              <a:rPr lang="fr-FR" sz="1100" dirty="0"/>
              <a:t>Chaque semaine correspond à une étape du projet :</a:t>
            </a:r>
          </a:p>
          <a:p>
            <a:endParaRPr lang="fr-FR" sz="1100" b="1" dirty="0"/>
          </a:p>
          <a:p>
            <a:r>
              <a:rPr lang="fr-FR" sz="1100" dirty="0"/>
              <a:t>Semaine 1 : cadrage du projet </a:t>
            </a:r>
          </a:p>
          <a:p>
            <a:r>
              <a:rPr lang="fr-FR" sz="1100" dirty="0"/>
              <a:t>Semaine 2 : conception et structuration des livrables (par exemple : maquettes des Dashboard)</a:t>
            </a:r>
          </a:p>
          <a:p>
            <a:r>
              <a:rPr lang="fr-FR" sz="1100" dirty="0"/>
              <a:t>Semaine 3 : production et finalisation des livrables</a:t>
            </a:r>
          </a:p>
          <a:p>
            <a:r>
              <a:rPr lang="fr-FR" sz="1100" dirty="0"/>
              <a:t>Semaine 4 : présentation orale</a:t>
            </a:r>
          </a:p>
        </p:txBody>
      </p:sp>
    </p:spTree>
    <p:extLst>
      <p:ext uri="{BB962C8B-B14F-4D97-AF65-F5344CB8AC3E}">
        <p14:creationId xmlns:p14="http://schemas.microsoft.com/office/powerpoint/2010/main" val="3943595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DD5BFC-7367-A41F-453E-8D6F4B8DB716}"/>
              </a:ext>
            </a:extLst>
          </p:cNvPr>
          <p:cNvSpPr>
            <a:spLocks noGrp="1"/>
          </p:cNvSpPr>
          <p:nvPr>
            <p:ph type="title"/>
          </p:nvPr>
        </p:nvSpPr>
        <p:spPr>
          <a:xfrm>
            <a:off x="612647" y="73152"/>
            <a:ext cx="10653578" cy="521208"/>
          </a:xfrm>
        </p:spPr>
        <p:txBody>
          <a:bodyPr>
            <a:normAutofit fontScale="90000"/>
          </a:bodyPr>
          <a:lstStyle/>
          <a:p>
            <a:pPr algn="ctr"/>
            <a:r>
              <a:rPr lang="fr-FR" dirty="0"/>
              <a:t>Suivi du projet</a:t>
            </a:r>
          </a:p>
        </p:txBody>
      </p:sp>
      <p:sp>
        <p:nvSpPr>
          <p:cNvPr id="3" name="Espace réservé du contenu 2">
            <a:extLst>
              <a:ext uri="{FF2B5EF4-FFF2-40B4-BE49-F238E27FC236}">
                <a16:creationId xmlns:a16="http://schemas.microsoft.com/office/drawing/2014/main" id="{DFA27279-CF31-F457-66A6-1B798B4451F8}"/>
              </a:ext>
            </a:extLst>
          </p:cNvPr>
          <p:cNvSpPr>
            <a:spLocks noGrp="1"/>
          </p:cNvSpPr>
          <p:nvPr>
            <p:ph idx="1"/>
          </p:nvPr>
        </p:nvSpPr>
        <p:spPr>
          <a:xfrm>
            <a:off x="612647" y="1114769"/>
            <a:ext cx="10653579" cy="725916"/>
          </a:xfrm>
        </p:spPr>
        <p:txBody>
          <a:bodyPr>
            <a:normAutofit/>
          </a:bodyPr>
          <a:lstStyle/>
          <a:p>
            <a:r>
              <a:rPr lang="fr-FR" sz="1800" dirty="0"/>
              <a:t>Un point d'avancement a lieu chaque semaine avec le mentor pour permettre de suivre la bonne marche du projet vis-à-vis du planning.</a:t>
            </a:r>
          </a:p>
        </p:txBody>
      </p:sp>
      <p:pic>
        <p:nvPicPr>
          <p:cNvPr id="5" name="Image 4" descr="Une image contenant texte, capture d’écran, Police, reçu&#10;&#10;Le contenu généré par l’IA peut être incorrect.">
            <a:extLst>
              <a:ext uri="{FF2B5EF4-FFF2-40B4-BE49-F238E27FC236}">
                <a16:creationId xmlns:a16="http://schemas.microsoft.com/office/drawing/2014/main" id="{08D476FE-9ADA-84C8-AB15-9A981979DDF9}"/>
              </a:ext>
            </a:extLst>
          </p:cNvPr>
          <p:cNvPicPr>
            <a:picLocks noChangeAspect="1"/>
          </p:cNvPicPr>
          <p:nvPr/>
        </p:nvPicPr>
        <p:blipFill>
          <a:blip r:embed="rId2"/>
          <a:stretch>
            <a:fillRect/>
          </a:stretch>
        </p:blipFill>
        <p:spPr>
          <a:xfrm>
            <a:off x="2128298" y="2100077"/>
            <a:ext cx="7725853" cy="2657846"/>
          </a:xfrm>
          <a:prstGeom prst="rect">
            <a:avLst/>
          </a:prstGeom>
        </p:spPr>
      </p:pic>
      <p:sp>
        <p:nvSpPr>
          <p:cNvPr id="6" name="ZoneTexte 5">
            <a:extLst>
              <a:ext uri="{FF2B5EF4-FFF2-40B4-BE49-F238E27FC236}">
                <a16:creationId xmlns:a16="http://schemas.microsoft.com/office/drawing/2014/main" id="{EAE12BCB-8E44-3090-1B6A-26107C3AA9F2}"/>
              </a:ext>
            </a:extLst>
          </p:cNvPr>
          <p:cNvSpPr txBox="1"/>
          <p:nvPr/>
        </p:nvSpPr>
        <p:spPr>
          <a:xfrm>
            <a:off x="323850" y="5143066"/>
            <a:ext cx="11868150" cy="1200329"/>
          </a:xfrm>
          <a:prstGeom prst="rect">
            <a:avLst/>
          </a:prstGeom>
          <a:noFill/>
        </p:spPr>
        <p:txBody>
          <a:bodyPr wrap="square" rtlCol="0">
            <a:spAutoFit/>
          </a:bodyPr>
          <a:lstStyle/>
          <a:p>
            <a:r>
              <a:rPr lang="fr-FR" sz="1200" b="1" dirty="0"/>
              <a:t>Validations et engagement</a:t>
            </a:r>
          </a:p>
          <a:p>
            <a:endParaRPr lang="fr-FR" sz="1200" b="1" dirty="0"/>
          </a:p>
          <a:p>
            <a:r>
              <a:rPr lang="fr-FR" sz="1200" dirty="0"/>
              <a:t>Le présent Cahier des charges sera validé par le mentor à la fin de la semaine 1, </a:t>
            </a:r>
          </a:p>
          <a:p>
            <a:r>
              <a:rPr lang="fr-FR" sz="1200" dirty="0"/>
              <a:t>et servira de document de référence entre le candidat, le mentor et le client.</a:t>
            </a:r>
          </a:p>
          <a:p>
            <a:endParaRPr lang="fr-FR" sz="1200" dirty="0"/>
          </a:p>
          <a:p>
            <a:r>
              <a:rPr lang="fr-FR" sz="1200" dirty="0"/>
              <a:t>L'ensemble des livrables sera valide par le mentor au cours de la semaine 3, et sera envoyé au client au plus tard 48 heures avant la présentation orale.</a:t>
            </a:r>
          </a:p>
        </p:txBody>
      </p:sp>
    </p:spTree>
    <p:extLst>
      <p:ext uri="{BB962C8B-B14F-4D97-AF65-F5344CB8AC3E}">
        <p14:creationId xmlns:p14="http://schemas.microsoft.com/office/powerpoint/2010/main" val="3587752304"/>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12070</TotalTime>
  <Words>1123</Words>
  <Application>Microsoft Office PowerPoint</Application>
  <PresentationFormat>Grand écran</PresentationFormat>
  <Paragraphs>86</Paragraphs>
  <Slides>7</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Aptos</vt:lpstr>
      <vt:lpstr>Arial</vt:lpstr>
      <vt:lpstr>Neue Haas Grotesk Text Pro</vt:lpstr>
      <vt:lpstr>VanillaVTI</vt:lpstr>
      <vt:lpstr>Cahier des charges - Projet Portfolio</vt:lpstr>
      <vt:lpstr>Expression des besoins métier</vt:lpstr>
      <vt:lpstr>Objectifs du projet</vt:lpstr>
      <vt:lpstr>Livrables Tableau synthétique </vt:lpstr>
      <vt:lpstr>Détail fonctionnel de chaque livrable :</vt:lpstr>
      <vt:lpstr>Présentation PowerPoint</vt:lpstr>
      <vt:lpstr>Suivi du projet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Nas Aylin</dc:creator>
  <cp:lastModifiedBy>Nas Aylin</cp:lastModifiedBy>
  <cp:revision>2</cp:revision>
  <dcterms:created xsi:type="dcterms:W3CDTF">2025-12-15T13:29:02Z</dcterms:created>
  <dcterms:modified xsi:type="dcterms:W3CDTF">2025-12-29T17:20:29Z</dcterms:modified>
</cp:coreProperties>
</file>