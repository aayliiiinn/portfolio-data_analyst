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9AAA80AB-4900-4D2F-BEC7-E5392678B65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0552E-1341-4D12-8467-1785FE461C17}" type="datetimeFigureOut">
              <a:rPr lang="fr-FR" smtClean="0"/>
              <a:t>29/12/2025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719E1-71C0-4E35-8ED9-1678B0D8D1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957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719E1-71C0-4E35-8ED9-1678B0D8D12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493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935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9101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99334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7154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0801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9282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2520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5161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4301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0682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1049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08324-A84C-4A45-93B6-78D079CCE77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852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otif d'aquarelle bleu abstrait sur arrière-plan blanc">
            <a:extLst>
              <a:ext uri="{FF2B5EF4-FFF2-40B4-BE49-F238E27FC236}">
                <a16:creationId xmlns:a16="http://schemas.microsoft.com/office/drawing/2014/main" id="{B7AFC228-CA08-84FB-2E3C-8A94E0F1F3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34" r="-1" b="1074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764B59C-F551-865E-C872-FBD4BD503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0556" y="4332021"/>
            <a:ext cx="4181444" cy="2362673"/>
          </a:xfrm>
        </p:spPr>
        <p:txBody>
          <a:bodyPr anchor="b">
            <a:normAutofit/>
          </a:bodyPr>
          <a:lstStyle/>
          <a:p>
            <a:pPr algn="ctr"/>
            <a:r>
              <a:rPr lang="fr-FR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Portfolio Aylin </a:t>
            </a:r>
            <a:r>
              <a:rPr lang="fr-FR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Ghorbani</a:t>
            </a:r>
            <a:br>
              <a:rPr lang="fr-FR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fr-FR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</a:t>
            </a:r>
            <a:r>
              <a:rPr lang="fr-FR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Analyst</a:t>
            </a:r>
            <a:endParaRPr lang="fr-FR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904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C19837-4781-D6D7-FB4E-1EAD7462A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2912"/>
            <a:ext cx="5411050" cy="1822123"/>
          </a:xfrm>
        </p:spPr>
        <p:txBody>
          <a:bodyPr anchor="b">
            <a:normAutofit/>
          </a:bodyPr>
          <a:lstStyle/>
          <a:p>
            <a:r>
              <a:rPr lang="fr-FR" dirty="0"/>
              <a:t>About Me;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EB9F1C-FE2E-4B72-53C7-21E37ACFD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96720"/>
            <a:ext cx="5181599" cy="3467518"/>
          </a:xfrm>
        </p:spPr>
        <p:txBody>
          <a:bodyPr anchor="t">
            <a:normAutofit fontScale="92500" lnSpcReduction="10000"/>
          </a:bodyPr>
          <a:lstStyle/>
          <a:p>
            <a:r>
              <a:rPr lang="fr-FR" sz="1600" dirty="0"/>
              <a:t>Après des études en </a:t>
            </a:r>
            <a:r>
              <a:rPr lang="fr-FR" sz="1600" b="1" dirty="0"/>
              <a:t>développement logiciel</a:t>
            </a:r>
            <a:r>
              <a:rPr lang="fr-FR" sz="1600" dirty="0"/>
              <a:t> et plusieurs formations en </a:t>
            </a:r>
            <a:r>
              <a:rPr lang="fr-FR" sz="1600" b="1" dirty="0"/>
              <a:t>machine </a:t>
            </a:r>
            <a:r>
              <a:rPr lang="fr-FR" sz="1600" b="1" dirty="0" err="1"/>
              <a:t>learning</a:t>
            </a:r>
            <a:r>
              <a:rPr lang="fr-FR" sz="1600" dirty="0"/>
              <a:t>, j’ai réalisé que mon intérêt réel se trouvait dans l’analyse, l’interprétation et la valorisation des données.</a:t>
            </a:r>
            <a:br>
              <a:rPr lang="fr-FR" sz="1600" dirty="0"/>
            </a:br>
            <a:r>
              <a:rPr lang="fr-FR" sz="1600" dirty="0"/>
              <a:t>Cette prise de conscience m’a naturellement conduite vers le métier de </a:t>
            </a:r>
            <a:r>
              <a:rPr lang="fr-FR" sz="1600" b="1" dirty="0"/>
              <a:t>Data </a:t>
            </a:r>
            <a:r>
              <a:rPr lang="fr-FR" sz="1600" b="1" dirty="0" err="1"/>
              <a:t>Analyst</a:t>
            </a:r>
            <a:r>
              <a:rPr lang="fr-FR" sz="1600" dirty="0"/>
              <a:t>, un rôle qui combine logique, exploration, storytelling et impact concret sur les décisions.</a:t>
            </a:r>
          </a:p>
          <a:p>
            <a:r>
              <a:rPr lang="fr-FR" sz="1600" dirty="0"/>
              <a:t>J’ai donc entamé une reconversion structurée, complétant ma formation avec </a:t>
            </a:r>
            <a:r>
              <a:rPr lang="fr-FR" sz="1600" b="1" dirty="0"/>
              <a:t>OpenClassrooms</a:t>
            </a:r>
            <a:r>
              <a:rPr lang="fr-FR" sz="1600" dirty="0"/>
              <a:t> afin d’acquérir une maîtrise opérationnelle des outils clés : Python, SQL, Power BI, data </a:t>
            </a:r>
            <a:r>
              <a:rPr lang="fr-FR" sz="1600" dirty="0" err="1"/>
              <a:t>cleaning</a:t>
            </a:r>
            <a:r>
              <a:rPr lang="fr-FR" sz="1600" dirty="0"/>
              <a:t>, visualisation et analyse statistique.</a:t>
            </a:r>
            <a:br>
              <a:rPr lang="fr-FR" sz="1600" dirty="0"/>
            </a:br>
            <a:r>
              <a:rPr lang="fr-FR" sz="1600" dirty="0"/>
              <a:t>Aujourd’hui, je mets ces compétences en pratique au travers de projets concrets qui reflètent ma rigueur, mon sens de la donnée et ma volonté d’apporter des solutions mesurables.</a:t>
            </a:r>
          </a:p>
          <a:p>
            <a:r>
              <a:rPr lang="fr-FR" sz="1600" dirty="0"/>
              <a:t>Mon objectif : contribuer à des projets où la donnée devient un véritable levier de performance et d’innovation.</a:t>
            </a:r>
          </a:p>
        </p:txBody>
      </p:sp>
      <p:pic>
        <p:nvPicPr>
          <p:cNvPr id="5" name="Image 4" descr="Une image contenant Visage humain, personne, habits, Cheveux longs&#10;&#10;Le contenu généré par l’IA peut être incorrect.">
            <a:extLst>
              <a:ext uri="{FF2B5EF4-FFF2-40B4-BE49-F238E27FC236}">
                <a16:creationId xmlns:a16="http://schemas.microsoft.com/office/drawing/2014/main" id="{50FC5B46-F376-036A-2D57-89487C348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6" b="-3"/>
          <a:stretch>
            <a:fillRect/>
          </a:stretch>
        </p:blipFill>
        <p:spPr>
          <a:xfrm>
            <a:off x="6877878" y="294199"/>
            <a:ext cx="5150794" cy="5001370"/>
          </a:xfrm>
          <a:custGeom>
            <a:avLst/>
            <a:gdLst/>
            <a:ahLst/>
            <a:cxnLst/>
            <a:rect l="l" t="t" r="r" b="b"/>
            <a:pathLst>
              <a:path w="5044104" h="4896924">
                <a:moveTo>
                  <a:pt x="2886613" y="0"/>
                </a:moveTo>
                <a:cubicBezTo>
                  <a:pt x="3218269" y="0"/>
                  <a:pt x="3523512" y="65865"/>
                  <a:pt x="3794011" y="195584"/>
                </a:cubicBezTo>
                <a:cubicBezTo>
                  <a:pt x="4047516" y="317247"/>
                  <a:pt x="4270172" y="494825"/>
                  <a:pt x="4455804" y="723284"/>
                </a:cubicBezTo>
                <a:cubicBezTo>
                  <a:pt x="4835198" y="1190375"/>
                  <a:pt x="5044104" y="1854168"/>
                  <a:pt x="5044104" y="2592438"/>
                </a:cubicBezTo>
                <a:cubicBezTo>
                  <a:pt x="5044104" y="2886985"/>
                  <a:pt x="4963247" y="3123382"/>
                  <a:pt x="4782050" y="3358996"/>
                </a:cubicBezTo>
                <a:cubicBezTo>
                  <a:pt x="4592516" y="3605460"/>
                  <a:pt x="4307730" y="3832465"/>
                  <a:pt x="4006167" y="4072775"/>
                </a:cubicBezTo>
                <a:cubicBezTo>
                  <a:pt x="3950530" y="4117058"/>
                  <a:pt x="3893052" y="4162907"/>
                  <a:pt x="3835576" y="4209314"/>
                </a:cubicBezTo>
                <a:cubicBezTo>
                  <a:pt x="3321099" y="4624632"/>
                  <a:pt x="2945605" y="4896924"/>
                  <a:pt x="2433835" y="4896924"/>
                </a:cubicBezTo>
                <a:cubicBezTo>
                  <a:pt x="1654054" y="4896924"/>
                  <a:pt x="1101803" y="4562680"/>
                  <a:pt x="587325" y="3779234"/>
                </a:cubicBezTo>
                <a:cubicBezTo>
                  <a:pt x="519999" y="3676690"/>
                  <a:pt x="454187" y="3583430"/>
                  <a:pt x="390540" y="3493298"/>
                </a:cubicBezTo>
                <a:cubicBezTo>
                  <a:pt x="126752" y="3119579"/>
                  <a:pt x="0" y="2925228"/>
                  <a:pt x="0" y="2592438"/>
                </a:cubicBezTo>
                <a:cubicBezTo>
                  <a:pt x="0" y="2261996"/>
                  <a:pt x="79450" y="1935577"/>
                  <a:pt x="235969" y="1622244"/>
                </a:cubicBezTo>
                <a:cubicBezTo>
                  <a:pt x="389133" y="1315731"/>
                  <a:pt x="608107" y="1035165"/>
                  <a:pt x="886724" y="788590"/>
                </a:cubicBezTo>
                <a:cubicBezTo>
                  <a:pt x="1160578" y="546153"/>
                  <a:pt x="1485846" y="346211"/>
                  <a:pt x="1827568" y="210454"/>
                </a:cubicBezTo>
                <a:cubicBezTo>
                  <a:pt x="2178491" y="70787"/>
                  <a:pt x="2534934" y="0"/>
                  <a:pt x="28866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10999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1AC556-E294-A2AF-D82C-85026FAFC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Résumé du CV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2DC052-DBC4-4A5C-6498-9E62DD3FF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" y="2202548"/>
            <a:ext cx="7580376" cy="2460892"/>
          </a:xfrm>
        </p:spPr>
        <p:txBody>
          <a:bodyPr>
            <a:normAutofit/>
          </a:bodyPr>
          <a:lstStyle/>
          <a:p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Projets principaux en analyse de données;</a:t>
            </a:r>
          </a:p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Portfolio complet GitHub:</a:t>
            </a:r>
          </a:p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Étude de marché sur le poulet,</a:t>
            </a:r>
          </a:p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Détection de faux-billets,</a:t>
            </a:r>
          </a:p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Analyse d'indicateurs de l'égalité professionnelle H/F,... et bien d'autres !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C04EEAE-C505-DC79-5C22-1B00BAFF7E04}"/>
              </a:ext>
            </a:extLst>
          </p:cNvPr>
          <p:cNvSpPr txBox="1"/>
          <p:nvPr/>
        </p:nvSpPr>
        <p:spPr>
          <a:xfrm>
            <a:off x="201168" y="4973681"/>
            <a:ext cx="72237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Expériences professionnelles principales</a:t>
            </a:r>
          </a:p>
          <a:p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2016-2019 : ingénieur de recherche à Téhéran Université </a:t>
            </a:r>
          </a:p>
          <a:p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2020-2024 : Freelancing MIT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73E30FF-B6BE-59F0-0210-0FC84C515FF2}"/>
              </a:ext>
            </a:extLst>
          </p:cNvPr>
          <p:cNvSpPr txBox="1"/>
          <p:nvPr/>
        </p:nvSpPr>
        <p:spPr>
          <a:xfrm>
            <a:off x="7882128" y="2267712"/>
            <a:ext cx="41087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Formation</a:t>
            </a:r>
          </a:p>
          <a:p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2025: parcours Data </a:t>
            </a:r>
            <a:r>
              <a:rPr lang="fr-FR" sz="1600" dirty="0" err="1">
                <a:latin typeface="Arial" panose="020B0604020202020204" pitchFamily="34" charset="0"/>
                <a:cs typeface="Arial" panose="020B0604020202020204" pitchFamily="34" charset="0"/>
              </a:rPr>
              <a:t>Analyst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 OpenClassrooms· </a:t>
            </a:r>
          </a:p>
          <a:p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2016 : diplôme d'ingénieur </a:t>
            </a:r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développement logiciel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 Téhéran université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1CAE570-94B3-B7B1-77BC-46200A6B9144}"/>
              </a:ext>
            </a:extLst>
          </p:cNvPr>
          <p:cNvSpPr txBox="1"/>
          <p:nvPr/>
        </p:nvSpPr>
        <p:spPr>
          <a:xfrm>
            <a:off x="7781544" y="4576036"/>
            <a:ext cx="42092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Compétences</a:t>
            </a:r>
          </a:p>
          <a:p>
            <a:endParaRPr lang="fr-F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Langages : Python, SQL, C/C++, Matlab</a:t>
            </a: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Logiciels : Power BI, Excel, KNIME</a:t>
            </a:r>
          </a:p>
          <a:p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Langues : Persan (langue maternelle)</a:t>
            </a: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Anglais (courant : niveau C2)</a:t>
            </a: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Française (courant : niveau C1)</a:t>
            </a:r>
          </a:p>
        </p:txBody>
      </p:sp>
    </p:spTree>
    <p:extLst>
      <p:ext uri="{BB962C8B-B14F-4D97-AF65-F5344CB8AC3E}">
        <p14:creationId xmlns:p14="http://schemas.microsoft.com/office/powerpoint/2010/main" val="1611632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DCBBF0-0E8D-E987-FAC8-72B3C839F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" y="2285365"/>
            <a:ext cx="11862816" cy="1325563"/>
          </a:xfrm>
        </p:spPr>
        <p:txBody>
          <a:bodyPr/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Mes projets principaux analyse de données</a:t>
            </a:r>
          </a:p>
        </p:txBody>
      </p:sp>
    </p:spTree>
    <p:extLst>
      <p:ext uri="{BB962C8B-B14F-4D97-AF65-F5344CB8AC3E}">
        <p14:creationId xmlns:p14="http://schemas.microsoft.com/office/powerpoint/2010/main" val="580964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E59E9-AE95-982B-84D5-B392938D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latin typeface="Arial" panose="020B0604020202020204" pitchFamily="34" charset="0"/>
                <a:cs typeface="Arial" panose="020B0604020202020204" pitchFamily="34" charset="0"/>
              </a:rPr>
              <a:t>Projet 1 : Démarrez votre formation de Data </a:t>
            </a:r>
            <a:r>
              <a:rPr lang="fr-F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Analyst</a:t>
            </a:r>
            <a:endParaRPr lang="fr-F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F1932A-1E43-F609-FDFA-588362680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Mise en place de l'environnement de travail pour la formation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Construction du planning de formation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Identification des soft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à développer</a:t>
            </a:r>
          </a:p>
          <a:p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Livrables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Planning prévisionnel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Étude d'une offre d'emploi de Data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Analyst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Autopositionnement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sur les hard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à acquérir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0021042-4D34-D8AD-197E-09E93BF68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0147" y="2828234"/>
            <a:ext cx="2622737" cy="117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36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0E69C4-EC85-77F1-2E64-71386E70C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" y="109093"/>
            <a:ext cx="12265152" cy="1325563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Arial" panose="020B0604020202020204" pitchFamily="34" charset="0"/>
                <a:cs typeface="Arial" panose="020B0604020202020204" pitchFamily="34" charset="0"/>
              </a:rPr>
              <a:t>Projet 2 : Faites une analyse deventes pour un e-commerce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5DAA7A-4155-F085-9971-5D59ECD10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Utilisation de fonctions avancées d'Excel (tableaux croisés dynamiques, fonctions avancées) pour réaliser une analyse de données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Préparation et performance d'une intervention orale en ayant recours à des techniques de Storytelling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Livrables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Tableau de bord d'analyse des ventes au format Excel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Présentation orale de l'évolution annuelle des ventes</a:t>
            </a:r>
          </a:p>
        </p:txBody>
      </p:sp>
      <p:pic>
        <p:nvPicPr>
          <p:cNvPr id="5" name="Image 4" descr="Une image contenant Police, Graphique, vert, symbole&#10;&#10;Le contenu généré par l’IA peut être incorrect.">
            <a:extLst>
              <a:ext uri="{FF2B5EF4-FFF2-40B4-BE49-F238E27FC236}">
                <a16:creationId xmlns:a16="http://schemas.microsoft.com/office/drawing/2014/main" id="{CD9BCAFA-04A3-C8E5-741A-7E06E477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993" y="4846320"/>
            <a:ext cx="3348572" cy="154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455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29E268-0879-DCAD-40BC-EDF1B54D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68" y="383413"/>
            <a:ext cx="11353800" cy="1325563"/>
          </a:xfrm>
        </p:spPr>
        <p:txBody>
          <a:bodyPr>
            <a:normAutofit/>
          </a:bodyPr>
          <a:lstStyle/>
          <a:p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Projet 3 : une base de données avec SQL requêtez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A00DC4-0CDB-9EFA-8785-15491A92B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Réalisation de requêtes SQL simples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Découverte et prise en main de SQL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Création étape par étape d'une base de données</a:t>
            </a:r>
          </a:p>
          <a:p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Livrables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Note technique et présentation PowerPoint présentant dans le détail les étapes à suivre pour créer une base de données SQL à partir de données brutes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104EBE-CB6C-DC6D-55B3-E26F07EC7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125" y="1708976"/>
            <a:ext cx="2456707" cy="273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21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E5545A-989D-269B-3AF3-65F0149E9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701"/>
            <a:ext cx="11442192" cy="1325563"/>
          </a:xfrm>
        </p:spPr>
        <p:txBody>
          <a:bodyPr>
            <a:norm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Projet 4 : Réalisez une enquête sante publique avec Python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AB5AF4-ED54-427D-AC46-88D38B43A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Utilisation des bibliothèques Pandas 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DataFrames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 et des bibliothèques graphiques Matplotlib et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Seaborn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pour les visualisations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Analyse de données sur la faim dans le monde réalisée à partir de données de la FAO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Livrables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Notebook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contenant les analyses effectuées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Présentation a l'oral des résultats de l'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etude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avec un support PowerPoint</a:t>
            </a:r>
          </a:p>
        </p:txBody>
      </p:sp>
      <p:pic>
        <p:nvPicPr>
          <p:cNvPr id="5" name="Image 4" descr="Une image contenant clipart, conception&#10;&#10;Le contenu généré par l’IA peut être incorrect.">
            <a:extLst>
              <a:ext uri="{FF2B5EF4-FFF2-40B4-BE49-F238E27FC236}">
                <a16:creationId xmlns:a16="http://schemas.microsoft.com/office/drawing/2014/main" id="{CFC13127-9C8E-B89C-CDF9-D26C183CB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743" y="2962656"/>
            <a:ext cx="1798652" cy="1822062"/>
          </a:xfrm>
          <a:prstGeom prst="rect">
            <a:avLst/>
          </a:prstGeom>
        </p:spPr>
      </p:pic>
      <p:pic>
        <p:nvPicPr>
          <p:cNvPr id="7" name="Image 6" descr="Une image contenant symbole, logo, cercle, Graphique&#10;&#10;Le contenu généré par l’IA peut être incorrect.">
            <a:extLst>
              <a:ext uri="{FF2B5EF4-FFF2-40B4-BE49-F238E27FC236}">
                <a16:creationId xmlns:a16="http://schemas.microsoft.com/office/drawing/2014/main" id="{BA470B34-11D1-DFB8-2825-C21F57DB8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538" y="5202936"/>
            <a:ext cx="1578703" cy="157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30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4A6F0-D369-4B5C-4DA2-E9A25EEE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Projet 5 : Créez et utilisez une base de données immobilières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3B5E9F-971B-94A5-A477-90FE387C0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Construction complète d'un modèle de données (MCD, MLD, BDD) pour répondre à une problématique métier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Nettoyage de données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Réalisation de requêtes SQL avancées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Livrables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Présentation à l'oral de l'ensemble de la démarche de modélisation à l'aide d'un support PowerPoint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9CE1B6-A97C-3E09-894C-28900ABE72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3" t="10657" r="3265" b="3354"/>
          <a:stretch>
            <a:fillRect/>
          </a:stretch>
        </p:blipFill>
        <p:spPr>
          <a:xfrm>
            <a:off x="10384444" y="4974336"/>
            <a:ext cx="1420459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24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03BC66-F2AE-F5E0-3EB1-4C92B3A33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Projet 6 : Optimisez la gestion des données d'une boutique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446ED9-A44F-7A7E-60E9-D8CF21282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Nettoyage et jointure de données issues de plusieurs sources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Analyses univariées de variables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Analyse d'indicateurs commerciaux-clés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Création de visuels à forte valeur stratégique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Livrables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Notebook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contenant les analyses effectuées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Présentation pédagogique à l'oral des résultats de l'étude avec un support PowerPoint</a:t>
            </a:r>
          </a:p>
        </p:txBody>
      </p:sp>
      <p:pic>
        <p:nvPicPr>
          <p:cNvPr id="5" name="Image 4" descr="Une image contenant clipart, Graphique, symbole, conception&#10;&#10;Le contenu généré par l’IA peut être incorrect.">
            <a:extLst>
              <a:ext uri="{FF2B5EF4-FFF2-40B4-BE49-F238E27FC236}">
                <a16:creationId xmlns:a16="http://schemas.microsoft.com/office/drawing/2014/main" id="{9AF30620-107D-4704-F905-700634EF0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587" y="1929384"/>
            <a:ext cx="1961532" cy="1943578"/>
          </a:xfrm>
          <a:prstGeom prst="rect">
            <a:avLst/>
          </a:prstGeom>
        </p:spPr>
      </p:pic>
      <p:pic>
        <p:nvPicPr>
          <p:cNvPr id="7" name="Image 6" descr="Une image contenant Police, Graphique, logo, texte&#10;&#10;Le contenu généré par l’IA peut être incorrect.">
            <a:extLst>
              <a:ext uri="{FF2B5EF4-FFF2-40B4-BE49-F238E27FC236}">
                <a16:creationId xmlns:a16="http://schemas.microsoft.com/office/drawing/2014/main" id="{5F6E3B6F-11EC-3DAC-8542-F21DE6AFE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668" y="5557066"/>
            <a:ext cx="1733792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BE58BB-558C-77F7-82D6-395208EC9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" y="218821"/>
            <a:ext cx="13216128" cy="1325563"/>
          </a:xfrm>
        </p:spPr>
        <p:txBody>
          <a:bodyPr>
            <a:norm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Projet 7 : créez un tableau de bord avec Power BI pour visualiser l'avancement de projets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6B880C-F5F9-CD75-3FAA-8EC9EC475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Explicitation des besoins utilisateurs vis-à-vis de l'outil attendu grâce a un Product Stratégie Canvas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Préparation des données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Création de mesures DAX personnalisées</a:t>
            </a:r>
          </a:p>
          <a:p>
            <a:pPr marL="0" indent="0">
              <a:buNone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Livrables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Tableau de bord Power BI fonctionnel destines à plusieurs utilisateurs ayant différents niveaux de permissions d'accès aux données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Démonstration du tableau de bord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48BF9D2-36B6-544D-073F-7C62026B9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069" y="5093208"/>
            <a:ext cx="4457731" cy="169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21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D86B85-0A9F-98A9-93C8-A24160769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" y="209677"/>
            <a:ext cx="11954256" cy="1325563"/>
          </a:xfrm>
        </p:spPr>
        <p:txBody>
          <a:bodyPr>
            <a:norm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Projet 8 : analysez des indicateurs de l'égalité professionnelle F/H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600EA7-AD1E-7EA6-B6E7-1AC1FA36D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Lecture de la documentation légale sur le calcul de l'index de l'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égalite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professionnelle F/H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Nettoyage de données personnelles (salariés d'entreprise) en respect du RGPDKNIME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Mise en place d'un workflow de données KNIME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realisant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les calculs et des visualisations pertinentes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Livrables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Workflow KNIME complet et fonctionnel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Présentation de la démarche d'implémentation</a:t>
            </a:r>
          </a:p>
        </p:txBody>
      </p:sp>
      <p:pic>
        <p:nvPicPr>
          <p:cNvPr id="5" name="Image 4" descr="Une image contenant ligne, Police, triangle, Graphique&#10;&#10;Le contenu généré par l’IA peut être incorrect.">
            <a:extLst>
              <a:ext uri="{FF2B5EF4-FFF2-40B4-BE49-F238E27FC236}">
                <a16:creationId xmlns:a16="http://schemas.microsoft.com/office/drawing/2014/main" id="{8B7A77F0-4764-0CEE-1363-76FE296FD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731" y="4151376"/>
            <a:ext cx="2535152" cy="25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09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3B8CAA-2155-5C4B-2C1A-D563F661C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Projet 9 : Analysez les ventes d'une librairie avec Python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B8DD19-7ED8-429E-89E1-D04C893E9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Analyse temporelle d'indicateurs commerciaux-clés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Création de visuels à forte valeur stratégique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Tests statistiques pour évaluer la corrélation entre variables afin d'établir des segments clients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Livrables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Notebook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contenant les analyses effectuées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Présentation pédagogique à l'oral des résultats de l'étude avec un support PowerPoint</a:t>
            </a:r>
          </a:p>
        </p:txBody>
      </p:sp>
      <p:pic>
        <p:nvPicPr>
          <p:cNvPr id="5" name="Image 4" descr="Une image contenant clipart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490A26D7-A451-5751-F52A-0917E0557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1327" y="3099816"/>
            <a:ext cx="1800841" cy="181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72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53810-0D9A-E1F2-FA74-5A84B9CD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Projet 10 : Faites une étude sur l'eau potable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4B3AB9-E43E-C0DB-EBBE-59724557A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Réalisation d'une maquette détaillée de tableau de bord répondant aux spécifications fonctionnelles de l'outil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Création de mesures DAX cohérentes avec les spécifications afin de produire des visuels pertinents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Livrables :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Tableau de bord Power BI fonctionnel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Démonstration du tableau de bord à travers un cas d'usage.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21DECC5-C0D4-1DE9-34A8-2F31C5CFB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234" y="4215384"/>
            <a:ext cx="2288189" cy="2521562"/>
          </a:xfrm>
          <a:prstGeom prst="rect">
            <a:avLst/>
          </a:prstGeom>
        </p:spPr>
      </p:pic>
      <p:pic>
        <p:nvPicPr>
          <p:cNvPr id="7" name="Image 6" descr="Une image contenant texte, logo, Police, conception&#10;&#10;Le contenu généré par l’IA peut être incorrect.">
            <a:extLst>
              <a:ext uri="{FF2B5EF4-FFF2-40B4-BE49-F238E27FC236}">
                <a16:creationId xmlns:a16="http://schemas.microsoft.com/office/drawing/2014/main" id="{AB40AC8A-BF77-878D-D301-EFEB0B1A9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195" y="5476165"/>
            <a:ext cx="1676634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9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C7FDF0-D3D6-1170-8330-15DE48BD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Projet 11 : Réalisez une étude de marche sur le poulet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81E079-05B6-6D53-32F2-05D44567F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Réalisation dans son intégralité d'une étude de marché : sélection des variables, collecte et nettoyage des données, analyses détaillées des résultats, identification d'opportunités commerciales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Réalisation d'une Analyse en Composantes Principales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Segmentation des opportunités commerciales par clustering</a:t>
            </a:r>
          </a:p>
          <a:p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Livrables :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Notebooks 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contenant le traitement des données et les analyses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Présentation pédagogique à l'oral des résultats de l'étude avec un support PowerPoint</a:t>
            </a:r>
          </a:p>
        </p:txBody>
      </p:sp>
      <p:pic>
        <p:nvPicPr>
          <p:cNvPr id="5" name="Image 4" descr="Une image contenant clipart, Graphique, symbole, conception&#10;&#10;Le contenu généré par l’IA peut être incorrect.">
            <a:extLst>
              <a:ext uri="{FF2B5EF4-FFF2-40B4-BE49-F238E27FC236}">
                <a16:creationId xmlns:a16="http://schemas.microsoft.com/office/drawing/2014/main" id="{0129A5D4-8ED2-0610-4FC3-28C31F2D7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6662" y="2706624"/>
            <a:ext cx="1798138" cy="1714596"/>
          </a:xfrm>
          <a:prstGeom prst="rect">
            <a:avLst/>
          </a:prstGeom>
        </p:spPr>
      </p:pic>
      <p:pic>
        <p:nvPicPr>
          <p:cNvPr id="7" name="Image 6" descr="Une image contenant clipart, dessin, illustration, conception&#10;&#10;Le contenu généré par l’IA peut être incorrect.">
            <a:extLst>
              <a:ext uri="{FF2B5EF4-FFF2-40B4-BE49-F238E27FC236}">
                <a16:creationId xmlns:a16="http://schemas.microsoft.com/office/drawing/2014/main" id="{51FD318D-F753-6D2C-2C31-5E270EA73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146" y="5152262"/>
            <a:ext cx="1593596" cy="170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78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15263A-03A0-F59B-4732-673D0BE69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Projet 12 : Détectez des faux billets avec Python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A84613-D3E4-1005-B618-3BCF35692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Prédiction de l'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authenticite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de billets de banque selon leurs mesures géométriques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Sélection et évaluation d'un modèle de régression linéaire pour prédire les valeurs manquantes du 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Optimisation et comparaison de modèles prédictifs supervisés</a:t>
            </a:r>
          </a:p>
          <a:p>
            <a:pPr marL="0" indent="0">
              <a:buNone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Livrables :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Notebook 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présentant les modèles prédictifs et les analyses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Présentation pédagogique à l'oral des résultats de l'étude avec un support PowerPoint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B2613B-D776-9007-348A-59A3D0C48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334" y="4857471"/>
            <a:ext cx="5496692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57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55103D-58A8-A37F-4C94-2872B9C63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Projet 13 : Créez votre portfolio de professionnel de la Data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926E94-AAFF-5A76-D48F-7FCA2DAFD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Réalisation de plusieurs livrables dans le cadre d'un recrutement fictif pour illustrer sa posture de consultant Data apte à la gestion de projet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Analyse des besoins métiers Data d'une entreprise</a:t>
            </a:r>
          </a:p>
          <a:p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Livrables :</a:t>
            </a:r>
          </a:p>
          <a:p>
            <a:pPr marL="0" indent="0">
              <a:buNone/>
            </a:pP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 descr="Une image contenant logo, cercl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C4E6D0FC-29AA-B085-AF76-183B09294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1072" y="4255034"/>
            <a:ext cx="2191056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800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1676</TotalTime>
  <Words>1035</Words>
  <Application>Microsoft Office PowerPoint</Application>
  <PresentationFormat>Grand écran</PresentationFormat>
  <Paragraphs>128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Thème Office 2013 – 2022</vt:lpstr>
      <vt:lpstr>Portfolio Aylin Ghorbani Data Analyst</vt:lpstr>
      <vt:lpstr>About Me;</vt:lpstr>
      <vt:lpstr>Résumé du CV</vt:lpstr>
      <vt:lpstr>Mes projets principaux analyse de données</vt:lpstr>
      <vt:lpstr>Projet 1 : Démarrez votre formation de Data Analyst</vt:lpstr>
      <vt:lpstr>Projet 2 : Faites une analyse deventes pour un e-commerce</vt:lpstr>
      <vt:lpstr>Projet 3 : une base de données avec SQL requêtez</vt:lpstr>
      <vt:lpstr>Projet 4 : Réalisez une enquête sante publique avec Python</vt:lpstr>
      <vt:lpstr>Projet 5 : Créez et utilisez une base de données immobilières</vt:lpstr>
      <vt:lpstr>Projet 6 : Optimisez la gestion des données d'une boutique</vt:lpstr>
      <vt:lpstr>Projet 7 : créez un tableau de bord avec Power BI pour visualiser l'avancement de projets</vt:lpstr>
      <vt:lpstr>Projet 8 : analysez des indicateurs de l'égalité professionnelle F/H</vt:lpstr>
      <vt:lpstr>Projet 9 : Analysez les ventes d'une librairie avec Python</vt:lpstr>
      <vt:lpstr>Projet 10 : Faites une étude sur l'eau potable</vt:lpstr>
      <vt:lpstr>Projet 11 : Réalisez une étude de marche sur le poulet</vt:lpstr>
      <vt:lpstr>Projet 12 : Détectez des faux billets avec Python</vt:lpstr>
      <vt:lpstr>Projet 13 : Créez votre portfolio de professionnel de la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 Aylin</dc:creator>
  <cp:lastModifiedBy>Nas Aylin</cp:lastModifiedBy>
  <cp:revision>1</cp:revision>
  <dcterms:created xsi:type="dcterms:W3CDTF">2025-12-10T12:37:45Z</dcterms:created>
  <dcterms:modified xsi:type="dcterms:W3CDTF">2025-12-29T17:51:04Z</dcterms:modified>
</cp:coreProperties>
</file>